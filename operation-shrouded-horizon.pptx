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Raleway" pitchFamily="2" charset="0"/>
      <p:regular r:id="rId12"/>
    </p:embeddedFont>
    <p:embeddedFont>
      <p:font typeface="Raleway Bold" panose="020B0604020202020204" charset="0"/>
      <p:regular r:id="rId13"/>
    </p:embeddedFont>
    <p:embeddedFont>
      <p:font typeface="Roboto" panose="02000000000000000000" pitchFamily="2" charset="0"/>
      <p:regular r:id="rId14"/>
    </p:embeddedFont>
    <p:embeddedFont>
      <p:font typeface="Roboto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31.08.2026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1028700"/>
            <a:ext cx="9445526" cy="2869660"/>
            <a:chOff x="0" y="0"/>
            <a:chExt cx="12594035" cy="38262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594035" cy="3826214"/>
            </a:xfrm>
            <a:custGeom>
              <a:avLst/>
              <a:gdLst/>
              <a:ahLst/>
              <a:cxnLst/>
              <a:rect l="l" t="t" r="r" b="b"/>
              <a:pathLst>
                <a:path w="12594035" h="3826214">
                  <a:moveTo>
                    <a:pt x="0" y="0"/>
                  </a:moveTo>
                  <a:lnTo>
                    <a:pt x="12594035" y="0"/>
                  </a:lnTo>
                  <a:lnTo>
                    <a:pt x="12594035" y="3826214"/>
                  </a:lnTo>
                  <a:lnTo>
                    <a:pt x="0" y="38262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2594035" cy="385478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Operation Shrouded Horizon: The Takedown of Darkode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4186611"/>
            <a:ext cx="9445526" cy="482309"/>
            <a:chOff x="0" y="0"/>
            <a:chExt cx="12594035" cy="64307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594035" cy="643079"/>
            </a:xfrm>
            <a:custGeom>
              <a:avLst/>
              <a:gdLst/>
              <a:ahLst/>
              <a:cxnLst/>
              <a:rect l="l" t="t" r="r" b="b"/>
              <a:pathLst>
                <a:path w="12594035" h="643079">
                  <a:moveTo>
                    <a:pt x="0" y="0"/>
                  </a:moveTo>
                  <a:lnTo>
                    <a:pt x="12594035" y="0"/>
                  </a:lnTo>
                  <a:lnTo>
                    <a:pt x="12594035" y="643079"/>
                  </a:lnTo>
                  <a:lnTo>
                    <a:pt x="0" y="6430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12594035" cy="74785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051"/>
                </a:lnSpc>
              </a:pPr>
              <a:r>
                <a:rPr lang="en-US" sz="24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A Case Study in Advanced Cybercrime Investigation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38089" y="7396460"/>
            <a:ext cx="161776" cy="121890"/>
            <a:chOff x="0" y="0"/>
            <a:chExt cx="215702" cy="162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5702" cy="162520"/>
            </a:xfrm>
            <a:custGeom>
              <a:avLst/>
              <a:gdLst/>
              <a:ahLst/>
              <a:cxnLst/>
              <a:rect l="l" t="t" r="r" b="b"/>
              <a:pathLst>
                <a:path w="215702" h="162520">
                  <a:moveTo>
                    <a:pt x="0" y="0"/>
                  </a:moveTo>
                  <a:lnTo>
                    <a:pt x="215702" y="0"/>
                  </a:lnTo>
                  <a:lnTo>
                    <a:pt x="215702" y="162520"/>
                  </a:lnTo>
                  <a:lnTo>
                    <a:pt x="0" y="162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215702" cy="15299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937"/>
                </a:lnSpc>
              </a:pPr>
              <a:r>
                <a:rPr lang="en-US" sz="937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AA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5143500"/>
            <a:ext cx="5854191" cy="588655"/>
            <a:chOff x="0" y="0"/>
            <a:chExt cx="7805588" cy="78487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805588" cy="784873"/>
            </a:xfrm>
            <a:custGeom>
              <a:avLst/>
              <a:gdLst/>
              <a:ahLst/>
              <a:cxnLst/>
              <a:rect l="l" t="t" r="r" b="b"/>
              <a:pathLst>
                <a:path w="7805588" h="784873">
                  <a:moveTo>
                    <a:pt x="0" y="0"/>
                  </a:moveTo>
                  <a:lnTo>
                    <a:pt x="7805588" y="0"/>
                  </a:lnTo>
                  <a:lnTo>
                    <a:pt x="7805588" y="784873"/>
                  </a:lnTo>
                  <a:lnTo>
                    <a:pt x="0" y="7848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7805588" cy="8515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297"/>
                </a:lnSpc>
              </a:pPr>
              <a:r>
                <a:rPr lang="en-US" sz="3049" dirty="0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Presented by:</a:t>
              </a:r>
              <a:r>
                <a:rPr lang="en-US" sz="3049" b="1" dirty="0">
                  <a:solidFill>
                    <a:srgbClr val="3C3939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 Awais Ahmed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9144000" y="4186611"/>
            <a:ext cx="8241485" cy="5250904"/>
          </a:xfrm>
          <a:custGeom>
            <a:avLst/>
            <a:gdLst/>
            <a:ahLst/>
            <a:cxnLst/>
            <a:rect l="l" t="t" r="r" b="b"/>
            <a:pathLst>
              <a:path w="8241485" h="5250904">
                <a:moveTo>
                  <a:pt x="0" y="0"/>
                </a:moveTo>
                <a:lnTo>
                  <a:pt x="8241485" y="0"/>
                </a:lnTo>
                <a:lnTo>
                  <a:pt x="8241485" y="5250903"/>
                </a:lnTo>
                <a:lnTo>
                  <a:pt x="0" y="5250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4622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7" y="4604445"/>
            <a:ext cx="8397983" cy="1177670"/>
            <a:chOff x="0" y="0"/>
            <a:chExt cx="11197310" cy="15702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197310" cy="1570226"/>
            </a:xfrm>
            <a:custGeom>
              <a:avLst/>
              <a:gdLst/>
              <a:ahLst/>
              <a:cxnLst/>
              <a:rect l="l" t="t" r="r" b="b"/>
              <a:pathLst>
                <a:path w="11197310" h="1570226">
                  <a:moveTo>
                    <a:pt x="0" y="0"/>
                  </a:moveTo>
                  <a:lnTo>
                    <a:pt x="11197310" y="0"/>
                  </a:lnTo>
                  <a:lnTo>
                    <a:pt x="11197310" y="1570226"/>
                  </a:lnTo>
                  <a:lnTo>
                    <a:pt x="0" y="15702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197310" cy="160832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311"/>
                </a:lnSpc>
              </a:pPr>
              <a:r>
                <a:rPr lang="en-US" sz="58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Understanding Darkode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7475" y="5910857"/>
            <a:ext cx="5254973" cy="3320504"/>
            <a:chOff x="0" y="0"/>
            <a:chExt cx="7006630" cy="4427338"/>
          </a:xfrm>
        </p:grpSpPr>
        <p:sp>
          <p:nvSpPr>
            <p:cNvPr id="10" name="Freeform 10"/>
            <p:cNvSpPr/>
            <p:nvPr/>
          </p:nvSpPr>
          <p:spPr>
            <a:xfrm>
              <a:off x="6350" y="6350"/>
              <a:ext cx="6993890" cy="4414647"/>
            </a:xfrm>
            <a:custGeom>
              <a:avLst/>
              <a:gdLst/>
              <a:ahLst/>
              <a:cxnLst/>
              <a:rect l="l" t="t" r="r" b="b"/>
              <a:pathLst>
                <a:path w="6993890" h="4414647">
                  <a:moveTo>
                    <a:pt x="0" y="158750"/>
                  </a:moveTo>
                  <a:cubicBezTo>
                    <a:pt x="0" y="71120"/>
                    <a:pt x="71120" y="0"/>
                    <a:pt x="159004" y="0"/>
                  </a:cubicBezTo>
                  <a:lnTo>
                    <a:pt x="6835013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4255770"/>
                  </a:lnTo>
                  <a:cubicBezTo>
                    <a:pt x="6993890" y="4343527"/>
                    <a:pt x="6922770" y="4414520"/>
                    <a:pt x="6834886" y="4414520"/>
                  </a:cubicBezTo>
                  <a:lnTo>
                    <a:pt x="159004" y="4414520"/>
                  </a:lnTo>
                  <a:cubicBezTo>
                    <a:pt x="71120" y="4414647"/>
                    <a:pt x="0" y="4343527"/>
                    <a:pt x="0" y="4255897"/>
                  </a:cubicBezTo>
                  <a:close/>
                </a:path>
              </a:pathLst>
            </a:custGeom>
            <a:solidFill>
              <a:srgbClr val="E1E1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7006717" cy="4427220"/>
            </a:xfrm>
            <a:custGeom>
              <a:avLst/>
              <a:gdLst/>
              <a:ahLst/>
              <a:cxnLst/>
              <a:rect l="l" t="t" r="r" b="b"/>
              <a:pathLst>
                <a:path w="7006717" h="4427220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6841363" y="0"/>
                  </a:lnTo>
                  <a:lnTo>
                    <a:pt x="6841363" y="6350"/>
                  </a:lnTo>
                  <a:lnTo>
                    <a:pt x="6841363" y="0"/>
                  </a:lnTo>
                  <a:cubicBezTo>
                    <a:pt x="6932676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4262120"/>
                  </a:lnTo>
                  <a:lnTo>
                    <a:pt x="7000367" y="4262120"/>
                  </a:lnTo>
                  <a:lnTo>
                    <a:pt x="7006717" y="4262120"/>
                  </a:lnTo>
                  <a:cubicBezTo>
                    <a:pt x="7006717" y="4353306"/>
                    <a:pt x="6932676" y="4427220"/>
                    <a:pt x="6841363" y="4427220"/>
                  </a:cubicBezTo>
                  <a:lnTo>
                    <a:pt x="6841363" y="4420870"/>
                  </a:lnTo>
                  <a:lnTo>
                    <a:pt x="6841363" y="4427220"/>
                  </a:lnTo>
                  <a:lnTo>
                    <a:pt x="165354" y="4427220"/>
                  </a:lnTo>
                  <a:lnTo>
                    <a:pt x="165354" y="4420870"/>
                  </a:lnTo>
                  <a:lnTo>
                    <a:pt x="165354" y="4427220"/>
                  </a:lnTo>
                  <a:cubicBezTo>
                    <a:pt x="74041" y="4427220"/>
                    <a:pt x="0" y="4353306"/>
                    <a:pt x="0" y="426212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262120"/>
                  </a:lnTo>
                  <a:lnTo>
                    <a:pt x="6350" y="4262120"/>
                  </a:lnTo>
                  <a:lnTo>
                    <a:pt x="12700" y="4262120"/>
                  </a:lnTo>
                  <a:cubicBezTo>
                    <a:pt x="12700" y="4346321"/>
                    <a:pt x="81026" y="4414520"/>
                    <a:pt x="165354" y="4414520"/>
                  </a:cubicBezTo>
                  <a:lnTo>
                    <a:pt x="6841363" y="4414520"/>
                  </a:lnTo>
                  <a:cubicBezTo>
                    <a:pt x="6925691" y="4414520"/>
                    <a:pt x="6994017" y="4346321"/>
                    <a:pt x="6994017" y="4262120"/>
                  </a:cubicBezTo>
                  <a:lnTo>
                    <a:pt x="6994017" y="165100"/>
                  </a:lnTo>
                  <a:cubicBezTo>
                    <a:pt x="6994017" y="80899"/>
                    <a:pt x="6925691" y="12700"/>
                    <a:pt x="6841363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85280" y="6208662"/>
            <a:ext cx="3544044" cy="607174"/>
            <a:chOff x="0" y="0"/>
            <a:chExt cx="4725392" cy="8095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725392" cy="809565"/>
            </a:xfrm>
            <a:custGeom>
              <a:avLst/>
              <a:gdLst/>
              <a:ahLst/>
              <a:cxnLst/>
              <a:rect l="l" t="t" r="r" b="b"/>
              <a:pathLst>
                <a:path w="4725392" h="809565">
                  <a:moveTo>
                    <a:pt x="0" y="0"/>
                  </a:moveTo>
                  <a:lnTo>
                    <a:pt x="4725392" y="0"/>
                  </a:lnTo>
                  <a:lnTo>
                    <a:pt x="4725392" y="809565"/>
                  </a:lnTo>
                  <a:lnTo>
                    <a:pt x="0" y="8095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4725392" cy="8381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304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Elite Marketplace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85280" y="6821686"/>
            <a:ext cx="4659362" cy="996659"/>
            <a:chOff x="0" y="0"/>
            <a:chExt cx="6212483" cy="132887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212483" cy="1328879"/>
            </a:xfrm>
            <a:custGeom>
              <a:avLst/>
              <a:gdLst/>
              <a:ahLst/>
              <a:cxnLst/>
              <a:rect l="l" t="t" r="r" b="b"/>
              <a:pathLst>
                <a:path w="6212483" h="1328879">
                  <a:moveTo>
                    <a:pt x="0" y="0"/>
                  </a:moveTo>
                  <a:lnTo>
                    <a:pt x="6212483" y="0"/>
                  </a:lnTo>
                  <a:lnTo>
                    <a:pt x="6212483" y="1328879"/>
                  </a:lnTo>
                  <a:lnTo>
                    <a:pt x="0" y="1328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04775"/>
              <a:ext cx="6212483" cy="143365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051"/>
                </a:lnSpc>
              </a:pPr>
              <a:r>
                <a:rPr lang="en-US" sz="24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Invite-only, stringent vetting process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516440" y="5910857"/>
            <a:ext cx="5254973" cy="3320504"/>
            <a:chOff x="0" y="0"/>
            <a:chExt cx="7006630" cy="4427338"/>
          </a:xfrm>
        </p:grpSpPr>
        <p:sp>
          <p:nvSpPr>
            <p:cNvPr id="19" name="Freeform 19"/>
            <p:cNvSpPr/>
            <p:nvPr/>
          </p:nvSpPr>
          <p:spPr>
            <a:xfrm>
              <a:off x="6350" y="6350"/>
              <a:ext cx="6993890" cy="4414647"/>
            </a:xfrm>
            <a:custGeom>
              <a:avLst/>
              <a:gdLst/>
              <a:ahLst/>
              <a:cxnLst/>
              <a:rect l="l" t="t" r="r" b="b"/>
              <a:pathLst>
                <a:path w="6993890" h="4414647">
                  <a:moveTo>
                    <a:pt x="0" y="158750"/>
                  </a:moveTo>
                  <a:cubicBezTo>
                    <a:pt x="0" y="71120"/>
                    <a:pt x="71120" y="0"/>
                    <a:pt x="159004" y="0"/>
                  </a:cubicBezTo>
                  <a:lnTo>
                    <a:pt x="6835013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4255770"/>
                  </a:lnTo>
                  <a:cubicBezTo>
                    <a:pt x="6993890" y="4343527"/>
                    <a:pt x="6922770" y="4414520"/>
                    <a:pt x="6834886" y="4414520"/>
                  </a:cubicBezTo>
                  <a:lnTo>
                    <a:pt x="159004" y="4414520"/>
                  </a:lnTo>
                  <a:cubicBezTo>
                    <a:pt x="71120" y="4414647"/>
                    <a:pt x="0" y="4343527"/>
                    <a:pt x="0" y="4255897"/>
                  </a:cubicBezTo>
                  <a:close/>
                </a:path>
              </a:pathLst>
            </a:custGeom>
            <a:solidFill>
              <a:srgbClr val="E1E1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7006717" cy="4427220"/>
            </a:xfrm>
            <a:custGeom>
              <a:avLst/>
              <a:gdLst/>
              <a:ahLst/>
              <a:cxnLst/>
              <a:rect l="l" t="t" r="r" b="b"/>
              <a:pathLst>
                <a:path w="7006717" h="4427220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6841363" y="0"/>
                  </a:lnTo>
                  <a:lnTo>
                    <a:pt x="6841363" y="6350"/>
                  </a:lnTo>
                  <a:lnTo>
                    <a:pt x="6841363" y="0"/>
                  </a:lnTo>
                  <a:cubicBezTo>
                    <a:pt x="6932676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4262120"/>
                  </a:lnTo>
                  <a:lnTo>
                    <a:pt x="7000367" y="4262120"/>
                  </a:lnTo>
                  <a:lnTo>
                    <a:pt x="7006717" y="4262120"/>
                  </a:lnTo>
                  <a:cubicBezTo>
                    <a:pt x="7006717" y="4353306"/>
                    <a:pt x="6932676" y="4427220"/>
                    <a:pt x="6841363" y="4427220"/>
                  </a:cubicBezTo>
                  <a:lnTo>
                    <a:pt x="6841363" y="4420870"/>
                  </a:lnTo>
                  <a:lnTo>
                    <a:pt x="6841363" y="4427220"/>
                  </a:lnTo>
                  <a:lnTo>
                    <a:pt x="165354" y="4427220"/>
                  </a:lnTo>
                  <a:lnTo>
                    <a:pt x="165354" y="4420870"/>
                  </a:lnTo>
                  <a:lnTo>
                    <a:pt x="165354" y="4427220"/>
                  </a:lnTo>
                  <a:cubicBezTo>
                    <a:pt x="74041" y="4427220"/>
                    <a:pt x="0" y="4353306"/>
                    <a:pt x="0" y="426212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262120"/>
                  </a:lnTo>
                  <a:lnTo>
                    <a:pt x="6350" y="4262120"/>
                  </a:lnTo>
                  <a:lnTo>
                    <a:pt x="12700" y="4262120"/>
                  </a:lnTo>
                  <a:cubicBezTo>
                    <a:pt x="12700" y="4346321"/>
                    <a:pt x="81026" y="4414520"/>
                    <a:pt x="165354" y="4414520"/>
                  </a:cubicBezTo>
                  <a:lnTo>
                    <a:pt x="6841363" y="4414520"/>
                  </a:lnTo>
                  <a:cubicBezTo>
                    <a:pt x="6925691" y="4414520"/>
                    <a:pt x="6994017" y="4346321"/>
                    <a:pt x="6994017" y="4262120"/>
                  </a:cubicBezTo>
                  <a:lnTo>
                    <a:pt x="6994017" y="165100"/>
                  </a:lnTo>
                  <a:cubicBezTo>
                    <a:pt x="6994017" y="80899"/>
                    <a:pt x="6925691" y="12700"/>
                    <a:pt x="6841363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814245" y="6208662"/>
            <a:ext cx="3544044" cy="607174"/>
            <a:chOff x="0" y="0"/>
            <a:chExt cx="4725392" cy="80956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725392" cy="809565"/>
            </a:xfrm>
            <a:custGeom>
              <a:avLst/>
              <a:gdLst/>
              <a:ahLst/>
              <a:cxnLst/>
              <a:rect l="l" t="t" r="r" b="b"/>
              <a:pathLst>
                <a:path w="4725392" h="809565">
                  <a:moveTo>
                    <a:pt x="0" y="0"/>
                  </a:moveTo>
                  <a:lnTo>
                    <a:pt x="4725392" y="0"/>
                  </a:lnTo>
                  <a:lnTo>
                    <a:pt x="4725392" y="809565"/>
                  </a:lnTo>
                  <a:lnTo>
                    <a:pt x="0" y="8095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4725392" cy="8381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304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Trade Items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814245" y="6821686"/>
            <a:ext cx="4659362" cy="482309"/>
            <a:chOff x="0" y="0"/>
            <a:chExt cx="6212483" cy="64307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212483" cy="643079"/>
            </a:xfrm>
            <a:custGeom>
              <a:avLst/>
              <a:gdLst/>
              <a:ahLst/>
              <a:cxnLst/>
              <a:rect l="l" t="t" r="r" b="b"/>
              <a:pathLst>
                <a:path w="6212483" h="643079">
                  <a:moveTo>
                    <a:pt x="0" y="0"/>
                  </a:moveTo>
                  <a:lnTo>
                    <a:pt x="6212483" y="0"/>
                  </a:lnTo>
                  <a:lnTo>
                    <a:pt x="6212483" y="643079"/>
                  </a:lnTo>
                  <a:lnTo>
                    <a:pt x="0" y="6430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04775"/>
              <a:ext cx="6212483" cy="74785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75145" lvl="1" indent="-187573" algn="l">
                <a:lnSpc>
                  <a:spcPts val="4051"/>
                </a:lnSpc>
                <a:buFont typeface="Arial"/>
                <a:buChar char="•"/>
              </a:pPr>
              <a:r>
                <a:rPr lang="en-US" sz="24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Malware kits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814245" y="7374434"/>
            <a:ext cx="4659362" cy="482309"/>
            <a:chOff x="0" y="0"/>
            <a:chExt cx="6212483" cy="64307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212483" cy="643079"/>
            </a:xfrm>
            <a:custGeom>
              <a:avLst/>
              <a:gdLst/>
              <a:ahLst/>
              <a:cxnLst/>
              <a:rect l="l" t="t" r="r" b="b"/>
              <a:pathLst>
                <a:path w="6212483" h="643079">
                  <a:moveTo>
                    <a:pt x="0" y="0"/>
                  </a:moveTo>
                  <a:lnTo>
                    <a:pt x="6212483" y="0"/>
                  </a:lnTo>
                  <a:lnTo>
                    <a:pt x="6212483" y="643079"/>
                  </a:lnTo>
                  <a:lnTo>
                    <a:pt x="0" y="6430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04775"/>
              <a:ext cx="6212483" cy="74785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75145" lvl="1" indent="-187573" algn="l">
                <a:lnSpc>
                  <a:spcPts val="4051"/>
                </a:lnSpc>
                <a:buFont typeface="Arial"/>
                <a:buChar char="•"/>
              </a:pPr>
              <a:r>
                <a:rPr lang="en-US" sz="24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Botnets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814245" y="7927181"/>
            <a:ext cx="4659362" cy="482309"/>
            <a:chOff x="0" y="0"/>
            <a:chExt cx="6212483" cy="64307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212483" cy="643079"/>
            </a:xfrm>
            <a:custGeom>
              <a:avLst/>
              <a:gdLst/>
              <a:ahLst/>
              <a:cxnLst/>
              <a:rect l="l" t="t" r="r" b="b"/>
              <a:pathLst>
                <a:path w="6212483" h="643079">
                  <a:moveTo>
                    <a:pt x="0" y="0"/>
                  </a:moveTo>
                  <a:lnTo>
                    <a:pt x="6212483" y="0"/>
                  </a:lnTo>
                  <a:lnTo>
                    <a:pt x="6212483" y="643079"/>
                  </a:lnTo>
                  <a:lnTo>
                    <a:pt x="0" y="6430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04775"/>
              <a:ext cx="6212483" cy="74785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75145" lvl="1" indent="-187573" algn="l">
                <a:lnSpc>
                  <a:spcPts val="4051"/>
                </a:lnSpc>
                <a:buFont typeface="Arial"/>
                <a:buChar char="•"/>
              </a:pPr>
              <a:r>
                <a:rPr lang="en-US" sz="24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Exploits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814245" y="8479929"/>
            <a:ext cx="4659362" cy="482309"/>
            <a:chOff x="0" y="0"/>
            <a:chExt cx="6212483" cy="64307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212483" cy="643079"/>
            </a:xfrm>
            <a:custGeom>
              <a:avLst/>
              <a:gdLst/>
              <a:ahLst/>
              <a:cxnLst/>
              <a:rect l="l" t="t" r="r" b="b"/>
              <a:pathLst>
                <a:path w="6212483" h="643079">
                  <a:moveTo>
                    <a:pt x="0" y="0"/>
                  </a:moveTo>
                  <a:lnTo>
                    <a:pt x="6212483" y="0"/>
                  </a:lnTo>
                  <a:lnTo>
                    <a:pt x="6212483" y="643079"/>
                  </a:lnTo>
                  <a:lnTo>
                    <a:pt x="0" y="6430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04775"/>
              <a:ext cx="6212483" cy="74785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75145" lvl="1" indent="-187573" algn="l">
                <a:lnSpc>
                  <a:spcPts val="4051"/>
                </a:lnSpc>
                <a:buFont typeface="Arial"/>
                <a:buChar char="•"/>
              </a:pPr>
              <a:r>
                <a:rPr lang="en-US" sz="24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Stolen data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045404" y="5910857"/>
            <a:ext cx="5254973" cy="3320504"/>
            <a:chOff x="0" y="0"/>
            <a:chExt cx="7006630" cy="4427338"/>
          </a:xfrm>
        </p:grpSpPr>
        <p:sp>
          <p:nvSpPr>
            <p:cNvPr id="37" name="Freeform 37"/>
            <p:cNvSpPr/>
            <p:nvPr/>
          </p:nvSpPr>
          <p:spPr>
            <a:xfrm>
              <a:off x="6350" y="6350"/>
              <a:ext cx="6993890" cy="4414647"/>
            </a:xfrm>
            <a:custGeom>
              <a:avLst/>
              <a:gdLst/>
              <a:ahLst/>
              <a:cxnLst/>
              <a:rect l="l" t="t" r="r" b="b"/>
              <a:pathLst>
                <a:path w="6993890" h="4414647">
                  <a:moveTo>
                    <a:pt x="0" y="158750"/>
                  </a:moveTo>
                  <a:cubicBezTo>
                    <a:pt x="0" y="71120"/>
                    <a:pt x="71120" y="0"/>
                    <a:pt x="159004" y="0"/>
                  </a:cubicBezTo>
                  <a:lnTo>
                    <a:pt x="6835013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4255770"/>
                  </a:lnTo>
                  <a:cubicBezTo>
                    <a:pt x="6993890" y="4343527"/>
                    <a:pt x="6922770" y="4414520"/>
                    <a:pt x="6834886" y="4414520"/>
                  </a:cubicBezTo>
                  <a:lnTo>
                    <a:pt x="159004" y="4414520"/>
                  </a:lnTo>
                  <a:cubicBezTo>
                    <a:pt x="71120" y="4414647"/>
                    <a:pt x="0" y="4343527"/>
                    <a:pt x="0" y="4255897"/>
                  </a:cubicBezTo>
                  <a:close/>
                </a:path>
              </a:pathLst>
            </a:custGeom>
            <a:solidFill>
              <a:srgbClr val="E1E1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0" y="0"/>
              <a:ext cx="7006717" cy="4427220"/>
            </a:xfrm>
            <a:custGeom>
              <a:avLst/>
              <a:gdLst/>
              <a:ahLst/>
              <a:cxnLst/>
              <a:rect l="l" t="t" r="r" b="b"/>
              <a:pathLst>
                <a:path w="7006717" h="4427220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6841363" y="0"/>
                  </a:lnTo>
                  <a:lnTo>
                    <a:pt x="6841363" y="6350"/>
                  </a:lnTo>
                  <a:lnTo>
                    <a:pt x="6841363" y="0"/>
                  </a:lnTo>
                  <a:cubicBezTo>
                    <a:pt x="6932676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4262120"/>
                  </a:lnTo>
                  <a:lnTo>
                    <a:pt x="7000367" y="4262120"/>
                  </a:lnTo>
                  <a:lnTo>
                    <a:pt x="7006717" y="4262120"/>
                  </a:lnTo>
                  <a:cubicBezTo>
                    <a:pt x="7006717" y="4353306"/>
                    <a:pt x="6932676" y="4427220"/>
                    <a:pt x="6841363" y="4427220"/>
                  </a:cubicBezTo>
                  <a:lnTo>
                    <a:pt x="6841363" y="4420870"/>
                  </a:lnTo>
                  <a:lnTo>
                    <a:pt x="6841363" y="4427220"/>
                  </a:lnTo>
                  <a:lnTo>
                    <a:pt x="165354" y="4427220"/>
                  </a:lnTo>
                  <a:lnTo>
                    <a:pt x="165354" y="4420870"/>
                  </a:lnTo>
                  <a:lnTo>
                    <a:pt x="165354" y="4427220"/>
                  </a:lnTo>
                  <a:cubicBezTo>
                    <a:pt x="74041" y="4427220"/>
                    <a:pt x="0" y="4353306"/>
                    <a:pt x="0" y="426212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262120"/>
                  </a:lnTo>
                  <a:lnTo>
                    <a:pt x="6350" y="4262120"/>
                  </a:lnTo>
                  <a:lnTo>
                    <a:pt x="12700" y="4262120"/>
                  </a:lnTo>
                  <a:cubicBezTo>
                    <a:pt x="12700" y="4346321"/>
                    <a:pt x="81026" y="4414520"/>
                    <a:pt x="165354" y="4414520"/>
                  </a:cubicBezTo>
                  <a:lnTo>
                    <a:pt x="6841363" y="4414520"/>
                  </a:lnTo>
                  <a:cubicBezTo>
                    <a:pt x="6925691" y="4414520"/>
                    <a:pt x="6994017" y="4346321"/>
                    <a:pt x="6994017" y="4262120"/>
                  </a:cubicBezTo>
                  <a:lnTo>
                    <a:pt x="6994017" y="165100"/>
                  </a:lnTo>
                  <a:cubicBezTo>
                    <a:pt x="6994017" y="80899"/>
                    <a:pt x="6925691" y="12700"/>
                    <a:pt x="6841363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343210" y="6208662"/>
            <a:ext cx="3544044" cy="607174"/>
            <a:chOff x="0" y="0"/>
            <a:chExt cx="4725392" cy="80956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725392" cy="809565"/>
            </a:xfrm>
            <a:custGeom>
              <a:avLst/>
              <a:gdLst/>
              <a:ahLst/>
              <a:cxnLst/>
              <a:rect l="l" t="t" r="r" b="b"/>
              <a:pathLst>
                <a:path w="4725392" h="809565">
                  <a:moveTo>
                    <a:pt x="0" y="0"/>
                  </a:moveTo>
                  <a:lnTo>
                    <a:pt x="4725392" y="0"/>
                  </a:lnTo>
                  <a:lnTo>
                    <a:pt x="4725392" y="809565"/>
                  </a:lnTo>
                  <a:lnTo>
                    <a:pt x="0" y="8095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28575"/>
              <a:ext cx="4725392" cy="8381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304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User Base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2343210" y="6821686"/>
            <a:ext cx="4659362" cy="996659"/>
            <a:chOff x="0" y="0"/>
            <a:chExt cx="6212483" cy="1328879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212483" cy="1328879"/>
            </a:xfrm>
            <a:custGeom>
              <a:avLst/>
              <a:gdLst/>
              <a:ahLst/>
              <a:cxnLst/>
              <a:rect l="l" t="t" r="r" b="b"/>
              <a:pathLst>
                <a:path w="6212483" h="1328879">
                  <a:moveTo>
                    <a:pt x="0" y="0"/>
                  </a:moveTo>
                  <a:lnTo>
                    <a:pt x="6212483" y="0"/>
                  </a:lnTo>
                  <a:lnTo>
                    <a:pt x="6212483" y="1328879"/>
                  </a:lnTo>
                  <a:lnTo>
                    <a:pt x="0" y="1328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104775"/>
              <a:ext cx="6212483" cy="143365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051"/>
                </a:lnSpc>
              </a:pPr>
              <a:r>
                <a:rPr lang="en-US" sz="24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High-value users from 20+ countries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85280" y="476250"/>
            <a:ext cx="15717292" cy="3480495"/>
            <a:chOff x="0" y="0"/>
            <a:chExt cx="1835230" cy="4064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835230" cy="406400"/>
            </a:xfrm>
            <a:custGeom>
              <a:avLst/>
              <a:gdLst/>
              <a:ahLst/>
              <a:cxnLst/>
              <a:rect l="l" t="t" r="r" b="b"/>
              <a:pathLst>
                <a:path w="1835230" h="406400">
                  <a:moveTo>
                    <a:pt x="163203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632030" y="406400"/>
                  </a:lnTo>
                  <a:lnTo>
                    <a:pt x="1835230" y="203200"/>
                  </a:lnTo>
                  <a:lnTo>
                    <a:pt x="1632030" y="0"/>
                  </a:lnTo>
                  <a:close/>
                </a:path>
              </a:pathLst>
            </a:custGeom>
            <a:blipFill>
              <a:blip r:embed="rId3"/>
              <a:stretch>
                <a:fillRect t="-23290" b="-14930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746" b="-374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1828240"/>
            <a:ext cx="9747351" cy="1177670"/>
            <a:chOff x="0" y="0"/>
            <a:chExt cx="12996468" cy="15702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996468" cy="1570226"/>
            </a:xfrm>
            <a:custGeom>
              <a:avLst/>
              <a:gdLst/>
              <a:ahLst/>
              <a:cxnLst/>
              <a:rect l="l" t="t" r="r" b="b"/>
              <a:pathLst>
                <a:path w="12996468" h="1570226">
                  <a:moveTo>
                    <a:pt x="0" y="0"/>
                  </a:moveTo>
                  <a:lnTo>
                    <a:pt x="12996468" y="0"/>
                  </a:lnTo>
                  <a:lnTo>
                    <a:pt x="12996468" y="1570226"/>
                  </a:lnTo>
                  <a:lnTo>
                    <a:pt x="0" y="15702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996468" cy="160832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311"/>
                </a:lnSpc>
              </a:pPr>
              <a:r>
                <a:rPr lang="en-US" sz="58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Launching the Investigation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70698" y="4449185"/>
            <a:ext cx="3544044" cy="607174"/>
            <a:chOff x="0" y="0"/>
            <a:chExt cx="4725392" cy="8095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725392" cy="809565"/>
            </a:xfrm>
            <a:custGeom>
              <a:avLst/>
              <a:gdLst/>
              <a:ahLst/>
              <a:cxnLst/>
              <a:rect l="l" t="t" r="r" b="b"/>
              <a:pathLst>
                <a:path w="4725392" h="809565">
                  <a:moveTo>
                    <a:pt x="0" y="0"/>
                  </a:moveTo>
                  <a:lnTo>
                    <a:pt x="4725392" y="0"/>
                  </a:lnTo>
                  <a:lnTo>
                    <a:pt x="4725392" y="809565"/>
                  </a:lnTo>
                  <a:lnTo>
                    <a:pt x="0" y="8095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4725392" cy="8381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3049" b="1">
                  <a:solidFill>
                    <a:srgbClr val="1B1B2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Early Monitoring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70698" y="5175615"/>
            <a:ext cx="3556993" cy="996659"/>
            <a:chOff x="0" y="0"/>
            <a:chExt cx="4742657" cy="132887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742657" cy="1328879"/>
            </a:xfrm>
            <a:custGeom>
              <a:avLst/>
              <a:gdLst/>
              <a:ahLst/>
              <a:cxnLst/>
              <a:rect l="l" t="t" r="r" b="b"/>
              <a:pathLst>
                <a:path w="4742657" h="1328879">
                  <a:moveTo>
                    <a:pt x="0" y="0"/>
                  </a:moveTo>
                  <a:lnTo>
                    <a:pt x="4742657" y="0"/>
                  </a:lnTo>
                  <a:lnTo>
                    <a:pt x="4742657" y="1328879"/>
                  </a:lnTo>
                  <a:lnTo>
                    <a:pt x="0" y="1328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04775"/>
              <a:ext cx="4742657" cy="143365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051"/>
                </a:lnSpc>
              </a:pPr>
              <a:r>
                <a:rPr lang="en-US" sz="24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Started 2010 by FBI Pittsburgh &amp; Europol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128968" y="4449185"/>
            <a:ext cx="3893493" cy="607174"/>
            <a:chOff x="0" y="0"/>
            <a:chExt cx="5191323" cy="80956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191323" cy="809565"/>
            </a:xfrm>
            <a:custGeom>
              <a:avLst/>
              <a:gdLst/>
              <a:ahLst/>
              <a:cxnLst/>
              <a:rect l="l" t="t" r="r" b="b"/>
              <a:pathLst>
                <a:path w="5191323" h="809565">
                  <a:moveTo>
                    <a:pt x="0" y="0"/>
                  </a:moveTo>
                  <a:lnTo>
                    <a:pt x="5191323" y="0"/>
                  </a:lnTo>
                  <a:lnTo>
                    <a:pt x="5191323" y="809565"/>
                  </a:lnTo>
                  <a:lnTo>
                    <a:pt x="0" y="8095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5191323" cy="8381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3049" b="1">
                  <a:solidFill>
                    <a:srgbClr val="1B1B2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Infiltration Attempts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28968" y="5175615"/>
            <a:ext cx="3556993" cy="996659"/>
            <a:chOff x="0" y="0"/>
            <a:chExt cx="4742657" cy="132887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742657" cy="1328879"/>
            </a:xfrm>
            <a:custGeom>
              <a:avLst/>
              <a:gdLst/>
              <a:ahLst/>
              <a:cxnLst/>
              <a:rect l="l" t="t" r="r" b="b"/>
              <a:pathLst>
                <a:path w="4742657" h="1328879">
                  <a:moveTo>
                    <a:pt x="0" y="0"/>
                  </a:moveTo>
                  <a:lnTo>
                    <a:pt x="4742657" y="0"/>
                  </a:lnTo>
                  <a:lnTo>
                    <a:pt x="4742657" y="1328879"/>
                  </a:lnTo>
                  <a:lnTo>
                    <a:pt x="0" y="1328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04775"/>
              <a:ext cx="4742657" cy="143365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051"/>
                </a:lnSpc>
              </a:pPr>
              <a:r>
                <a:rPr lang="en-US" sz="24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Undercover agents engaged the forum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387238" y="4449185"/>
            <a:ext cx="3544044" cy="607174"/>
            <a:chOff x="0" y="0"/>
            <a:chExt cx="4725392" cy="80956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725392" cy="809565"/>
            </a:xfrm>
            <a:custGeom>
              <a:avLst/>
              <a:gdLst/>
              <a:ahLst/>
              <a:cxnLst/>
              <a:rect l="l" t="t" r="r" b="b"/>
              <a:pathLst>
                <a:path w="4725392" h="809565">
                  <a:moveTo>
                    <a:pt x="0" y="0"/>
                  </a:moveTo>
                  <a:lnTo>
                    <a:pt x="4725392" y="0"/>
                  </a:lnTo>
                  <a:lnTo>
                    <a:pt x="4725392" y="809565"/>
                  </a:lnTo>
                  <a:lnTo>
                    <a:pt x="0" y="8095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4725392" cy="8381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3049" b="1">
                  <a:solidFill>
                    <a:srgbClr val="1B1B2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Key Focus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387238" y="5175615"/>
            <a:ext cx="3556993" cy="996659"/>
            <a:chOff x="0" y="0"/>
            <a:chExt cx="4742657" cy="132887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742657" cy="1328879"/>
            </a:xfrm>
            <a:custGeom>
              <a:avLst/>
              <a:gdLst/>
              <a:ahLst/>
              <a:cxnLst/>
              <a:rect l="l" t="t" r="r" b="b"/>
              <a:pathLst>
                <a:path w="4742657" h="1328879">
                  <a:moveTo>
                    <a:pt x="0" y="0"/>
                  </a:moveTo>
                  <a:lnTo>
                    <a:pt x="4742657" y="0"/>
                  </a:lnTo>
                  <a:lnTo>
                    <a:pt x="4742657" y="1328879"/>
                  </a:lnTo>
                  <a:lnTo>
                    <a:pt x="0" y="1328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04775"/>
              <a:ext cx="4742657" cy="143365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051"/>
                </a:lnSpc>
              </a:pPr>
              <a:r>
                <a:rPr lang="en-US" sz="24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Trace malware linked to major U.S. cyberattacks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645508" y="4449185"/>
            <a:ext cx="3771795" cy="607174"/>
            <a:chOff x="0" y="0"/>
            <a:chExt cx="5029059" cy="80956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029060" cy="809565"/>
            </a:xfrm>
            <a:custGeom>
              <a:avLst/>
              <a:gdLst/>
              <a:ahLst/>
              <a:cxnLst/>
              <a:rect l="l" t="t" r="r" b="b"/>
              <a:pathLst>
                <a:path w="5029060" h="809565">
                  <a:moveTo>
                    <a:pt x="0" y="0"/>
                  </a:moveTo>
                  <a:lnTo>
                    <a:pt x="5029060" y="0"/>
                  </a:lnTo>
                  <a:lnTo>
                    <a:pt x="5029060" y="809565"/>
                  </a:lnTo>
                  <a:lnTo>
                    <a:pt x="0" y="8095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5029059" cy="8381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3049" b="1">
                  <a:solidFill>
                    <a:srgbClr val="1B1B2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Technical Measures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3645508" y="5175615"/>
            <a:ext cx="3556992" cy="1511009"/>
            <a:chOff x="0" y="0"/>
            <a:chExt cx="4742657" cy="201467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742657" cy="2014679"/>
            </a:xfrm>
            <a:custGeom>
              <a:avLst/>
              <a:gdLst/>
              <a:ahLst/>
              <a:cxnLst/>
              <a:rect l="l" t="t" r="r" b="b"/>
              <a:pathLst>
                <a:path w="4742657" h="2014679">
                  <a:moveTo>
                    <a:pt x="0" y="0"/>
                  </a:moveTo>
                  <a:lnTo>
                    <a:pt x="4742657" y="0"/>
                  </a:lnTo>
                  <a:lnTo>
                    <a:pt x="4742657" y="2014679"/>
                  </a:lnTo>
                  <a:lnTo>
                    <a:pt x="0" y="20146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04775"/>
              <a:ext cx="4742657" cy="211945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051"/>
                </a:lnSpc>
              </a:pPr>
              <a:r>
                <a:rPr lang="en-US" sz="24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Offshore servers, encrypted messaging, proxies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366415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01763" y="4584970"/>
            <a:ext cx="15570695" cy="1117060"/>
            <a:chOff x="0" y="0"/>
            <a:chExt cx="20760927" cy="14894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60927" cy="1489414"/>
            </a:xfrm>
            <a:custGeom>
              <a:avLst/>
              <a:gdLst/>
              <a:ahLst/>
              <a:cxnLst/>
              <a:rect l="l" t="t" r="r" b="b"/>
              <a:pathLst>
                <a:path w="20760927" h="1489414">
                  <a:moveTo>
                    <a:pt x="0" y="0"/>
                  </a:moveTo>
                  <a:lnTo>
                    <a:pt x="20760927" y="0"/>
                  </a:lnTo>
                  <a:lnTo>
                    <a:pt x="20760927" y="1489414"/>
                  </a:lnTo>
                  <a:lnTo>
                    <a:pt x="0" y="1489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0760927" cy="151798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6937"/>
                </a:lnSpc>
              </a:pPr>
              <a:r>
                <a:rPr lang="en-US" sz="55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Technical Breakthrough #1: Log Trail Discovery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7475" y="6178280"/>
            <a:ext cx="647402" cy="647402"/>
            <a:chOff x="0" y="0"/>
            <a:chExt cx="863203" cy="863203"/>
          </a:xfrm>
        </p:grpSpPr>
        <p:sp>
          <p:nvSpPr>
            <p:cNvPr id="10" name="Freeform 10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1E1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913632" y="6280376"/>
            <a:ext cx="3544044" cy="607174"/>
            <a:chOff x="0" y="0"/>
            <a:chExt cx="4725392" cy="8095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725392" cy="809565"/>
            </a:xfrm>
            <a:custGeom>
              <a:avLst/>
              <a:gdLst/>
              <a:ahLst/>
              <a:cxnLst/>
              <a:rect l="l" t="t" r="r" b="b"/>
              <a:pathLst>
                <a:path w="4725392" h="809565">
                  <a:moveTo>
                    <a:pt x="0" y="0"/>
                  </a:moveTo>
                  <a:lnTo>
                    <a:pt x="4725392" y="0"/>
                  </a:lnTo>
                  <a:lnTo>
                    <a:pt x="4725392" y="809565"/>
                  </a:lnTo>
                  <a:lnTo>
                    <a:pt x="0" y="8095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4725392" cy="8381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3049" b="1">
                  <a:solidFill>
                    <a:srgbClr val="3C39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2012 Milestone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913632" y="6893399"/>
            <a:ext cx="4276874" cy="996659"/>
            <a:chOff x="0" y="0"/>
            <a:chExt cx="5702498" cy="132887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02498" cy="1328879"/>
            </a:xfrm>
            <a:custGeom>
              <a:avLst/>
              <a:gdLst/>
              <a:ahLst/>
              <a:cxnLst/>
              <a:rect l="l" t="t" r="r" b="b"/>
              <a:pathLst>
                <a:path w="5702498" h="1328879">
                  <a:moveTo>
                    <a:pt x="0" y="0"/>
                  </a:moveTo>
                  <a:lnTo>
                    <a:pt x="5702498" y="0"/>
                  </a:lnTo>
                  <a:lnTo>
                    <a:pt x="5702498" y="1328879"/>
                  </a:lnTo>
                  <a:lnTo>
                    <a:pt x="0" y="1328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04775"/>
              <a:ext cx="5702498" cy="143365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051"/>
                </a:lnSpc>
              </a:pPr>
              <a:r>
                <a:rPr lang="en-US" sz="24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Custom keylogger infection traced in U.S. hospitals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540104" y="6178280"/>
            <a:ext cx="647403" cy="647402"/>
            <a:chOff x="0" y="0"/>
            <a:chExt cx="863203" cy="863203"/>
          </a:xfrm>
        </p:grpSpPr>
        <p:sp>
          <p:nvSpPr>
            <p:cNvPr id="19" name="Freeform 19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1E1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466260" y="6280376"/>
            <a:ext cx="3544044" cy="607174"/>
            <a:chOff x="0" y="0"/>
            <a:chExt cx="4725392" cy="80956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725392" cy="809565"/>
            </a:xfrm>
            <a:custGeom>
              <a:avLst/>
              <a:gdLst/>
              <a:ahLst/>
              <a:cxnLst/>
              <a:rect l="l" t="t" r="r" b="b"/>
              <a:pathLst>
                <a:path w="4725392" h="809565">
                  <a:moveTo>
                    <a:pt x="0" y="0"/>
                  </a:moveTo>
                  <a:lnTo>
                    <a:pt x="4725392" y="0"/>
                  </a:lnTo>
                  <a:lnTo>
                    <a:pt x="4725392" y="809565"/>
                  </a:lnTo>
                  <a:lnTo>
                    <a:pt x="0" y="8095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4725392" cy="8381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3049" b="1">
                  <a:solidFill>
                    <a:srgbClr val="3C39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Forum Link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466260" y="6893399"/>
            <a:ext cx="4276874" cy="996659"/>
            <a:chOff x="0" y="0"/>
            <a:chExt cx="5702498" cy="132887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702498" cy="1328879"/>
            </a:xfrm>
            <a:custGeom>
              <a:avLst/>
              <a:gdLst/>
              <a:ahLst/>
              <a:cxnLst/>
              <a:rect l="l" t="t" r="r" b="b"/>
              <a:pathLst>
                <a:path w="5702498" h="1328879">
                  <a:moveTo>
                    <a:pt x="0" y="0"/>
                  </a:moveTo>
                  <a:lnTo>
                    <a:pt x="5702498" y="0"/>
                  </a:lnTo>
                  <a:lnTo>
                    <a:pt x="5702498" y="1328879"/>
                  </a:lnTo>
                  <a:lnTo>
                    <a:pt x="0" y="1328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04775"/>
              <a:ext cx="5702498" cy="143365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051"/>
                </a:lnSpc>
              </a:pPr>
              <a:r>
                <a:rPr lang="en-US" sz="24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Logs matched malware sold by “Mlj” on Darkode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092731" y="6178280"/>
            <a:ext cx="647402" cy="647402"/>
            <a:chOff x="0" y="0"/>
            <a:chExt cx="863203" cy="863203"/>
          </a:xfrm>
        </p:grpSpPr>
        <p:sp>
          <p:nvSpPr>
            <p:cNvPr id="28" name="Freeform 28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1E1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3018889" y="6280376"/>
            <a:ext cx="3544044" cy="607174"/>
            <a:chOff x="0" y="0"/>
            <a:chExt cx="4725392" cy="80956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725392" cy="809565"/>
            </a:xfrm>
            <a:custGeom>
              <a:avLst/>
              <a:gdLst/>
              <a:ahLst/>
              <a:cxnLst/>
              <a:rect l="l" t="t" r="r" b="b"/>
              <a:pathLst>
                <a:path w="4725392" h="809565">
                  <a:moveTo>
                    <a:pt x="0" y="0"/>
                  </a:moveTo>
                  <a:lnTo>
                    <a:pt x="4725392" y="0"/>
                  </a:lnTo>
                  <a:lnTo>
                    <a:pt x="4725392" y="809565"/>
                  </a:lnTo>
                  <a:lnTo>
                    <a:pt x="0" y="8095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4725392" cy="8381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3049" b="1">
                  <a:solidFill>
                    <a:srgbClr val="3C39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Verification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018889" y="6893399"/>
            <a:ext cx="4276874" cy="1511009"/>
            <a:chOff x="0" y="0"/>
            <a:chExt cx="5702498" cy="201467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702498" cy="2014679"/>
            </a:xfrm>
            <a:custGeom>
              <a:avLst/>
              <a:gdLst/>
              <a:ahLst/>
              <a:cxnLst/>
              <a:rect l="l" t="t" r="r" b="b"/>
              <a:pathLst>
                <a:path w="5702498" h="2014679">
                  <a:moveTo>
                    <a:pt x="0" y="0"/>
                  </a:moveTo>
                  <a:lnTo>
                    <a:pt x="5702498" y="0"/>
                  </a:lnTo>
                  <a:lnTo>
                    <a:pt x="5702498" y="2014679"/>
                  </a:lnTo>
                  <a:lnTo>
                    <a:pt x="0" y="20146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04775"/>
              <a:ext cx="5702498" cy="211945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051"/>
                </a:lnSpc>
              </a:pPr>
              <a:r>
                <a:rPr lang="en-US" sz="24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Undercover account purchased tools, confirmed fingerprints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87475" y="412544"/>
            <a:ext cx="16230600" cy="3694500"/>
            <a:chOff x="0" y="0"/>
            <a:chExt cx="3570776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570776" cy="812800"/>
            </a:xfrm>
            <a:custGeom>
              <a:avLst/>
              <a:gdLst/>
              <a:ahLst/>
              <a:cxnLst/>
              <a:rect l="l" t="t" r="r" b="b"/>
              <a:pathLst>
                <a:path w="3570776" h="812800">
                  <a:moveTo>
                    <a:pt x="0" y="0"/>
                  </a:moveTo>
                  <a:lnTo>
                    <a:pt x="3570776" y="0"/>
                  </a:lnTo>
                  <a:lnTo>
                    <a:pt x="3570776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t="-6453" b="-14435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525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821659"/>
            <a:ext cx="15413903" cy="1885127"/>
            <a:chOff x="0" y="0"/>
            <a:chExt cx="20551871" cy="25135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551871" cy="2513502"/>
            </a:xfrm>
            <a:custGeom>
              <a:avLst/>
              <a:gdLst/>
              <a:ahLst/>
              <a:cxnLst/>
              <a:rect l="l" t="t" r="r" b="b"/>
              <a:pathLst>
                <a:path w="20551871" h="2513502">
                  <a:moveTo>
                    <a:pt x="0" y="0"/>
                  </a:moveTo>
                  <a:lnTo>
                    <a:pt x="20551871" y="0"/>
                  </a:lnTo>
                  <a:lnTo>
                    <a:pt x="20551871" y="2513502"/>
                  </a:lnTo>
                  <a:lnTo>
                    <a:pt x="0" y="2513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0551871" cy="254207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0" lvl="0" indent="0" algn="ctr">
                <a:lnSpc>
                  <a:spcPts val="6563"/>
                </a:lnSpc>
                <a:spcBef>
                  <a:spcPct val="0"/>
                </a:spcBef>
              </a:pPr>
              <a:r>
                <a:rPr lang="en-US" sz="5262" u="none" strike="noStrike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Technical Breakthrough #2: Undercover Penetration</a:t>
              </a:r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788342" y="2773498"/>
            <a:ext cx="1112788" cy="1335286"/>
          </a:xfrm>
          <a:custGeom>
            <a:avLst/>
            <a:gdLst/>
            <a:ahLst/>
            <a:cxnLst/>
            <a:rect l="l" t="t" r="r" b="b"/>
            <a:pathLst>
              <a:path w="1112788" h="1335286">
                <a:moveTo>
                  <a:pt x="0" y="0"/>
                </a:moveTo>
                <a:lnTo>
                  <a:pt x="1112788" y="0"/>
                </a:lnTo>
                <a:lnTo>
                  <a:pt x="1112788" y="1335286"/>
                </a:lnTo>
                <a:lnTo>
                  <a:pt x="0" y="1335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0" r="-14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2234952" y="2995995"/>
            <a:ext cx="2781895" cy="555867"/>
            <a:chOff x="0" y="0"/>
            <a:chExt cx="3709193" cy="74115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09193" cy="741156"/>
            </a:xfrm>
            <a:custGeom>
              <a:avLst/>
              <a:gdLst/>
              <a:ahLst/>
              <a:cxnLst/>
              <a:rect l="l" t="t" r="r" b="b"/>
              <a:pathLst>
                <a:path w="3709193" h="741156">
                  <a:moveTo>
                    <a:pt x="0" y="0"/>
                  </a:moveTo>
                  <a:lnTo>
                    <a:pt x="3709193" y="0"/>
                  </a:lnTo>
                  <a:lnTo>
                    <a:pt x="3709193" y="741156"/>
                  </a:lnTo>
                  <a:lnTo>
                    <a:pt x="0" y="7411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3709193" cy="76020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24"/>
                </a:lnSpc>
              </a:pPr>
              <a:r>
                <a:rPr lang="en-US" sz="2787" b="1">
                  <a:solidFill>
                    <a:srgbClr val="3C39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Agent Strategy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234952" y="3477156"/>
            <a:ext cx="15283755" cy="453510"/>
            <a:chOff x="0" y="0"/>
            <a:chExt cx="20378340" cy="6046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378341" cy="604680"/>
            </a:xfrm>
            <a:custGeom>
              <a:avLst/>
              <a:gdLst/>
              <a:ahLst/>
              <a:cxnLst/>
              <a:rect l="l" t="t" r="r" b="b"/>
              <a:pathLst>
                <a:path w="20378341" h="604680">
                  <a:moveTo>
                    <a:pt x="0" y="0"/>
                  </a:moveTo>
                  <a:lnTo>
                    <a:pt x="20378341" y="0"/>
                  </a:lnTo>
                  <a:lnTo>
                    <a:pt x="20378341" y="604680"/>
                  </a:lnTo>
                  <a:lnTo>
                    <a:pt x="0" y="6046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0"/>
              <a:ext cx="20378340" cy="6999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92"/>
                </a:lnSpc>
              </a:pPr>
              <a:r>
                <a:rPr lang="en-US" sz="234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Built credible hacker personas</a:t>
              </a:r>
            </a:p>
          </p:txBody>
        </p:sp>
      </p:grpSp>
      <p:sp>
        <p:nvSpPr>
          <p:cNvPr id="16" name="Freeform 16" descr="preencoded.png"/>
          <p:cNvSpPr/>
          <p:nvPr/>
        </p:nvSpPr>
        <p:spPr>
          <a:xfrm>
            <a:off x="788342" y="4108783"/>
            <a:ext cx="1112788" cy="1335286"/>
          </a:xfrm>
          <a:custGeom>
            <a:avLst/>
            <a:gdLst/>
            <a:ahLst/>
            <a:cxnLst/>
            <a:rect l="l" t="t" r="r" b="b"/>
            <a:pathLst>
              <a:path w="1112788" h="1335286">
                <a:moveTo>
                  <a:pt x="0" y="0"/>
                </a:moveTo>
                <a:lnTo>
                  <a:pt x="1112788" y="0"/>
                </a:lnTo>
                <a:lnTo>
                  <a:pt x="1112788" y="1335286"/>
                </a:lnTo>
                <a:lnTo>
                  <a:pt x="0" y="13352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0" r="-14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2234952" y="4331281"/>
            <a:ext cx="2781895" cy="555867"/>
            <a:chOff x="0" y="0"/>
            <a:chExt cx="3709193" cy="74115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709193" cy="741156"/>
            </a:xfrm>
            <a:custGeom>
              <a:avLst/>
              <a:gdLst/>
              <a:ahLst/>
              <a:cxnLst/>
              <a:rect l="l" t="t" r="r" b="b"/>
              <a:pathLst>
                <a:path w="3709193" h="741156">
                  <a:moveTo>
                    <a:pt x="0" y="0"/>
                  </a:moveTo>
                  <a:lnTo>
                    <a:pt x="3709193" y="0"/>
                  </a:lnTo>
                  <a:lnTo>
                    <a:pt x="3709193" y="741156"/>
                  </a:lnTo>
                  <a:lnTo>
                    <a:pt x="0" y="7411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3709193" cy="76020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24"/>
                </a:lnSpc>
              </a:pPr>
              <a:r>
                <a:rPr lang="en-US" sz="2787" b="1">
                  <a:solidFill>
                    <a:srgbClr val="3C39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Access Gained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234952" y="4812443"/>
            <a:ext cx="15283755" cy="453510"/>
            <a:chOff x="0" y="0"/>
            <a:chExt cx="20378340" cy="6046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378341" cy="604680"/>
            </a:xfrm>
            <a:custGeom>
              <a:avLst/>
              <a:gdLst/>
              <a:ahLst/>
              <a:cxnLst/>
              <a:rect l="l" t="t" r="r" b="b"/>
              <a:pathLst>
                <a:path w="20378341" h="604680">
                  <a:moveTo>
                    <a:pt x="0" y="0"/>
                  </a:moveTo>
                  <a:lnTo>
                    <a:pt x="20378341" y="0"/>
                  </a:lnTo>
                  <a:lnTo>
                    <a:pt x="20378341" y="604680"/>
                  </a:lnTo>
                  <a:lnTo>
                    <a:pt x="0" y="6046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0"/>
              <a:ext cx="20378340" cy="6999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92"/>
                </a:lnSpc>
              </a:pPr>
              <a:r>
                <a:rPr lang="en-US" sz="234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Endorsements secured via code samples</a:t>
              </a:r>
            </a:p>
          </p:txBody>
        </p:sp>
      </p:grpSp>
      <p:sp>
        <p:nvSpPr>
          <p:cNvPr id="23" name="Freeform 23" descr="preencoded.png"/>
          <p:cNvSpPr/>
          <p:nvPr/>
        </p:nvSpPr>
        <p:spPr>
          <a:xfrm>
            <a:off x="788342" y="5444069"/>
            <a:ext cx="1112788" cy="2583656"/>
          </a:xfrm>
          <a:custGeom>
            <a:avLst/>
            <a:gdLst/>
            <a:ahLst/>
            <a:cxnLst/>
            <a:rect l="l" t="t" r="r" b="b"/>
            <a:pathLst>
              <a:path w="1112788" h="2583656">
                <a:moveTo>
                  <a:pt x="0" y="0"/>
                </a:moveTo>
                <a:lnTo>
                  <a:pt x="1112788" y="0"/>
                </a:lnTo>
                <a:lnTo>
                  <a:pt x="1112788" y="2583656"/>
                </a:lnTo>
                <a:lnTo>
                  <a:pt x="0" y="25836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9" r="-11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2234952" y="5666566"/>
            <a:ext cx="2781895" cy="555867"/>
            <a:chOff x="0" y="0"/>
            <a:chExt cx="3709193" cy="74115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709193" cy="741156"/>
            </a:xfrm>
            <a:custGeom>
              <a:avLst/>
              <a:gdLst/>
              <a:ahLst/>
              <a:cxnLst/>
              <a:rect l="l" t="t" r="r" b="b"/>
              <a:pathLst>
                <a:path w="3709193" h="741156">
                  <a:moveTo>
                    <a:pt x="0" y="0"/>
                  </a:moveTo>
                  <a:lnTo>
                    <a:pt x="3709193" y="0"/>
                  </a:lnTo>
                  <a:lnTo>
                    <a:pt x="3709193" y="741156"/>
                  </a:lnTo>
                  <a:lnTo>
                    <a:pt x="0" y="7411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3709193" cy="76020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24"/>
                </a:lnSpc>
              </a:pPr>
              <a:r>
                <a:rPr lang="en-US" sz="2787" b="1">
                  <a:solidFill>
                    <a:srgbClr val="3C39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Data Collected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234952" y="6147729"/>
            <a:ext cx="15283755" cy="453510"/>
            <a:chOff x="0" y="0"/>
            <a:chExt cx="20378340" cy="60468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0378341" cy="604680"/>
            </a:xfrm>
            <a:custGeom>
              <a:avLst/>
              <a:gdLst/>
              <a:ahLst/>
              <a:cxnLst/>
              <a:rect l="l" t="t" r="r" b="b"/>
              <a:pathLst>
                <a:path w="20378341" h="604680">
                  <a:moveTo>
                    <a:pt x="0" y="0"/>
                  </a:moveTo>
                  <a:lnTo>
                    <a:pt x="20378341" y="0"/>
                  </a:lnTo>
                  <a:lnTo>
                    <a:pt x="20378341" y="604680"/>
                  </a:lnTo>
                  <a:lnTo>
                    <a:pt x="0" y="6046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0"/>
              <a:ext cx="20378340" cy="6999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54408" lvl="1" indent="-177204" algn="l">
                <a:lnSpc>
                  <a:spcPts val="3692"/>
                </a:lnSpc>
                <a:buFont typeface="Arial"/>
                <a:buChar char="•"/>
              </a:pPr>
              <a:r>
                <a:rPr lang="en-US" sz="234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Server addresses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234952" y="6581563"/>
            <a:ext cx="15283755" cy="453510"/>
            <a:chOff x="0" y="0"/>
            <a:chExt cx="20378340" cy="60468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0378341" cy="604680"/>
            </a:xfrm>
            <a:custGeom>
              <a:avLst/>
              <a:gdLst/>
              <a:ahLst/>
              <a:cxnLst/>
              <a:rect l="l" t="t" r="r" b="b"/>
              <a:pathLst>
                <a:path w="20378341" h="604680">
                  <a:moveTo>
                    <a:pt x="0" y="0"/>
                  </a:moveTo>
                  <a:lnTo>
                    <a:pt x="20378341" y="0"/>
                  </a:lnTo>
                  <a:lnTo>
                    <a:pt x="20378341" y="604680"/>
                  </a:lnTo>
                  <a:lnTo>
                    <a:pt x="0" y="6046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0"/>
              <a:ext cx="20378340" cy="6999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54408" lvl="1" indent="-177204" algn="l">
                <a:lnSpc>
                  <a:spcPts val="3692"/>
                </a:lnSpc>
                <a:buFont typeface="Arial"/>
                <a:buChar char="•"/>
              </a:pPr>
              <a:r>
                <a:rPr lang="en-US" sz="234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Moderator usernames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234952" y="7015396"/>
            <a:ext cx="15283755" cy="453510"/>
            <a:chOff x="0" y="0"/>
            <a:chExt cx="20378340" cy="60468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0378341" cy="604680"/>
            </a:xfrm>
            <a:custGeom>
              <a:avLst/>
              <a:gdLst/>
              <a:ahLst/>
              <a:cxnLst/>
              <a:rect l="l" t="t" r="r" b="b"/>
              <a:pathLst>
                <a:path w="20378341" h="604680">
                  <a:moveTo>
                    <a:pt x="0" y="0"/>
                  </a:moveTo>
                  <a:lnTo>
                    <a:pt x="20378341" y="0"/>
                  </a:lnTo>
                  <a:lnTo>
                    <a:pt x="20378341" y="604680"/>
                  </a:lnTo>
                  <a:lnTo>
                    <a:pt x="0" y="6046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0"/>
              <a:ext cx="20378340" cy="6999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54408" lvl="1" indent="-177204" algn="l">
                <a:lnSpc>
                  <a:spcPts val="3692"/>
                </a:lnSpc>
                <a:buFont typeface="Arial"/>
                <a:buChar char="•"/>
              </a:pPr>
              <a:r>
                <a:rPr lang="en-US" sz="234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Zero-day discussion timestamps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234952" y="7449230"/>
            <a:ext cx="15283755" cy="453510"/>
            <a:chOff x="0" y="0"/>
            <a:chExt cx="20378340" cy="60468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0378341" cy="604680"/>
            </a:xfrm>
            <a:custGeom>
              <a:avLst/>
              <a:gdLst/>
              <a:ahLst/>
              <a:cxnLst/>
              <a:rect l="l" t="t" r="r" b="b"/>
              <a:pathLst>
                <a:path w="20378341" h="604680">
                  <a:moveTo>
                    <a:pt x="0" y="0"/>
                  </a:moveTo>
                  <a:lnTo>
                    <a:pt x="20378341" y="0"/>
                  </a:lnTo>
                  <a:lnTo>
                    <a:pt x="20378341" y="604680"/>
                  </a:lnTo>
                  <a:lnTo>
                    <a:pt x="0" y="6046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0"/>
              <a:ext cx="20378340" cy="6999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54408" lvl="1" indent="-177204" algn="l">
                <a:lnSpc>
                  <a:spcPts val="3692"/>
                </a:lnSpc>
                <a:buFont typeface="Arial"/>
                <a:buChar char="•"/>
              </a:pPr>
              <a:r>
                <a:rPr lang="en-US" sz="234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Botnet rental chats by region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97582" y="4077792"/>
            <a:ext cx="7995852" cy="1065708"/>
            <a:chOff x="0" y="0"/>
            <a:chExt cx="10661137" cy="142094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61136" cy="1420943"/>
            </a:xfrm>
            <a:custGeom>
              <a:avLst/>
              <a:gdLst/>
              <a:ahLst/>
              <a:cxnLst/>
              <a:rect l="l" t="t" r="r" b="b"/>
              <a:pathLst>
                <a:path w="10661136" h="1420943">
                  <a:moveTo>
                    <a:pt x="0" y="0"/>
                  </a:moveTo>
                  <a:lnTo>
                    <a:pt x="10661136" y="0"/>
                  </a:lnTo>
                  <a:lnTo>
                    <a:pt x="10661136" y="1420943"/>
                  </a:lnTo>
                  <a:lnTo>
                    <a:pt x="0" y="14209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661137" cy="145904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624"/>
                </a:lnSpc>
              </a:pPr>
              <a:r>
                <a:rPr lang="en-US" sz="5299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Seizures &amp; Coordination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97583" y="7589341"/>
            <a:ext cx="16492835" cy="28575"/>
            <a:chOff x="0" y="0"/>
            <a:chExt cx="21990447" cy="38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90431" cy="38100"/>
            </a:xfrm>
            <a:custGeom>
              <a:avLst/>
              <a:gdLst/>
              <a:ahLst/>
              <a:cxnLst/>
              <a:rect l="l" t="t" r="r" b="b"/>
              <a:pathLst>
                <a:path w="21990431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1971381" y="0"/>
                  </a:lnTo>
                  <a:cubicBezTo>
                    <a:pt x="21981922" y="0"/>
                    <a:pt x="21990431" y="8509"/>
                    <a:pt x="21990431" y="19050"/>
                  </a:cubicBezTo>
                  <a:cubicBezTo>
                    <a:pt x="21990431" y="29591"/>
                    <a:pt x="21981922" y="38100"/>
                    <a:pt x="2197138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7C7D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085481" y="6820124"/>
            <a:ext cx="28575" cy="769293"/>
            <a:chOff x="0" y="0"/>
            <a:chExt cx="38100" cy="102572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8100" cy="1025779"/>
            </a:xfrm>
            <a:custGeom>
              <a:avLst/>
              <a:gdLst/>
              <a:ahLst/>
              <a:cxnLst/>
              <a:rect l="l" t="t" r="r" b="b"/>
              <a:pathLst>
                <a:path w="38100" h="1025779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006729"/>
                  </a:lnTo>
                  <a:cubicBezTo>
                    <a:pt x="38100" y="1017270"/>
                    <a:pt x="29591" y="1025779"/>
                    <a:pt x="19050" y="1025779"/>
                  </a:cubicBezTo>
                  <a:cubicBezTo>
                    <a:pt x="8509" y="1025779"/>
                    <a:pt x="0" y="1017143"/>
                    <a:pt x="0" y="1006729"/>
                  </a:cubicBezTo>
                  <a:close/>
                </a:path>
              </a:pathLst>
            </a:custGeom>
            <a:solidFill>
              <a:srgbClr val="C7C7D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806577" y="7296075"/>
            <a:ext cx="586531" cy="586531"/>
            <a:chOff x="0" y="0"/>
            <a:chExt cx="782042" cy="782042"/>
          </a:xfrm>
        </p:grpSpPr>
        <p:sp>
          <p:nvSpPr>
            <p:cNvPr id="14" name="Freeform 14"/>
            <p:cNvSpPr/>
            <p:nvPr/>
          </p:nvSpPr>
          <p:spPr>
            <a:xfrm>
              <a:off x="6350" y="6350"/>
              <a:ext cx="769366" cy="769366"/>
            </a:xfrm>
            <a:custGeom>
              <a:avLst/>
              <a:gdLst/>
              <a:ahLst/>
              <a:cxnLst/>
              <a:rect l="l" t="t" r="r" b="b"/>
              <a:pathLst>
                <a:path w="769366" h="769366">
                  <a:moveTo>
                    <a:pt x="0" y="143637"/>
                  </a:moveTo>
                  <a:cubicBezTo>
                    <a:pt x="0" y="64262"/>
                    <a:pt x="64262" y="0"/>
                    <a:pt x="143637" y="0"/>
                  </a:cubicBezTo>
                  <a:lnTo>
                    <a:pt x="625729" y="0"/>
                  </a:lnTo>
                  <a:cubicBezTo>
                    <a:pt x="705104" y="0"/>
                    <a:pt x="769366" y="64262"/>
                    <a:pt x="769366" y="143637"/>
                  </a:cubicBezTo>
                  <a:lnTo>
                    <a:pt x="769366" y="625729"/>
                  </a:lnTo>
                  <a:cubicBezTo>
                    <a:pt x="769366" y="705104"/>
                    <a:pt x="705104" y="769366"/>
                    <a:pt x="625729" y="769366"/>
                  </a:cubicBezTo>
                  <a:lnTo>
                    <a:pt x="143637" y="769366"/>
                  </a:lnTo>
                  <a:cubicBezTo>
                    <a:pt x="64262" y="769366"/>
                    <a:pt x="0" y="705104"/>
                    <a:pt x="0" y="625729"/>
                  </a:cubicBezTo>
                  <a:close/>
                </a:path>
              </a:pathLst>
            </a:custGeom>
            <a:solidFill>
              <a:srgbClr val="E1E1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0"/>
              <a:ext cx="782066" cy="782066"/>
            </a:xfrm>
            <a:custGeom>
              <a:avLst/>
              <a:gdLst/>
              <a:ahLst/>
              <a:cxnLst/>
              <a:rect l="l" t="t" r="r" b="b"/>
              <a:pathLst>
                <a:path w="782066" h="782066">
                  <a:moveTo>
                    <a:pt x="0" y="149987"/>
                  </a:moveTo>
                  <a:cubicBezTo>
                    <a:pt x="0" y="67183"/>
                    <a:pt x="67183" y="0"/>
                    <a:pt x="149987" y="0"/>
                  </a:cubicBezTo>
                  <a:lnTo>
                    <a:pt x="632079" y="0"/>
                  </a:lnTo>
                  <a:lnTo>
                    <a:pt x="632079" y="6350"/>
                  </a:lnTo>
                  <a:lnTo>
                    <a:pt x="632079" y="0"/>
                  </a:lnTo>
                  <a:cubicBezTo>
                    <a:pt x="714883" y="0"/>
                    <a:pt x="782066" y="67183"/>
                    <a:pt x="782066" y="149987"/>
                  </a:cubicBezTo>
                  <a:lnTo>
                    <a:pt x="775716" y="149987"/>
                  </a:lnTo>
                  <a:lnTo>
                    <a:pt x="782066" y="149987"/>
                  </a:lnTo>
                  <a:lnTo>
                    <a:pt x="782066" y="632079"/>
                  </a:lnTo>
                  <a:lnTo>
                    <a:pt x="775716" y="632079"/>
                  </a:lnTo>
                  <a:lnTo>
                    <a:pt x="782066" y="632079"/>
                  </a:lnTo>
                  <a:cubicBezTo>
                    <a:pt x="782066" y="714883"/>
                    <a:pt x="714883" y="782066"/>
                    <a:pt x="632079" y="782066"/>
                  </a:cubicBezTo>
                  <a:lnTo>
                    <a:pt x="632079" y="775716"/>
                  </a:lnTo>
                  <a:lnTo>
                    <a:pt x="632079" y="782066"/>
                  </a:lnTo>
                  <a:lnTo>
                    <a:pt x="149987" y="782066"/>
                  </a:lnTo>
                  <a:lnTo>
                    <a:pt x="149987" y="775716"/>
                  </a:lnTo>
                  <a:lnTo>
                    <a:pt x="149987" y="782066"/>
                  </a:lnTo>
                  <a:cubicBezTo>
                    <a:pt x="67183" y="782066"/>
                    <a:pt x="0" y="714883"/>
                    <a:pt x="0" y="632079"/>
                  </a:cubicBezTo>
                  <a:lnTo>
                    <a:pt x="0" y="149987"/>
                  </a:lnTo>
                  <a:lnTo>
                    <a:pt x="6350" y="149987"/>
                  </a:lnTo>
                  <a:lnTo>
                    <a:pt x="0" y="149987"/>
                  </a:lnTo>
                  <a:moveTo>
                    <a:pt x="12700" y="149987"/>
                  </a:moveTo>
                  <a:lnTo>
                    <a:pt x="12700" y="632079"/>
                  </a:lnTo>
                  <a:lnTo>
                    <a:pt x="6350" y="632079"/>
                  </a:lnTo>
                  <a:lnTo>
                    <a:pt x="12700" y="632079"/>
                  </a:lnTo>
                  <a:cubicBezTo>
                    <a:pt x="12700" y="707898"/>
                    <a:pt x="74168" y="769366"/>
                    <a:pt x="149987" y="769366"/>
                  </a:cubicBezTo>
                  <a:lnTo>
                    <a:pt x="632079" y="769366"/>
                  </a:lnTo>
                  <a:cubicBezTo>
                    <a:pt x="707898" y="769366"/>
                    <a:pt x="769366" y="707898"/>
                    <a:pt x="769366" y="632079"/>
                  </a:cubicBezTo>
                  <a:lnTo>
                    <a:pt x="769366" y="149987"/>
                  </a:lnTo>
                  <a:cubicBezTo>
                    <a:pt x="769366" y="74168"/>
                    <a:pt x="707898" y="12700"/>
                    <a:pt x="632079" y="12700"/>
                  </a:cubicBezTo>
                  <a:lnTo>
                    <a:pt x="149987" y="12700"/>
                  </a:lnTo>
                  <a:lnTo>
                    <a:pt x="149987" y="6350"/>
                  </a:lnTo>
                  <a:lnTo>
                    <a:pt x="149987" y="12700"/>
                  </a:lnTo>
                  <a:cubicBezTo>
                    <a:pt x="74168" y="12700"/>
                    <a:pt x="12700" y="74168"/>
                    <a:pt x="12700" y="149987"/>
                  </a:cubicBezTo>
                  <a:close/>
                </a:path>
              </a:pathLst>
            </a:custGeom>
            <a:solidFill>
              <a:srgbClr val="C7C7D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907482" y="7348835"/>
            <a:ext cx="384572" cy="656005"/>
            <a:chOff x="0" y="0"/>
            <a:chExt cx="512763" cy="87467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12763" cy="874674"/>
            </a:xfrm>
            <a:custGeom>
              <a:avLst/>
              <a:gdLst/>
              <a:ahLst/>
              <a:cxnLst/>
              <a:rect l="l" t="t" r="r" b="b"/>
              <a:pathLst>
                <a:path w="512763" h="874674">
                  <a:moveTo>
                    <a:pt x="0" y="0"/>
                  </a:moveTo>
                  <a:lnTo>
                    <a:pt x="512763" y="0"/>
                  </a:lnTo>
                  <a:lnTo>
                    <a:pt x="512763" y="874674"/>
                  </a:lnTo>
                  <a:lnTo>
                    <a:pt x="0" y="8746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57150"/>
              <a:ext cx="512763" cy="81752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299"/>
                </a:lnSpc>
              </a:pPr>
              <a:r>
                <a:rPr lang="en-US" sz="329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497039" y="5599062"/>
            <a:ext cx="3205757" cy="558343"/>
            <a:chOff x="0" y="0"/>
            <a:chExt cx="4274343" cy="74445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274343" cy="744457"/>
            </a:xfrm>
            <a:custGeom>
              <a:avLst/>
              <a:gdLst/>
              <a:ahLst/>
              <a:cxnLst/>
              <a:rect l="l" t="t" r="r" b="b"/>
              <a:pathLst>
                <a:path w="4274343" h="744457">
                  <a:moveTo>
                    <a:pt x="0" y="0"/>
                  </a:moveTo>
                  <a:lnTo>
                    <a:pt x="4274343" y="0"/>
                  </a:lnTo>
                  <a:lnTo>
                    <a:pt x="4274343" y="744457"/>
                  </a:lnTo>
                  <a:lnTo>
                    <a:pt x="0" y="7444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4274343" cy="76350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499"/>
                </a:lnSpc>
              </a:pPr>
              <a:r>
                <a:rPr lang="en-US" sz="2799" b="1">
                  <a:solidFill>
                    <a:srgbClr val="3C39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Log Correlation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54014" y="6153447"/>
            <a:ext cx="5891807" cy="437746"/>
            <a:chOff x="0" y="0"/>
            <a:chExt cx="7855743" cy="58366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855743" cy="583661"/>
            </a:xfrm>
            <a:custGeom>
              <a:avLst/>
              <a:gdLst/>
              <a:ahLst/>
              <a:cxnLst/>
              <a:rect l="l" t="t" r="r" b="b"/>
              <a:pathLst>
                <a:path w="7855743" h="583661">
                  <a:moveTo>
                    <a:pt x="0" y="0"/>
                  </a:moveTo>
                  <a:lnTo>
                    <a:pt x="7855743" y="0"/>
                  </a:lnTo>
                  <a:lnTo>
                    <a:pt x="7855743" y="583661"/>
                  </a:lnTo>
                  <a:lnTo>
                    <a:pt x="0" y="5836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0"/>
              <a:ext cx="7855743" cy="67891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665"/>
                </a:lnSpc>
              </a:pPr>
              <a:r>
                <a:rPr lang="en-US" sz="229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Linked forum to offshore VPS providers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448104" y="7589268"/>
            <a:ext cx="28575" cy="769293"/>
            <a:chOff x="0" y="0"/>
            <a:chExt cx="38100" cy="102572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8100" cy="1025779"/>
            </a:xfrm>
            <a:custGeom>
              <a:avLst/>
              <a:gdLst/>
              <a:ahLst/>
              <a:cxnLst/>
              <a:rect l="l" t="t" r="r" b="b"/>
              <a:pathLst>
                <a:path w="38100" h="1025779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006729"/>
                  </a:lnTo>
                  <a:cubicBezTo>
                    <a:pt x="38100" y="1017270"/>
                    <a:pt x="29591" y="1025779"/>
                    <a:pt x="19050" y="1025779"/>
                  </a:cubicBezTo>
                  <a:cubicBezTo>
                    <a:pt x="8509" y="1025779"/>
                    <a:pt x="0" y="1017143"/>
                    <a:pt x="0" y="1006729"/>
                  </a:cubicBezTo>
                  <a:close/>
                </a:path>
              </a:pathLst>
            </a:custGeom>
            <a:solidFill>
              <a:srgbClr val="C7C7D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169200" y="7296075"/>
            <a:ext cx="586531" cy="586531"/>
            <a:chOff x="0" y="0"/>
            <a:chExt cx="782042" cy="782042"/>
          </a:xfrm>
        </p:grpSpPr>
        <p:sp>
          <p:nvSpPr>
            <p:cNvPr id="28" name="Freeform 28"/>
            <p:cNvSpPr/>
            <p:nvPr/>
          </p:nvSpPr>
          <p:spPr>
            <a:xfrm>
              <a:off x="6350" y="6350"/>
              <a:ext cx="769366" cy="769366"/>
            </a:xfrm>
            <a:custGeom>
              <a:avLst/>
              <a:gdLst/>
              <a:ahLst/>
              <a:cxnLst/>
              <a:rect l="l" t="t" r="r" b="b"/>
              <a:pathLst>
                <a:path w="769366" h="769366">
                  <a:moveTo>
                    <a:pt x="0" y="143637"/>
                  </a:moveTo>
                  <a:cubicBezTo>
                    <a:pt x="0" y="64262"/>
                    <a:pt x="64262" y="0"/>
                    <a:pt x="143637" y="0"/>
                  </a:cubicBezTo>
                  <a:lnTo>
                    <a:pt x="625729" y="0"/>
                  </a:lnTo>
                  <a:cubicBezTo>
                    <a:pt x="705104" y="0"/>
                    <a:pt x="769366" y="64262"/>
                    <a:pt x="769366" y="143637"/>
                  </a:cubicBezTo>
                  <a:lnTo>
                    <a:pt x="769366" y="625729"/>
                  </a:lnTo>
                  <a:cubicBezTo>
                    <a:pt x="769366" y="705104"/>
                    <a:pt x="705104" y="769366"/>
                    <a:pt x="625729" y="769366"/>
                  </a:cubicBezTo>
                  <a:lnTo>
                    <a:pt x="143637" y="769366"/>
                  </a:lnTo>
                  <a:cubicBezTo>
                    <a:pt x="64262" y="769366"/>
                    <a:pt x="0" y="705104"/>
                    <a:pt x="0" y="625729"/>
                  </a:cubicBezTo>
                  <a:close/>
                </a:path>
              </a:pathLst>
            </a:custGeom>
            <a:solidFill>
              <a:srgbClr val="E1E1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0"/>
              <a:ext cx="782066" cy="782066"/>
            </a:xfrm>
            <a:custGeom>
              <a:avLst/>
              <a:gdLst/>
              <a:ahLst/>
              <a:cxnLst/>
              <a:rect l="l" t="t" r="r" b="b"/>
              <a:pathLst>
                <a:path w="782066" h="782066">
                  <a:moveTo>
                    <a:pt x="0" y="149987"/>
                  </a:moveTo>
                  <a:cubicBezTo>
                    <a:pt x="0" y="67183"/>
                    <a:pt x="67183" y="0"/>
                    <a:pt x="149987" y="0"/>
                  </a:cubicBezTo>
                  <a:lnTo>
                    <a:pt x="632079" y="0"/>
                  </a:lnTo>
                  <a:lnTo>
                    <a:pt x="632079" y="6350"/>
                  </a:lnTo>
                  <a:lnTo>
                    <a:pt x="632079" y="0"/>
                  </a:lnTo>
                  <a:cubicBezTo>
                    <a:pt x="714883" y="0"/>
                    <a:pt x="782066" y="67183"/>
                    <a:pt x="782066" y="149987"/>
                  </a:cubicBezTo>
                  <a:lnTo>
                    <a:pt x="775716" y="149987"/>
                  </a:lnTo>
                  <a:lnTo>
                    <a:pt x="782066" y="149987"/>
                  </a:lnTo>
                  <a:lnTo>
                    <a:pt x="782066" y="632079"/>
                  </a:lnTo>
                  <a:lnTo>
                    <a:pt x="775716" y="632079"/>
                  </a:lnTo>
                  <a:lnTo>
                    <a:pt x="782066" y="632079"/>
                  </a:lnTo>
                  <a:cubicBezTo>
                    <a:pt x="782066" y="714883"/>
                    <a:pt x="714883" y="782066"/>
                    <a:pt x="632079" y="782066"/>
                  </a:cubicBezTo>
                  <a:lnTo>
                    <a:pt x="632079" y="775716"/>
                  </a:lnTo>
                  <a:lnTo>
                    <a:pt x="632079" y="782066"/>
                  </a:lnTo>
                  <a:lnTo>
                    <a:pt x="149987" y="782066"/>
                  </a:lnTo>
                  <a:lnTo>
                    <a:pt x="149987" y="775716"/>
                  </a:lnTo>
                  <a:lnTo>
                    <a:pt x="149987" y="782066"/>
                  </a:lnTo>
                  <a:cubicBezTo>
                    <a:pt x="67183" y="782066"/>
                    <a:pt x="0" y="714883"/>
                    <a:pt x="0" y="632079"/>
                  </a:cubicBezTo>
                  <a:lnTo>
                    <a:pt x="0" y="149987"/>
                  </a:lnTo>
                  <a:lnTo>
                    <a:pt x="6350" y="149987"/>
                  </a:lnTo>
                  <a:lnTo>
                    <a:pt x="0" y="149987"/>
                  </a:lnTo>
                  <a:moveTo>
                    <a:pt x="12700" y="149987"/>
                  </a:moveTo>
                  <a:lnTo>
                    <a:pt x="12700" y="632079"/>
                  </a:lnTo>
                  <a:lnTo>
                    <a:pt x="6350" y="632079"/>
                  </a:lnTo>
                  <a:lnTo>
                    <a:pt x="12700" y="632079"/>
                  </a:lnTo>
                  <a:cubicBezTo>
                    <a:pt x="12700" y="707898"/>
                    <a:pt x="74168" y="769366"/>
                    <a:pt x="149987" y="769366"/>
                  </a:cubicBezTo>
                  <a:lnTo>
                    <a:pt x="632079" y="769366"/>
                  </a:lnTo>
                  <a:cubicBezTo>
                    <a:pt x="707898" y="769366"/>
                    <a:pt x="769366" y="707898"/>
                    <a:pt x="769366" y="632079"/>
                  </a:cubicBezTo>
                  <a:lnTo>
                    <a:pt x="769366" y="149987"/>
                  </a:lnTo>
                  <a:cubicBezTo>
                    <a:pt x="769366" y="74168"/>
                    <a:pt x="707898" y="12700"/>
                    <a:pt x="632079" y="12700"/>
                  </a:cubicBezTo>
                  <a:lnTo>
                    <a:pt x="149987" y="12700"/>
                  </a:lnTo>
                  <a:lnTo>
                    <a:pt x="149987" y="6350"/>
                  </a:lnTo>
                  <a:lnTo>
                    <a:pt x="149987" y="12700"/>
                  </a:lnTo>
                  <a:cubicBezTo>
                    <a:pt x="74168" y="12700"/>
                    <a:pt x="12700" y="74168"/>
                    <a:pt x="12700" y="149987"/>
                  </a:cubicBezTo>
                  <a:close/>
                </a:path>
              </a:pathLst>
            </a:custGeom>
            <a:solidFill>
              <a:srgbClr val="C7C7D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270105" y="7348835"/>
            <a:ext cx="384572" cy="656005"/>
            <a:chOff x="0" y="0"/>
            <a:chExt cx="512763" cy="87467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12763" cy="874674"/>
            </a:xfrm>
            <a:custGeom>
              <a:avLst/>
              <a:gdLst/>
              <a:ahLst/>
              <a:cxnLst/>
              <a:rect l="l" t="t" r="r" b="b"/>
              <a:pathLst>
                <a:path w="512763" h="874674">
                  <a:moveTo>
                    <a:pt x="0" y="0"/>
                  </a:moveTo>
                  <a:lnTo>
                    <a:pt x="512763" y="0"/>
                  </a:lnTo>
                  <a:lnTo>
                    <a:pt x="512763" y="874674"/>
                  </a:lnTo>
                  <a:lnTo>
                    <a:pt x="0" y="8746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57150"/>
              <a:ext cx="512763" cy="81752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299"/>
                </a:lnSpc>
              </a:pPr>
              <a:r>
                <a:rPr lang="en-US" sz="329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2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845225" y="8425235"/>
            <a:ext cx="3764782" cy="558343"/>
            <a:chOff x="0" y="0"/>
            <a:chExt cx="5019710" cy="74445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019709" cy="744457"/>
            </a:xfrm>
            <a:custGeom>
              <a:avLst/>
              <a:gdLst/>
              <a:ahLst/>
              <a:cxnLst/>
              <a:rect l="l" t="t" r="r" b="b"/>
              <a:pathLst>
                <a:path w="5019709" h="744457">
                  <a:moveTo>
                    <a:pt x="0" y="0"/>
                  </a:moveTo>
                  <a:lnTo>
                    <a:pt x="5019709" y="0"/>
                  </a:lnTo>
                  <a:lnTo>
                    <a:pt x="5019709" y="744457"/>
                  </a:lnTo>
                  <a:lnTo>
                    <a:pt x="0" y="7444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5019710" cy="76350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499"/>
                </a:lnSpc>
              </a:pPr>
              <a:r>
                <a:rPr lang="en-US" sz="2799" b="1">
                  <a:solidFill>
                    <a:srgbClr val="3C39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Multinational Raids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516636" y="9169450"/>
            <a:ext cx="5891956" cy="437746"/>
            <a:chOff x="0" y="0"/>
            <a:chExt cx="7855942" cy="58366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855941" cy="583661"/>
            </a:xfrm>
            <a:custGeom>
              <a:avLst/>
              <a:gdLst/>
              <a:ahLst/>
              <a:cxnLst/>
              <a:rect l="l" t="t" r="r" b="b"/>
              <a:pathLst>
                <a:path w="7855941" h="583661">
                  <a:moveTo>
                    <a:pt x="0" y="0"/>
                  </a:moveTo>
                  <a:lnTo>
                    <a:pt x="7855941" y="0"/>
                  </a:lnTo>
                  <a:lnTo>
                    <a:pt x="7855941" y="583661"/>
                  </a:lnTo>
                  <a:lnTo>
                    <a:pt x="0" y="5836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0"/>
              <a:ext cx="7855942" cy="67891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665"/>
                </a:lnSpc>
              </a:pPr>
              <a:r>
                <a:rPr lang="en-US" sz="229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2015 coordinated action across 20 countries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810726" y="6820124"/>
            <a:ext cx="28575" cy="769293"/>
            <a:chOff x="0" y="0"/>
            <a:chExt cx="38100" cy="102572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8100" cy="1025779"/>
            </a:xfrm>
            <a:custGeom>
              <a:avLst/>
              <a:gdLst/>
              <a:ahLst/>
              <a:cxnLst/>
              <a:rect l="l" t="t" r="r" b="b"/>
              <a:pathLst>
                <a:path w="38100" h="1025779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006729"/>
                  </a:lnTo>
                  <a:cubicBezTo>
                    <a:pt x="38100" y="1017270"/>
                    <a:pt x="29591" y="1025779"/>
                    <a:pt x="19050" y="1025779"/>
                  </a:cubicBezTo>
                  <a:cubicBezTo>
                    <a:pt x="8509" y="1025779"/>
                    <a:pt x="0" y="1017143"/>
                    <a:pt x="0" y="1006729"/>
                  </a:cubicBezTo>
                  <a:close/>
                </a:path>
              </a:pathLst>
            </a:custGeom>
            <a:solidFill>
              <a:srgbClr val="C7C7D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0531822" y="7296075"/>
            <a:ext cx="586531" cy="586531"/>
            <a:chOff x="0" y="0"/>
            <a:chExt cx="782042" cy="782042"/>
          </a:xfrm>
        </p:grpSpPr>
        <p:sp>
          <p:nvSpPr>
            <p:cNvPr id="42" name="Freeform 42"/>
            <p:cNvSpPr/>
            <p:nvPr/>
          </p:nvSpPr>
          <p:spPr>
            <a:xfrm>
              <a:off x="6350" y="6350"/>
              <a:ext cx="769366" cy="769366"/>
            </a:xfrm>
            <a:custGeom>
              <a:avLst/>
              <a:gdLst/>
              <a:ahLst/>
              <a:cxnLst/>
              <a:rect l="l" t="t" r="r" b="b"/>
              <a:pathLst>
                <a:path w="769366" h="769366">
                  <a:moveTo>
                    <a:pt x="0" y="143637"/>
                  </a:moveTo>
                  <a:cubicBezTo>
                    <a:pt x="0" y="64262"/>
                    <a:pt x="64262" y="0"/>
                    <a:pt x="143637" y="0"/>
                  </a:cubicBezTo>
                  <a:lnTo>
                    <a:pt x="625729" y="0"/>
                  </a:lnTo>
                  <a:cubicBezTo>
                    <a:pt x="705104" y="0"/>
                    <a:pt x="769366" y="64262"/>
                    <a:pt x="769366" y="143637"/>
                  </a:cubicBezTo>
                  <a:lnTo>
                    <a:pt x="769366" y="625729"/>
                  </a:lnTo>
                  <a:cubicBezTo>
                    <a:pt x="769366" y="705104"/>
                    <a:pt x="705104" y="769366"/>
                    <a:pt x="625729" y="769366"/>
                  </a:cubicBezTo>
                  <a:lnTo>
                    <a:pt x="143637" y="769366"/>
                  </a:lnTo>
                  <a:cubicBezTo>
                    <a:pt x="64262" y="769366"/>
                    <a:pt x="0" y="705104"/>
                    <a:pt x="0" y="625729"/>
                  </a:cubicBezTo>
                  <a:close/>
                </a:path>
              </a:pathLst>
            </a:custGeom>
            <a:solidFill>
              <a:srgbClr val="E1E1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0" y="0"/>
              <a:ext cx="782066" cy="782066"/>
            </a:xfrm>
            <a:custGeom>
              <a:avLst/>
              <a:gdLst/>
              <a:ahLst/>
              <a:cxnLst/>
              <a:rect l="l" t="t" r="r" b="b"/>
              <a:pathLst>
                <a:path w="782066" h="782066">
                  <a:moveTo>
                    <a:pt x="0" y="149987"/>
                  </a:moveTo>
                  <a:cubicBezTo>
                    <a:pt x="0" y="67183"/>
                    <a:pt x="67183" y="0"/>
                    <a:pt x="149987" y="0"/>
                  </a:cubicBezTo>
                  <a:lnTo>
                    <a:pt x="632079" y="0"/>
                  </a:lnTo>
                  <a:lnTo>
                    <a:pt x="632079" y="6350"/>
                  </a:lnTo>
                  <a:lnTo>
                    <a:pt x="632079" y="0"/>
                  </a:lnTo>
                  <a:cubicBezTo>
                    <a:pt x="714883" y="0"/>
                    <a:pt x="782066" y="67183"/>
                    <a:pt x="782066" y="149987"/>
                  </a:cubicBezTo>
                  <a:lnTo>
                    <a:pt x="775716" y="149987"/>
                  </a:lnTo>
                  <a:lnTo>
                    <a:pt x="782066" y="149987"/>
                  </a:lnTo>
                  <a:lnTo>
                    <a:pt x="782066" y="632079"/>
                  </a:lnTo>
                  <a:lnTo>
                    <a:pt x="775716" y="632079"/>
                  </a:lnTo>
                  <a:lnTo>
                    <a:pt x="782066" y="632079"/>
                  </a:lnTo>
                  <a:cubicBezTo>
                    <a:pt x="782066" y="714883"/>
                    <a:pt x="714883" y="782066"/>
                    <a:pt x="632079" y="782066"/>
                  </a:cubicBezTo>
                  <a:lnTo>
                    <a:pt x="632079" y="775716"/>
                  </a:lnTo>
                  <a:lnTo>
                    <a:pt x="632079" y="782066"/>
                  </a:lnTo>
                  <a:lnTo>
                    <a:pt x="149987" y="782066"/>
                  </a:lnTo>
                  <a:lnTo>
                    <a:pt x="149987" y="775716"/>
                  </a:lnTo>
                  <a:lnTo>
                    <a:pt x="149987" y="782066"/>
                  </a:lnTo>
                  <a:cubicBezTo>
                    <a:pt x="67183" y="782066"/>
                    <a:pt x="0" y="714883"/>
                    <a:pt x="0" y="632079"/>
                  </a:cubicBezTo>
                  <a:lnTo>
                    <a:pt x="0" y="149987"/>
                  </a:lnTo>
                  <a:lnTo>
                    <a:pt x="6350" y="149987"/>
                  </a:lnTo>
                  <a:lnTo>
                    <a:pt x="0" y="149987"/>
                  </a:lnTo>
                  <a:moveTo>
                    <a:pt x="12700" y="149987"/>
                  </a:moveTo>
                  <a:lnTo>
                    <a:pt x="12700" y="632079"/>
                  </a:lnTo>
                  <a:lnTo>
                    <a:pt x="6350" y="632079"/>
                  </a:lnTo>
                  <a:lnTo>
                    <a:pt x="12700" y="632079"/>
                  </a:lnTo>
                  <a:cubicBezTo>
                    <a:pt x="12700" y="707898"/>
                    <a:pt x="74168" y="769366"/>
                    <a:pt x="149987" y="769366"/>
                  </a:cubicBezTo>
                  <a:lnTo>
                    <a:pt x="632079" y="769366"/>
                  </a:lnTo>
                  <a:cubicBezTo>
                    <a:pt x="707898" y="769366"/>
                    <a:pt x="769366" y="707898"/>
                    <a:pt x="769366" y="632079"/>
                  </a:cubicBezTo>
                  <a:lnTo>
                    <a:pt x="769366" y="149987"/>
                  </a:lnTo>
                  <a:cubicBezTo>
                    <a:pt x="769366" y="74168"/>
                    <a:pt x="707898" y="12700"/>
                    <a:pt x="632079" y="12700"/>
                  </a:cubicBezTo>
                  <a:lnTo>
                    <a:pt x="149987" y="12700"/>
                  </a:lnTo>
                  <a:lnTo>
                    <a:pt x="149987" y="6350"/>
                  </a:lnTo>
                  <a:lnTo>
                    <a:pt x="149987" y="12700"/>
                  </a:lnTo>
                  <a:cubicBezTo>
                    <a:pt x="74168" y="12700"/>
                    <a:pt x="12700" y="74168"/>
                    <a:pt x="12700" y="149987"/>
                  </a:cubicBezTo>
                  <a:close/>
                </a:path>
              </a:pathLst>
            </a:custGeom>
            <a:solidFill>
              <a:srgbClr val="C7C7D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632728" y="7348835"/>
            <a:ext cx="384572" cy="656005"/>
            <a:chOff x="0" y="0"/>
            <a:chExt cx="512763" cy="87467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12763" cy="874674"/>
            </a:xfrm>
            <a:custGeom>
              <a:avLst/>
              <a:gdLst/>
              <a:ahLst/>
              <a:cxnLst/>
              <a:rect l="l" t="t" r="r" b="b"/>
              <a:pathLst>
                <a:path w="512763" h="874674">
                  <a:moveTo>
                    <a:pt x="0" y="0"/>
                  </a:moveTo>
                  <a:lnTo>
                    <a:pt x="512763" y="0"/>
                  </a:lnTo>
                  <a:lnTo>
                    <a:pt x="512763" y="874674"/>
                  </a:lnTo>
                  <a:lnTo>
                    <a:pt x="0" y="8746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57150"/>
              <a:ext cx="512763" cy="81752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299"/>
                </a:lnSpc>
              </a:pPr>
              <a:r>
                <a:rPr lang="en-US" sz="329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3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222284" y="5099149"/>
            <a:ext cx="3205757" cy="558343"/>
            <a:chOff x="0" y="0"/>
            <a:chExt cx="4274343" cy="744457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274343" cy="744457"/>
            </a:xfrm>
            <a:custGeom>
              <a:avLst/>
              <a:gdLst/>
              <a:ahLst/>
              <a:cxnLst/>
              <a:rect l="l" t="t" r="r" b="b"/>
              <a:pathLst>
                <a:path w="4274343" h="744457">
                  <a:moveTo>
                    <a:pt x="0" y="0"/>
                  </a:moveTo>
                  <a:lnTo>
                    <a:pt x="4274343" y="0"/>
                  </a:lnTo>
                  <a:lnTo>
                    <a:pt x="4274343" y="744457"/>
                  </a:lnTo>
                  <a:lnTo>
                    <a:pt x="0" y="7444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4274343" cy="76350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499"/>
                </a:lnSpc>
              </a:pPr>
              <a:r>
                <a:rPr lang="en-US" sz="2799" b="1">
                  <a:solidFill>
                    <a:srgbClr val="3C39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Targets Seized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879259" y="5653534"/>
            <a:ext cx="5891956" cy="437746"/>
            <a:chOff x="0" y="0"/>
            <a:chExt cx="7855942" cy="583661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7855941" cy="583661"/>
            </a:xfrm>
            <a:custGeom>
              <a:avLst/>
              <a:gdLst/>
              <a:ahLst/>
              <a:cxnLst/>
              <a:rect l="l" t="t" r="r" b="b"/>
              <a:pathLst>
                <a:path w="7855941" h="583661">
                  <a:moveTo>
                    <a:pt x="0" y="0"/>
                  </a:moveTo>
                  <a:lnTo>
                    <a:pt x="7855941" y="0"/>
                  </a:lnTo>
                  <a:lnTo>
                    <a:pt x="7855941" y="583661"/>
                  </a:lnTo>
                  <a:lnTo>
                    <a:pt x="0" y="5836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95250"/>
              <a:ext cx="7855942" cy="67891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46868" lvl="1" indent="-173434" algn="l">
                <a:lnSpc>
                  <a:spcPts val="3665"/>
                </a:lnSpc>
                <a:buFont typeface="Arial"/>
                <a:buChar char="•"/>
              </a:pPr>
              <a:r>
                <a:rPr lang="en-US" sz="229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VPS in Romania, Sweden, Germany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879259" y="6153447"/>
            <a:ext cx="5891956" cy="437746"/>
            <a:chOff x="0" y="0"/>
            <a:chExt cx="7855942" cy="583661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7855941" cy="583661"/>
            </a:xfrm>
            <a:custGeom>
              <a:avLst/>
              <a:gdLst/>
              <a:ahLst/>
              <a:cxnLst/>
              <a:rect l="l" t="t" r="r" b="b"/>
              <a:pathLst>
                <a:path w="7855941" h="583661">
                  <a:moveTo>
                    <a:pt x="0" y="0"/>
                  </a:moveTo>
                  <a:lnTo>
                    <a:pt x="7855941" y="0"/>
                  </a:lnTo>
                  <a:lnTo>
                    <a:pt x="7855941" y="583661"/>
                  </a:lnTo>
                  <a:lnTo>
                    <a:pt x="0" y="5836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95250"/>
              <a:ext cx="7855942" cy="67891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46868" lvl="1" indent="-173434" algn="l">
                <a:lnSpc>
                  <a:spcPts val="3665"/>
                </a:lnSpc>
                <a:buFont typeface="Arial"/>
                <a:buChar char="•"/>
              </a:pPr>
              <a:r>
                <a:rPr lang="en-US" sz="229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28 personal devices confiscated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4173497" y="7589268"/>
            <a:ext cx="28575" cy="769293"/>
            <a:chOff x="0" y="0"/>
            <a:chExt cx="38100" cy="1025723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8100" cy="1025779"/>
            </a:xfrm>
            <a:custGeom>
              <a:avLst/>
              <a:gdLst/>
              <a:ahLst/>
              <a:cxnLst/>
              <a:rect l="l" t="t" r="r" b="b"/>
              <a:pathLst>
                <a:path w="38100" h="1025779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006729"/>
                  </a:lnTo>
                  <a:cubicBezTo>
                    <a:pt x="38100" y="1017270"/>
                    <a:pt x="29591" y="1025779"/>
                    <a:pt x="19050" y="1025779"/>
                  </a:cubicBezTo>
                  <a:cubicBezTo>
                    <a:pt x="8509" y="1025779"/>
                    <a:pt x="0" y="1017143"/>
                    <a:pt x="0" y="1006729"/>
                  </a:cubicBezTo>
                  <a:close/>
                </a:path>
              </a:pathLst>
            </a:custGeom>
            <a:solidFill>
              <a:srgbClr val="C7C7D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3894594" y="7296075"/>
            <a:ext cx="586531" cy="586531"/>
            <a:chOff x="0" y="0"/>
            <a:chExt cx="782042" cy="782042"/>
          </a:xfrm>
        </p:grpSpPr>
        <p:sp>
          <p:nvSpPr>
            <p:cNvPr id="59" name="Freeform 59"/>
            <p:cNvSpPr/>
            <p:nvPr/>
          </p:nvSpPr>
          <p:spPr>
            <a:xfrm>
              <a:off x="6350" y="6350"/>
              <a:ext cx="769366" cy="769366"/>
            </a:xfrm>
            <a:custGeom>
              <a:avLst/>
              <a:gdLst/>
              <a:ahLst/>
              <a:cxnLst/>
              <a:rect l="l" t="t" r="r" b="b"/>
              <a:pathLst>
                <a:path w="769366" h="769366">
                  <a:moveTo>
                    <a:pt x="0" y="143637"/>
                  </a:moveTo>
                  <a:cubicBezTo>
                    <a:pt x="0" y="64262"/>
                    <a:pt x="64262" y="0"/>
                    <a:pt x="143637" y="0"/>
                  </a:cubicBezTo>
                  <a:lnTo>
                    <a:pt x="625729" y="0"/>
                  </a:lnTo>
                  <a:cubicBezTo>
                    <a:pt x="705104" y="0"/>
                    <a:pt x="769366" y="64262"/>
                    <a:pt x="769366" y="143637"/>
                  </a:cubicBezTo>
                  <a:lnTo>
                    <a:pt x="769366" y="625729"/>
                  </a:lnTo>
                  <a:cubicBezTo>
                    <a:pt x="769366" y="705104"/>
                    <a:pt x="705104" y="769366"/>
                    <a:pt x="625729" y="769366"/>
                  </a:cubicBezTo>
                  <a:lnTo>
                    <a:pt x="143637" y="769366"/>
                  </a:lnTo>
                  <a:cubicBezTo>
                    <a:pt x="64262" y="769366"/>
                    <a:pt x="0" y="705104"/>
                    <a:pt x="0" y="625729"/>
                  </a:cubicBezTo>
                  <a:close/>
                </a:path>
              </a:pathLst>
            </a:custGeom>
            <a:solidFill>
              <a:srgbClr val="E1E1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60"/>
            <p:cNvSpPr/>
            <p:nvPr/>
          </p:nvSpPr>
          <p:spPr>
            <a:xfrm>
              <a:off x="0" y="0"/>
              <a:ext cx="782066" cy="782066"/>
            </a:xfrm>
            <a:custGeom>
              <a:avLst/>
              <a:gdLst/>
              <a:ahLst/>
              <a:cxnLst/>
              <a:rect l="l" t="t" r="r" b="b"/>
              <a:pathLst>
                <a:path w="782066" h="782066">
                  <a:moveTo>
                    <a:pt x="0" y="149987"/>
                  </a:moveTo>
                  <a:cubicBezTo>
                    <a:pt x="0" y="67183"/>
                    <a:pt x="67183" y="0"/>
                    <a:pt x="149987" y="0"/>
                  </a:cubicBezTo>
                  <a:lnTo>
                    <a:pt x="632079" y="0"/>
                  </a:lnTo>
                  <a:lnTo>
                    <a:pt x="632079" y="6350"/>
                  </a:lnTo>
                  <a:lnTo>
                    <a:pt x="632079" y="0"/>
                  </a:lnTo>
                  <a:cubicBezTo>
                    <a:pt x="714883" y="0"/>
                    <a:pt x="782066" y="67183"/>
                    <a:pt x="782066" y="149987"/>
                  </a:cubicBezTo>
                  <a:lnTo>
                    <a:pt x="775716" y="149987"/>
                  </a:lnTo>
                  <a:lnTo>
                    <a:pt x="782066" y="149987"/>
                  </a:lnTo>
                  <a:lnTo>
                    <a:pt x="782066" y="632079"/>
                  </a:lnTo>
                  <a:lnTo>
                    <a:pt x="775716" y="632079"/>
                  </a:lnTo>
                  <a:lnTo>
                    <a:pt x="782066" y="632079"/>
                  </a:lnTo>
                  <a:cubicBezTo>
                    <a:pt x="782066" y="714883"/>
                    <a:pt x="714883" y="782066"/>
                    <a:pt x="632079" y="782066"/>
                  </a:cubicBezTo>
                  <a:lnTo>
                    <a:pt x="632079" y="775716"/>
                  </a:lnTo>
                  <a:lnTo>
                    <a:pt x="632079" y="782066"/>
                  </a:lnTo>
                  <a:lnTo>
                    <a:pt x="149987" y="782066"/>
                  </a:lnTo>
                  <a:lnTo>
                    <a:pt x="149987" y="775716"/>
                  </a:lnTo>
                  <a:lnTo>
                    <a:pt x="149987" y="782066"/>
                  </a:lnTo>
                  <a:cubicBezTo>
                    <a:pt x="67183" y="782066"/>
                    <a:pt x="0" y="714883"/>
                    <a:pt x="0" y="632079"/>
                  </a:cubicBezTo>
                  <a:lnTo>
                    <a:pt x="0" y="149987"/>
                  </a:lnTo>
                  <a:lnTo>
                    <a:pt x="6350" y="149987"/>
                  </a:lnTo>
                  <a:lnTo>
                    <a:pt x="0" y="149987"/>
                  </a:lnTo>
                  <a:moveTo>
                    <a:pt x="12700" y="149987"/>
                  </a:moveTo>
                  <a:lnTo>
                    <a:pt x="12700" y="632079"/>
                  </a:lnTo>
                  <a:lnTo>
                    <a:pt x="6350" y="632079"/>
                  </a:lnTo>
                  <a:lnTo>
                    <a:pt x="12700" y="632079"/>
                  </a:lnTo>
                  <a:cubicBezTo>
                    <a:pt x="12700" y="707898"/>
                    <a:pt x="74168" y="769366"/>
                    <a:pt x="149987" y="769366"/>
                  </a:cubicBezTo>
                  <a:lnTo>
                    <a:pt x="632079" y="769366"/>
                  </a:lnTo>
                  <a:cubicBezTo>
                    <a:pt x="707898" y="769366"/>
                    <a:pt x="769366" y="707898"/>
                    <a:pt x="769366" y="632079"/>
                  </a:cubicBezTo>
                  <a:lnTo>
                    <a:pt x="769366" y="149987"/>
                  </a:lnTo>
                  <a:cubicBezTo>
                    <a:pt x="769366" y="74168"/>
                    <a:pt x="707898" y="12700"/>
                    <a:pt x="632079" y="12700"/>
                  </a:cubicBezTo>
                  <a:lnTo>
                    <a:pt x="149987" y="12700"/>
                  </a:lnTo>
                  <a:lnTo>
                    <a:pt x="149987" y="6350"/>
                  </a:lnTo>
                  <a:lnTo>
                    <a:pt x="149987" y="12700"/>
                  </a:lnTo>
                  <a:cubicBezTo>
                    <a:pt x="74168" y="12700"/>
                    <a:pt x="12700" y="74168"/>
                    <a:pt x="12700" y="149987"/>
                  </a:cubicBezTo>
                  <a:close/>
                </a:path>
              </a:pathLst>
            </a:custGeom>
            <a:solidFill>
              <a:srgbClr val="C7C7D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3995499" y="7348835"/>
            <a:ext cx="384572" cy="656005"/>
            <a:chOff x="0" y="0"/>
            <a:chExt cx="512763" cy="874674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512763" cy="874674"/>
            </a:xfrm>
            <a:custGeom>
              <a:avLst/>
              <a:gdLst/>
              <a:ahLst/>
              <a:cxnLst/>
              <a:rect l="l" t="t" r="r" b="b"/>
              <a:pathLst>
                <a:path w="512763" h="874674">
                  <a:moveTo>
                    <a:pt x="0" y="0"/>
                  </a:moveTo>
                  <a:lnTo>
                    <a:pt x="512763" y="0"/>
                  </a:lnTo>
                  <a:lnTo>
                    <a:pt x="512763" y="874674"/>
                  </a:lnTo>
                  <a:lnTo>
                    <a:pt x="0" y="8746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57150"/>
              <a:ext cx="512763" cy="81752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299"/>
                </a:lnSpc>
              </a:pPr>
              <a:r>
                <a:rPr lang="en-US" sz="329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4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2585055" y="8615065"/>
            <a:ext cx="3205757" cy="558343"/>
            <a:chOff x="0" y="0"/>
            <a:chExt cx="4274343" cy="744457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4274343" cy="744457"/>
            </a:xfrm>
            <a:custGeom>
              <a:avLst/>
              <a:gdLst/>
              <a:ahLst/>
              <a:cxnLst/>
              <a:rect l="l" t="t" r="r" b="b"/>
              <a:pathLst>
                <a:path w="4274343" h="744457">
                  <a:moveTo>
                    <a:pt x="0" y="0"/>
                  </a:moveTo>
                  <a:lnTo>
                    <a:pt x="4274343" y="0"/>
                  </a:lnTo>
                  <a:lnTo>
                    <a:pt x="4274343" y="744457"/>
                  </a:lnTo>
                  <a:lnTo>
                    <a:pt x="0" y="7444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19050"/>
              <a:ext cx="4274343" cy="76350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499"/>
                </a:lnSpc>
              </a:pPr>
              <a:r>
                <a:rPr lang="en-US" sz="2799" b="1">
                  <a:solidFill>
                    <a:srgbClr val="3C39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Forum Shutdown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1118354" y="9101435"/>
            <a:ext cx="5891956" cy="437746"/>
            <a:chOff x="0" y="0"/>
            <a:chExt cx="7855942" cy="583661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7855941" cy="583661"/>
            </a:xfrm>
            <a:custGeom>
              <a:avLst/>
              <a:gdLst/>
              <a:ahLst/>
              <a:cxnLst/>
              <a:rect l="l" t="t" r="r" b="b"/>
              <a:pathLst>
                <a:path w="7855941" h="583661">
                  <a:moveTo>
                    <a:pt x="0" y="0"/>
                  </a:moveTo>
                  <a:lnTo>
                    <a:pt x="7855941" y="0"/>
                  </a:lnTo>
                  <a:lnTo>
                    <a:pt x="7855941" y="583661"/>
                  </a:lnTo>
                  <a:lnTo>
                    <a:pt x="0" y="5836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95250"/>
              <a:ext cx="7855942" cy="67891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665"/>
                </a:lnSpc>
              </a:pPr>
              <a:r>
                <a:rPr lang="en-US" sz="229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Replaced by FBI seizure banner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992163" y="493531"/>
            <a:ext cx="16146511" cy="3355661"/>
            <a:chOff x="0" y="0"/>
            <a:chExt cx="3552276" cy="738255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3552276" cy="738255"/>
            </a:xfrm>
            <a:custGeom>
              <a:avLst/>
              <a:gdLst/>
              <a:ahLst/>
              <a:cxnLst/>
              <a:rect l="l" t="t" r="r" b="b"/>
              <a:pathLst>
                <a:path w="3552276" h="738255">
                  <a:moveTo>
                    <a:pt x="0" y="0"/>
                  </a:moveTo>
                  <a:lnTo>
                    <a:pt x="3552276" y="0"/>
                  </a:lnTo>
                  <a:lnTo>
                    <a:pt x="3552276" y="738255"/>
                  </a:lnTo>
                  <a:lnTo>
                    <a:pt x="0" y="738255"/>
                  </a:lnTo>
                  <a:close/>
                </a:path>
              </a:pathLst>
            </a:custGeom>
            <a:blipFill>
              <a:blip r:embed="rId3"/>
              <a:stretch>
                <a:fillRect t="-33608" b="-4465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7" y="2134492"/>
            <a:ext cx="9090570" cy="1117060"/>
            <a:chOff x="0" y="0"/>
            <a:chExt cx="12120760" cy="14894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120760" cy="1489414"/>
            </a:xfrm>
            <a:custGeom>
              <a:avLst/>
              <a:gdLst/>
              <a:ahLst/>
              <a:cxnLst/>
              <a:rect l="l" t="t" r="r" b="b"/>
              <a:pathLst>
                <a:path w="12120760" h="1489414">
                  <a:moveTo>
                    <a:pt x="0" y="0"/>
                  </a:moveTo>
                  <a:lnTo>
                    <a:pt x="12120760" y="0"/>
                  </a:lnTo>
                  <a:lnTo>
                    <a:pt x="12120760" y="1489414"/>
                  </a:lnTo>
                  <a:lnTo>
                    <a:pt x="0" y="1489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2120760" cy="151798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Arrests &amp; Forensic Analysis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750493" y="5336530"/>
            <a:ext cx="3544044" cy="593357"/>
            <a:chOff x="0" y="0"/>
            <a:chExt cx="4725392" cy="79114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725392" cy="791142"/>
            </a:xfrm>
            <a:custGeom>
              <a:avLst/>
              <a:gdLst/>
              <a:ahLst/>
              <a:cxnLst/>
              <a:rect l="l" t="t" r="r" b="b"/>
              <a:pathLst>
                <a:path w="4725392" h="791142">
                  <a:moveTo>
                    <a:pt x="0" y="0"/>
                  </a:moveTo>
                  <a:lnTo>
                    <a:pt x="4725392" y="0"/>
                  </a:lnTo>
                  <a:lnTo>
                    <a:pt x="4725392" y="791142"/>
                  </a:lnTo>
                  <a:lnTo>
                    <a:pt x="0" y="7911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4725392" cy="81971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687"/>
                </a:lnSpc>
              </a:pPr>
              <a:r>
                <a:rPr lang="en-US" sz="2949" b="1">
                  <a:solidFill>
                    <a:srgbClr val="3C39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Suspects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2238" y="5949554"/>
            <a:ext cx="5302300" cy="455022"/>
            <a:chOff x="0" y="0"/>
            <a:chExt cx="7069733" cy="60669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069734" cy="606696"/>
            </a:xfrm>
            <a:custGeom>
              <a:avLst/>
              <a:gdLst/>
              <a:ahLst/>
              <a:cxnLst/>
              <a:rect l="l" t="t" r="r" b="b"/>
              <a:pathLst>
                <a:path w="7069734" h="606696">
                  <a:moveTo>
                    <a:pt x="0" y="0"/>
                  </a:moveTo>
                  <a:lnTo>
                    <a:pt x="7069734" y="0"/>
                  </a:lnTo>
                  <a:lnTo>
                    <a:pt x="7069734" y="606696"/>
                  </a:lnTo>
                  <a:lnTo>
                    <a:pt x="0" y="6066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04775"/>
              <a:ext cx="7069733" cy="7114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888"/>
                </a:lnSpc>
              </a:pPr>
              <a:r>
                <a:rPr lang="en-US" sz="23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28 arrested, 70+ identified</a:t>
              </a:r>
            </a:p>
          </p:txBody>
        </p:sp>
      </p:grpSp>
      <p:sp>
        <p:nvSpPr>
          <p:cNvPr id="15" name="Freeform 15" descr="preencoded.png"/>
          <p:cNvSpPr/>
          <p:nvPr/>
        </p:nvSpPr>
        <p:spPr>
          <a:xfrm>
            <a:off x="6861572" y="3587502"/>
            <a:ext cx="4564856" cy="4564856"/>
          </a:xfrm>
          <a:custGeom>
            <a:avLst/>
            <a:gdLst/>
            <a:ahLst/>
            <a:cxnLst/>
            <a:rect l="l" t="t" r="r" b="b"/>
            <a:pathLst>
              <a:path w="4564856" h="4564856">
                <a:moveTo>
                  <a:pt x="0" y="0"/>
                </a:moveTo>
                <a:lnTo>
                  <a:pt x="4564857" y="0"/>
                </a:lnTo>
                <a:lnTo>
                  <a:pt x="4564857" y="4564857"/>
                </a:lnTo>
                <a:lnTo>
                  <a:pt x="0" y="45648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6588026" y="5510807"/>
            <a:ext cx="718245" cy="718245"/>
            <a:chOff x="0" y="0"/>
            <a:chExt cx="957660" cy="957660"/>
          </a:xfrm>
        </p:grpSpPr>
        <p:sp>
          <p:nvSpPr>
            <p:cNvPr id="17" name="Freeform 17"/>
            <p:cNvSpPr/>
            <p:nvPr/>
          </p:nvSpPr>
          <p:spPr>
            <a:xfrm>
              <a:off x="6350" y="6350"/>
              <a:ext cx="944880" cy="944880"/>
            </a:xfrm>
            <a:custGeom>
              <a:avLst/>
              <a:gdLst/>
              <a:ahLst/>
              <a:cxnLst/>
              <a:rect l="l" t="t" r="r" b="b"/>
              <a:pathLst>
                <a:path w="944880" h="944880">
                  <a:moveTo>
                    <a:pt x="0" y="472440"/>
                  </a:moveTo>
                  <a:cubicBezTo>
                    <a:pt x="0" y="211582"/>
                    <a:pt x="211582" y="0"/>
                    <a:pt x="472440" y="0"/>
                  </a:cubicBezTo>
                  <a:cubicBezTo>
                    <a:pt x="733298" y="0"/>
                    <a:pt x="944880" y="211582"/>
                    <a:pt x="944880" y="472440"/>
                  </a:cubicBezTo>
                  <a:cubicBezTo>
                    <a:pt x="944880" y="733298"/>
                    <a:pt x="733298" y="944880"/>
                    <a:pt x="472440" y="944880"/>
                  </a:cubicBezTo>
                  <a:cubicBezTo>
                    <a:pt x="211582" y="944880"/>
                    <a:pt x="0" y="733425"/>
                    <a:pt x="0" y="472440"/>
                  </a:cubicBezTo>
                  <a:close/>
                </a:path>
              </a:pathLst>
            </a:custGeom>
            <a:solidFill>
              <a:srgbClr val="E1E1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0"/>
              <a:ext cx="957580" cy="957707"/>
            </a:xfrm>
            <a:custGeom>
              <a:avLst/>
              <a:gdLst/>
              <a:ahLst/>
              <a:cxnLst/>
              <a:rect l="l" t="t" r="r" b="b"/>
              <a:pathLst>
                <a:path w="957580" h="957707">
                  <a:moveTo>
                    <a:pt x="0" y="478790"/>
                  </a:moveTo>
                  <a:cubicBezTo>
                    <a:pt x="0" y="214376"/>
                    <a:pt x="214376" y="0"/>
                    <a:pt x="478790" y="0"/>
                  </a:cubicBezTo>
                  <a:cubicBezTo>
                    <a:pt x="479425" y="0"/>
                    <a:pt x="480060" y="127"/>
                    <a:pt x="480695" y="254"/>
                  </a:cubicBezTo>
                  <a:lnTo>
                    <a:pt x="478790" y="6350"/>
                  </a:lnTo>
                  <a:lnTo>
                    <a:pt x="478790" y="0"/>
                  </a:lnTo>
                  <a:lnTo>
                    <a:pt x="478790" y="6350"/>
                  </a:lnTo>
                  <a:lnTo>
                    <a:pt x="478790" y="0"/>
                  </a:lnTo>
                  <a:cubicBezTo>
                    <a:pt x="743204" y="0"/>
                    <a:pt x="957580" y="214376"/>
                    <a:pt x="957580" y="478790"/>
                  </a:cubicBezTo>
                  <a:cubicBezTo>
                    <a:pt x="957580" y="480441"/>
                    <a:pt x="956945" y="482092"/>
                    <a:pt x="955675" y="483235"/>
                  </a:cubicBezTo>
                  <a:lnTo>
                    <a:pt x="951230" y="478790"/>
                  </a:lnTo>
                  <a:lnTo>
                    <a:pt x="957580" y="478790"/>
                  </a:lnTo>
                  <a:cubicBezTo>
                    <a:pt x="957580" y="743204"/>
                    <a:pt x="743204" y="957580"/>
                    <a:pt x="478790" y="957580"/>
                  </a:cubicBezTo>
                  <a:lnTo>
                    <a:pt x="478790" y="951230"/>
                  </a:lnTo>
                  <a:lnTo>
                    <a:pt x="478790" y="944880"/>
                  </a:lnTo>
                  <a:lnTo>
                    <a:pt x="478790" y="951230"/>
                  </a:lnTo>
                  <a:lnTo>
                    <a:pt x="478790" y="957580"/>
                  </a:lnTo>
                  <a:cubicBezTo>
                    <a:pt x="214376" y="957707"/>
                    <a:pt x="0" y="743331"/>
                    <a:pt x="0" y="478790"/>
                  </a:cubicBezTo>
                  <a:cubicBezTo>
                    <a:pt x="0" y="475234"/>
                    <a:pt x="2794" y="472440"/>
                    <a:pt x="6350" y="472440"/>
                  </a:cubicBezTo>
                  <a:lnTo>
                    <a:pt x="6350" y="478790"/>
                  </a:lnTo>
                  <a:lnTo>
                    <a:pt x="0" y="478790"/>
                  </a:lnTo>
                  <a:moveTo>
                    <a:pt x="12700" y="478790"/>
                  </a:moveTo>
                  <a:cubicBezTo>
                    <a:pt x="12700" y="482346"/>
                    <a:pt x="9906" y="485140"/>
                    <a:pt x="6350" y="485140"/>
                  </a:cubicBezTo>
                  <a:lnTo>
                    <a:pt x="6350" y="478790"/>
                  </a:lnTo>
                  <a:lnTo>
                    <a:pt x="12700" y="478790"/>
                  </a:lnTo>
                  <a:cubicBezTo>
                    <a:pt x="12700" y="736219"/>
                    <a:pt x="221361" y="944880"/>
                    <a:pt x="478790" y="944880"/>
                  </a:cubicBezTo>
                  <a:cubicBezTo>
                    <a:pt x="482346" y="944880"/>
                    <a:pt x="485140" y="947674"/>
                    <a:pt x="485140" y="951230"/>
                  </a:cubicBezTo>
                  <a:cubicBezTo>
                    <a:pt x="485140" y="954786"/>
                    <a:pt x="482346" y="957580"/>
                    <a:pt x="478790" y="957580"/>
                  </a:cubicBezTo>
                  <a:cubicBezTo>
                    <a:pt x="475234" y="957580"/>
                    <a:pt x="472440" y="954786"/>
                    <a:pt x="472440" y="951230"/>
                  </a:cubicBezTo>
                  <a:cubicBezTo>
                    <a:pt x="472440" y="947674"/>
                    <a:pt x="475234" y="944880"/>
                    <a:pt x="478790" y="944880"/>
                  </a:cubicBezTo>
                  <a:cubicBezTo>
                    <a:pt x="736219" y="944880"/>
                    <a:pt x="944880" y="736219"/>
                    <a:pt x="944880" y="478790"/>
                  </a:cubicBezTo>
                  <a:cubicBezTo>
                    <a:pt x="944880" y="477139"/>
                    <a:pt x="945515" y="475488"/>
                    <a:pt x="946785" y="474345"/>
                  </a:cubicBezTo>
                  <a:lnTo>
                    <a:pt x="951230" y="478790"/>
                  </a:lnTo>
                  <a:lnTo>
                    <a:pt x="944880" y="478790"/>
                  </a:lnTo>
                  <a:cubicBezTo>
                    <a:pt x="945007" y="221361"/>
                    <a:pt x="736219" y="12700"/>
                    <a:pt x="478790" y="12700"/>
                  </a:cubicBezTo>
                  <a:cubicBezTo>
                    <a:pt x="478155" y="12700"/>
                    <a:pt x="477520" y="12573"/>
                    <a:pt x="476885" y="12446"/>
                  </a:cubicBezTo>
                  <a:lnTo>
                    <a:pt x="478790" y="6350"/>
                  </a:lnTo>
                  <a:lnTo>
                    <a:pt x="478790" y="12700"/>
                  </a:lnTo>
                  <a:cubicBezTo>
                    <a:pt x="221361" y="12700"/>
                    <a:pt x="12700" y="221361"/>
                    <a:pt x="12700" y="478790"/>
                  </a:cubicBezTo>
                  <a:close/>
                </a:path>
              </a:pathLst>
            </a:custGeom>
            <a:solidFill>
              <a:srgbClr val="C7C7D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787604" y="5670500"/>
            <a:ext cx="318939" cy="538810"/>
            <a:chOff x="0" y="0"/>
            <a:chExt cx="425252" cy="71841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25252" cy="718414"/>
            </a:xfrm>
            <a:custGeom>
              <a:avLst/>
              <a:gdLst/>
              <a:ahLst/>
              <a:cxnLst/>
              <a:rect l="l" t="t" r="r" b="b"/>
              <a:pathLst>
                <a:path w="425252" h="718414">
                  <a:moveTo>
                    <a:pt x="0" y="0"/>
                  </a:moveTo>
                  <a:lnTo>
                    <a:pt x="425252" y="0"/>
                  </a:lnTo>
                  <a:lnTo>
                    <a:pt x="425252" y="718414"/>
                  </a:lnTo>
                  <a:lnTo>
                    <a:pt x="0" y="718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14300"/>
              <a:ext cx="425252" cy="83271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320"/>
                </a:lnSpc>
              </a:pPr>
              <a:r>
                <a:rPr lang="en-US" sz="270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851630" y="3812679"/>
            <a:ext cx="3896022" cy="593357"/>
            <a:chOff x="0" y="0"/>
            <a:chExt cx="5194696" cy="79114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194696" cy="791142"/>
            </a:xfrm>
            <a:custGeom>
              <a:avLst/>
              <a:gdLst/>
              <a:ahLst/>
              <a:cxnLst/>
              <a:rect l="l" t="t" r="r" b="b"/>
              <a:pathLst>
                <a:path w="5194696" h="791142">
                  <a:moveTo>
                    <a:pt x="0" y="0"/>
                  </a:moveTo>
                  <a:lnTo>
                    <a:pt x="5194696" y="0"/>
                  </a:lnTo>
                  <a:lnTo>
                    <a:pt x="5194696" y="791142"/>
                  </a:lnTo>
                  <a:lnTo>
                    <a:pt x="0" y="7911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5194696" cy="81971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87"/>
                </a:lnSpc>
              </a:pPr>
              <a:r>
                <a:rPr lang="en-US" sz="2949" b="1">
                  <a:solidFill>
                    <a:srgbClr val="3C39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Recovered Evidence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851630" y="4425702"/>
            <a:ext cx="5444132" cy="455022"/>
            <a:chOff x="0" y="0"/>
            <a:chExt cx="7258843" cy="60669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258843" cy="606696"/>
            </a:xfrm>
            <a:custGeom>
              <a:avLst/>
              <a:gdLst/>
              <a:ahLst/>
              <a:cxnLst/>
              <a:rect l="l" t="t" r="r" b="b"/>
              <a:pathLst>
                <a:path w="7258843" h="606696">
                  <a:moveTo>
                    <a:pt x="0" y="0"/>
                  </a:moveTo>
                  <a:lnTo>
                    <a:pt x="7258843" y="0"/>
                  </a:lnTo>
                  <a:lnTo>
                    <a:pt x="7258843" y="606696"/>
                  </a:lnTo>
                  <a:lnTo>
                    <a:pt x="0" y="6066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04775"/>
              <a:ext cx="7258843" cy="7114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60064" lvl="1" indent="-180032" algn="l">
                <a:lnSpc>
                  <a:spcPts val="3888"/>
                </a:lnSpc>
                <a:buFont typeface="Arial"/>
                <a:buChar char="•"/>
              </a:pPr>
              <a:r>
                <a:rPr lang="en-US" sz="23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Obfuscated malware source code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851630" y="4978450"/>
            <a:ext cx="5444132" cy="455022"/>
            <a:chOff x="0" y="0"/>
            <a:chExt cx="7258843" cy="60669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258843" cy="606696"/>
            </a:xfrm>
            <a:custGeom>
              <a:avLst/>
              <a:gdLst/>
              <a:ahLst/>
              <a:cxnLst/>
              <a:rect l="l" t="t" r="r" b="b"/>
              <a:pathLst>
                <a:path w="7258843" h="606696">
                  <a:moveTo>
                    <a:pt x="0" y="0"/>
                  </a:moveTo>
                  <a:lnTo>
                    <a:pt x="7258843" y="0"/>
                  </a:lnTo>
                  <a:lnTo>
                    <a:pt x="7258843" y="606696"/>
                  </a:lnTo>
                  <a:lnTo>
                    <a:pt x="0" y="6066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04775"/>
              <a:ext cx="7258843" cy="7114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60064" lvl="1" indent="-180032" algn="l">
                <a:lnSpc>
                  <a:spcPts val="3888"/>
                </a:lnSpc>
                <a:buFont typeface="Arial"/>
                <a:buChar char="•"/>
              </a:pPr>
              <a:r>
                <a:rPr lang="en-US" sz="23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Encrypted customer logs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851630" y="5531197"/>
            <a:ext cx="5444132" cy="455022"/>
            <a:chOff x="0" y="0"/>
            <a:chExt cx="7258843" cy="60669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258843" cy="606696"/>
            </a:xfrm>
            <a:custGeom>
              <a:avLst/>
              <a:gdLst/>
              <a:ahLst/>
              <a:cxnLst/>
              <a:rect l="l" t="t" r="r" b="b"/>
              <a:pathLst>
                <a:path w="7258843" h="606696">
                  <a:moveTo>
                    <a:pt x="0" y="0"/>
                  </a:moveTo>
                  <a:lnTo>
                    <a:pt x="7258843" y="0"/>
                  </a:lnTo>
                  <a:lnTo>
                    <a:pt x="7258843" y="606696"/>
                  </a:lnTo>
                  <a:lnTo>
                    <a:pt x="0" y="6066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04775"/>
              <a:ext cx="7258843" cy="7114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60064" lvl="1" indent="-180032" algn="l">
                <a:lnSpc>
                  <a:spcPts val="3888"/>
                </a:lnSpc>
                <a:buFont typeface="Arial"/>
                <a:buChar char="•"/>
              </a:pPr>
              <a:r>
                <a:rPr lang="en-US" sz="23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Chats and transaction records</a:t>
              </a:r>
            </a:p>
          </p:txBody>
        </p:sp>
      </p:grpSp>
      <p:sp>
        <p:nvSpPr>
          <p:cNvPr id="34" name="Freeform 34" descr="preencoded.png"/>
          <p:cNvSpPr/>
          <p:nvPr/>
        </p:nvSpPr>
        <p:spPr>
          <a:xfrm>
            <a:off x="6861572" y="3587502"/>
            <a:ext cx="4564856" cy="4564856"/>
          </a:xfrm>
          <a:custGeom>
            <a:avLst/>
            <a:gdLst/>
            <a:ahLst/>
            <a:cxnLst/>
            <a:rect l="l" t="t" r="r" b="b"/>
            <a:pathLst>
              <a:path w="4564856" h="4564856">
                <a:moveTo>
                  <a:pt x="0" y="0"/>
                </a:moveTo>
                <a:lnTo>
                  <a:pt x="4564857" y="0"/>
                </a:lnTo>
                <a:lnTo>
                  <a:pt x="4564857" y="4564857"/>
                </a:lnTo>
                <a:lnTo>
                  <a:pt x="0" y="45648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/>
          <p:cNvGrpSpPr/>
          <p:nvPr/>
        </p:nvGrpSpPr>
        <p:grpSpPr>
          <a:xfrm>
            <a:off x="9883229" y="3608189"/>
            <a:ext cx="718245" cy="718245"/>
            <a:chOff x="0" y="0"/>
            <a:chExt cx="957660" cy="957660"/>
          </a:xfrm>
        </p:grpSpPr>
        <p:sp>
          <p:nvSpPr>
            <p:cNvPr id="36" name="Freeform 36"/>
            <p:cNvSpPr/>
            <p:nvPr/>
          </p:nvSpPr>
          <p:spPr>
            <a:xfrm>
              <a:off x="6350" y="6350"/>
              <a:ext cx="944880" cy="944880"/>
            </a:xfrm>
            <a:custGeom>
              <a:avLst/>
              <a:gdLst/>
              <a:ahLst/>
              <a:cxnLst/>
              <a:rect l="l" t="t" r="r" b="b"/>
              <a:pathLst>
                <a:path w="944880" h="944880">
                  <a:moveTo>
                    <a:pt x="0" y="472440"/>
                  </a:moveTo>
                  <a:cubicBezTo>
                    <a:pt x="0" y="211582"/>
                    <a:pt x="211582" y="0"/>
                    <a:pt x="472440" y="0"/>
                  </a:cubicBezTo>
                  <a:cubicBezTo>
                    <a:pt x="733298" y="0"/>
                    <a:pt x="944880" y="211582"/>
                    <a:pt x="944880" y="472440"/>
                  </a:cubicBezTo>
                  <a:cubicBezTo>
                    <a:pt x="944880" y="733298"/>
                    <a:pt x="733298" y="944880"/>
                    <a:pt x="472440" y="944880"/>
                  </a:cubicBezTo>
                  <a:cubicBezTo>
                    <a:pt x="211582" y="944880"/>
                    <a:pt x="0" y="733425"/>
                    <a:pt x="0" y="472440"/>
                  </a:cubicBezTo>
                  <a:close/>
                </a:path>
              </a:pathLst>
            </a:custGeom>
            <a:solidFill>
              <a:srgbClr val="E1E1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0" y="0"/>
              <a:ext cx="957580" cy="957707"/>
            </a:xfrm>
            <a:custGeom>
              <a:avLst/>
              <a:gdLst/>
              <a:ahLst/>
              <a:cxnLst/>
              <a:rect l="l" t="t" r="r" b="b"/>
              <a:pathLst>
                <a:path w="957580" h="957707">
                  <a:moveTo>
                    <a:pt x="0" y="478790"/>
                  </a:moveTo>
                  <a:cubicBezTo>
                    <a:pt x="0" y="214376"/>
                    <a:pt x="214376" y="0"/>
                    <a:pt x="478790" y="0"/>
                  </a:cubicBezTo>
                  <a:cubicBezTo>
                    <a:pt x="479425" y="0"/>
                    <a:pt x="480060" y="127"/>
                    <a:pt x="480695" y="254"/>
                  </a:cubicBezTo>
                  <a:lnTo>
                    <a:pt x="478790" y="6350"/>
                  </a:lnTo>
                  <a:lnTo>
                    <a:pt x="478790" y="0"/>
                  </a:lnTo>
                  <a:lnTo>
                    <a:pt x="478790" y="6350"/>
                  </a:lnTo>
                  <a:lnTo>
                    <a:pt x="478790" y="0"/>
                  </a:lnTo>
                  <a:cubicBezTo>
                    <a:pt x="743204" y="0"/>
                    <a:pt x="957580" y="214376"/>
                    <a:pt x="957580" y="478790"/>
                  </a:cubicBezTo>
                  <a:cubicBezTo>
                    <a:pt x="957580" y="480441"/>
                    <a:pt x="956945" y="482092"/>
                    <a:pt x="955675" y="483235"/>
                  </a:cubicBezTo>
                  <a:lnTo>
                    <a:pt x="951230" y="478790"/>
                  </a:lnTo>
                  <a:lnTo>
                    <a:pt x="957580" y="478790"/>
                  </a:lnTo>
                  <a:cubicBezTo>
                    <a:pt x="957580" y="743204"/>
                    <a:pt x="743204" y="957580"/>
                    <a:pt x="478790" y="957580"/>
                  </a:cubicBezTo>
                  <a:lnTo>
                    <a:pt x="478790" y="951230"/>
                  </a:lnTo>
                  <a:lnTo>
                    <a:pt x="478790" y="944880"/>
                  </a:lnTo>
                  <a:lnTo>
                    <a:pt x="478790" y="951230"/>
                  </a:lnTo>
                  <a:lnTo>
                    <a:pt x="478790" y="957580"/>
                  </a:lnTo>
                  <a:cubicBezTo>
                    <a:pt x="214376" y="957707"/>
                    <a:pt x="0" y="743331"/>
                    <a:pt x="0" y="478790"/>
                  </a:cubicBezTo>
                  <a:cubicBezTo>
                    <a:pt x="0" y="475234"/>
                    <a:pt x="2794" y="472440"/>
                    <a:pt x="6350" y="472440"/>
                  </a:cubicBezTo>
                  <a:lnTo>
                    <a:pt x="6350" y="478790"/>
                  </a:lnTo>
                  <a:lnTo>
                    <a:pt x="0" y="478790"/>
                  </a:lnTo>
                  <a:moveTo>
                    <a:pt x="12700" y="478790"/>
                  </a:moveTo>
                  <a:cubicBezTo>
                    <a:pt x="12700" y="482346"/>
                    <a:pt x="9906" y="485140"/>
                    <a:pt x="6350" y="485140"/>
                  </a:cubicBezTo>
                  <a:lnTo>
                    <a:pt x="6350" y="478790"/>
                  </a:lnTo>
                  <a:lnTo>
                    <a:pt x="12700" y="478790"/>
                  </a:lnTo>
                  <a:cubicBezTo>
                    <a:pt x="12700" y="736219"/>
                    <a:pt x="221361" y="944880"/>
                    <a:pt x="478790" y="944880"/>
                  </a:cubicBezTo>
                  <a:cubicBezTo>
                    <a:pt x="482346" y="944880"/>
                    <a:pt x="485140" y="947674"/>
                    <a:pt x="485140" y="951230"/>
                  </a:cubicBezTo>
                  <a:cubicBezTo>
                    <a:pt x="485140" y="954786"/>
                    <a:pt x="482346" y="957580"/>
                    <a:pt x="478790" y="957580"/>
                  </a:cubicBezTo>
                  <a:cubicBezTo>
                    <a:pt x="475234" y="957580"/>
                    <a:pt x="472440" y="954786"/>
                    <a:pt x="472440" y="951230"/>
                  </a:cubicBezTo>
                  <a:cubicBezTo>
                    <a:pt x="472440" y="947674"/>
                    <a:pt x="475234" y="944880"/>
                    <a:pt x="478790" y="944880"/>
                  </a:cubicBezTo>
                  <a:cubicBezTo>
                    <a:pt x="736219" y="944880"/>
                    <a:pt x="944880" y="736219"/>
                    <a:pt x="944880" y="478790"/>
                  </a:cubicBezTo>
                  <a:cubicBezTo>
                    <a:pt x="944880" y="477139"/>
                    <a:pt x="945515" y="475488"/>
                    <a:pt x="946785" y="474345"/>
                  </a:cubicBezTo>
                  <a:lnTo>
                    <a:pt x="951230" y="478790"/>
                  </a:lnTo>
                  <a:lnTo>
                    <a:pt x="944880" y="478790"/>
                  </a:lnTo>
                  <a:cubicBezTo>
                    <a:pt x="945007" y="221361"/>
                    <a:pt x="736219" y="12700"/>
                    <a:pt x="478790" y="12700"/>
                  </a:cubicBezTo>
                  <a:cubicBezTo>
                    <a:pt x="478155" y="12700"/>
                    <a:pt x="477520" y="12573"/>
                    <a:pt x="476885" y="12446"/>
                  </a:cubicBezTo>
                  <a:lnTo>
                    <a:pt x="478790" y="6350"/>
                  </a:lnTo>
                  <a:lnTo>
                    <a:pt x="478790" y="12700"/>
                  </a:lnTo>
                  <a:cubicBezTo>
                    <a:pt x="221361" y="12700"/>
                    <a:pt x="12700" y="221361"/>
                    <a:pt x="12700" y="478790"/>
                  </a:cubicBezTo>
                  <a:close/>
                </a:path>
              </a:pathLst>
            </a:custGeom>
            <a:solidFill>
              <a:srgbClr val="C7C7D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082807" y="3767881"/>
            <a:ext cx="318939" cy="538810"/>
            <a:chOff x="0" y="0"/>
            <a:chExt cx="425252" cy="71841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25252" cy="718414"/>
            </a:xfrm>
            <a:custGeom>
              <a:avLst/>
              <a:gdLst/>
              <a:ahLst/>
              <a:cxnLst/>
              <a:rect l="l" t="t" r="r" b="b"/>
              <a:pathLst>
                <a:path w="425252" h="718414">
                  <a:moveTo>
                    <a:pt x="0" y="0"/>
                  </a:moveTo>
                  <a:lnTo>
                    <a:pt x="425252" y="0"/>
                  </a:lnTo>
                  <a:lnTo>
                    <a:pt x="425252" y="718414"/>
                  </a:lnTo>
                  <a:lnTo>
                    <a:pt x="0" y="718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114300"/>
              <a:ext cx="425252" cy="83271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320"/>
                </a:lnSpc>
              </a:pPr>
              <a:r>
                <a:rPr lang="en-US" sz="270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2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665288" y="6819921"/>
            <a:ext cx="3544044" cy="593357"/>
            <a:chOff x="0" y="0"/>
            <a:chExt cx="4725392" cy="79114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725392" cy="791142"/>
            </a:xfrm>
            <a:custGeom>
              <a:avLst/>
              <a:gdLst/>
              <a:ahLst/>
              <a:cxnLst/>
              <a:rect l="l" t="t" r="r" b="b"/>
              <a:pathLst>
                <a:path w="4725392" h="791142">
                  <a:moveTo>
                    <a:pt x="0" y="0"/>
                  </a:moveTo>
                  <a:lnTo>
                    <a:pt x="4725392" y="0"/>
                  </a:lnTo>
                  <a:lnTo>
                    <a:pt x="4725392" y="791142"/>
                  </a:lnTo>
                  <a:lnTo>
                    <a:pt x="0" y="7911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28575"/>
              <a:ext cx="4725392" cy="81971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87"/>
                </a:lnSpc>
              </a:pPr>
              <a:r>
                <a:rPr lang="en-US" sz="2949" b="1">
                  <a:solidFill>
                    <a:srgbClr val="3C39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Popular Toolkits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851630" y="7473404"/>
            <a:ext cx="5444132" cy="455022"/>
            <a:chOff x="0" y="0"/>
            <a:chExt cx="7258843" cy="60669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258843" cy="606696"/>
            </a:xfrm>
            <a:custGeom>
              <a:avLst/>
              <a:gdLst/>
              <a:ahLst/>
              <a:cxnLst/>
              <a:rect l="l" t="t" r="r" b="b"/>
              <a:pathLst>
                <a:path w="7258843" h="606696">
                  <a:moveTo>
                    <a:pt x="0" y="0"/>
                  </a:moveTo>
                  <a:lnTo>
                    <a:pt x="7258843" y="0"/>
                  </a:lnTo>
                  <a:lnTo>
                    <a:pt x="7258843" y="606696"/>
                  </a:lnTo>
                  <a:lnTo>
                    <a:pt x="0" y="6066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04775"/>
              <a:ext cx="7258843" cy="7114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88"/>
                </a:lnSpc>
              </a:pPr>
              <a:r>
                <a:rPr lang="en-US" sz="23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NJRAT, Dendroid, Zeus variants</a:t>
              </a:r>
            </a:p>
          </p:txBody>
        </p:sp>
      </p:grpSp>
      <p:sp>
        <p:nvSpPr>
          <p:cNvPr id="47" name="Freeform 47" descr="preencoded.png"/>
          <p:cNvSpPr/>
          <p:nvPr/>
        </p:nvSpPr>
        <p:spPr>
          <a:xfrm>
            <a:off x="6861572" y="3587502"/>
            <a:ext cx="4564856" cy="4564856"/>
          </a:xfrm>
          <a:custGeom>
            <a:avLst/>
            <a:gdLst/>
            <a:ahLst/>
            <a:cxnLst/>
            <a:rect l="l" t="t" r="r" b="b"/>
            <a:pathLst>
              <a:path w="4564856" h="4564856">
                <a:moveTo>
                  <a:pt x="0" y="0"/>
                </a:moveTo>
                <a:lnTo>
                  <a:pt x="4564857" y="0"/>
                </a:lnTo>
                <a:lnTo>
                  <a:pt x="4564857" y="4564857"/>
                </a:lnTo>
                <a:lnTo>
                  <a:pt x="0" y="45648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8" name="Group 48"/>
          <p:cNvGrpSpPr/>
          <p:nvPr/>
        </p:nvGrpSpPr>
        <p:grpSpPr>
          <a:xfrm>
            <a:off x="9883229" y="7413277"/>
            <a:ext cx="718245" cy="718245"/>
            <a:chOff x="0" y="0"/>
            <a:chExt cx="957660" cy="957660"/>
          </a:xfrm>
        </p:grpSpPr>
        <p:sp>
          <p:nvSpPr>
            <p:cNvPr id="49" name="Freeform 49"/>
            <p:cNvSpPr/>
            <p:nvPr/>
          </p:nvSpPr>
          <p:spPr>
            <a:xfrm>
              <a:off x="6350" y="6350"/>
              <a:ext cx="944880" cy="944880"/>
            </a:xfrm>
            <a:custGeom>
              <a:avLst/>
              <a:gdLst/>
              <a:ahLst/>
              <a:cxnLst/>
              <a:rect l="l" t="t" r="r" b="b"/>
              <a:pathLst>
                <a:path w="944880" h="944880">
                  <a:moveTo>
                    <a:pt x="0" y="472440"/>
                  </a:moveTo>
                  <a:cubicBezTo>
                    <a:pt x="0" y="211582"/>
                    <a:pt x="211582" y="0"/>
                    <a:pt x="472440" y="0"/>
                  </a:cubicBezTo>
                  <a:cubicBezTo>
                    <a:pt x="733298" y="0"/>
                    <a:pt x="944880" y="211582"/>
                    <a:pt x="944880" y="472440"/>
                  </a:cubicBezTo>
                  <a:cubicBezTo>
                    <a:pt x="944880" y="733298"/>
                    <a:pt x="733298" y="944880"/>
                    <a:pt x="472440" y="944880"/>
                  </a:cubicBezTo>
                  <a:cubicBezTo>
                    <a:pt x="211582" y="944880"/>
                    <a:pt x="0" y="733425"/>
                    <a:pt x="0" y="472440"/>
                  </a:cubicBezTo>
                  <a:close/>
                </a:path>
              </a:pathLst>
            </a:custGeom>
            <a:solidFill>
              <a:srgbClr val="E1E1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0" y="0"/>
              <a:ext cx="957580" cy="957707"/>
            </a:xfrm>
            <a:custGeom>
              <a:avLst/>
              <a:gdLst/>
              <a:ahLst/>
              <a:cxnLst/>
              <a:rect l="l" t="t" r="r" b="b"/>
              <a:pathLst>
                <a:path w="957580" h="957707">
                  <a:moveTo>
                    <a:pt x="0" y="478790"/>
                  </a:moveTo>
                  <a:cubicBezTo>
                    <a:pt x="0" y="214376"/>
                    <a:pt x="214376" y="0"/>
                    <a:pt x="478790" y="0"/>
                  </a:cubicBezTo>
                  <a:cubicBezTo>
                    <a:pt x="479425" y="0"/>
                    <a:pt x="480060" y="127"/>
                    <a:pt x="480695" y="254"/>
                  </a:cubicBezTo>
                  <a:lnTo>
                    <a:pt x="478790" y="6350"/>
                  </a:lnTo>
                  <a:lnTo>
                    <a:pt x="478790" y="0"/>
                  </a:lnTo>
                  <a:lnTo>
                    <a:pt x="478790" y="6350"/>
                  </a:lnTo>
                  <a:lnTo>
                    <a:pt x="478790" y="0"/>
                  </a:lnTo>
                  <a:cubicBezTo>
                    <a:pt x="743204" y="0"/>
                    <a:pt x="957580" y="214376"/>
                    <a:pt x="957580" y="478790"/>
                  </a:cubicBezTo>
                  <a:cubicBezTo>
                    <a:pt x="957580" y="480441"/>
                    <a:pt x="956945" y="482092"/>
                    <a:pt x="955675" y="483235"/>
                  </a:cubicBezTo>
                  <a:lnTo>
                    <a:pt x="951230" y="478790"/>
                  </a:lnTo>
                  <a:lnTo>
                    <a:pt x="957580" y="478790"/>
                  </a:lnTo>
                  <a:cubicBezTo>
                    <a:pt x="957580" y="743204"/>
                    <a:pt x="743204" y="957580"/>
                    <a:pt x="478790" y="957580"/>
                  </a:cubicBezTo>
                  <a:lnTo>
                    <a:pt x="478790" y="951230"/>
                  </a:lnTo>
                  <a:lnTo>
                    <a:pt x="478790" y="944880"/>
                  </a:lnTo>
                  <a:lnTo>
                    <a:pt x="478790" y="951230"/>
                  </a:lnTo>
                  <a:lnTo>
                    <a:pt x="478790" y="957580"/>
                  </a:lnTo>
                  <a:cubicBezTo>
                    <a:pt x="214376" y="957707"/>
                    <a:pt x="0" y="743331"/>
                    <a:pt x="0" y="478790"/>
                  </a:cubicBezTo>
                  <a:cubicBezTo>
                    <a:pt x="0" y="475234"/>
                    <a:pt x="2794" y="472440"/>
                    <a:pt x="6350" y="472440"/>
                  </a:cubicBezTo>
                  <a:lnTo>
                    <a:pt x="6350" y="478790"/>
                  </a:lnTo>
                  <a:lnTo>
                    <a:pt x="0" y="478790"/>
                  </a:lnTo>
                  <a:moveTo>
                    <a:pt x="12700" y="478790"/>
                  </a:moveTo>
                  <a:cubicBezTo>
                    <a:pt x="12700" y="482346"/>
                    <a:pt x="9906" y="485140"/>
                    <a:pt x="6350" y="485140"/>
                  </a:cubicBezTo>
                  <a:lnTo>
                    <a:pt x="6350" y="478790"/>
                  </a:lnTo>
                  <a:lnTo>
                    <a:pt x="12700" y="478790"/>
                  </a:lnTo>
                  <a:cubicBezTo>
                    <a:pt x="12700" y="736219"/>
                    <a:pt x="221361" y="944880"/>
                    <a:pt x="478790" y="944880"/>
                  </a:cubicBezTo>
                  <a:cubicBezTo>
                    <a:pt x="482346" y="944880"/>
                    <a:pt x="485140" y="947674"/>
                    <a:pt x="485140" y="951230"/>
                  </a:cubicBezTo>
                  <a:cubicBezTo>
                    <a:pt x="485140" y="954786"/>
                    <a:pt x="482346" y="957580"/>
                    <a:pt x="478790" y="957580"/>
                  </a:cubicBezTo>
                  <a:cubicBezTo>
                    <a:pt x="475234" y="957580"/>
                    <a:pt x="472440" y="954786"/>
                    <a:pt x="472440" y="951230"/>
                  </a:cubicBezTo>
                  <a:cubicBezTo>
                    <a:pt x="472440" y="947674"/>
                    <a:pt x="475234" y="944880"/>
                    <a:pt x="478790" y="944880"/>
                  </a:cubicBezTo>
                  <a:cubicBezTo>
                    <a:pt x="736219" y="944880"/>
                    <a:pt x="944880" y="736219"/>
                    <a:pt x="944880" y="478790"/>
                  </a:cubicBezTo>
                  <a:cubicBezTo>
                    <a:pt x="944880" y="477139"/>
                    <a:pt x="945515" y="475488"/>
                    <a:pt x="946785" y="474345"/>
                  </a:cubicBezTo>
                  <a:lnTo>
                    <a:pt x="951230" y="478790"/>
                  </a:lnTo>
                  <a:lnTo>
                    <a:pt x="944880" y="478790"/>
                  </a:lnTo>
                  <a:cubicBezTo>
                    <a:pt x="945007" y="221361"/>
                    <a:pt x="736219" y="12700"/>
                    <a:pt x="478790" y="12700"/>
                  </a:cubicBezTo>
                  <a:cubicBezTo>
                    <a:pt x="478155" y="12700"/>
                    <a:pt x="477520" y="12573"/>
                    <a:pt x="476885" y="12446"/>
                  </a:cubicBezTo>
                  <a:lnTo>
                    <a:pt x="478790" y="6350"/>
                  </a:lnTo>
                  <a:lnTo>
                    <a:pt x="478790" y="12700"/>
                  </a:lnTo>
                  <a:cubicBezTo>
                    <a:pt x="221361" y="12700"/>
                    <a:pt x="12700" y="221361"/>
                    <a:pt x="12700" y="478790"/>
                  </a:cubicBezTo>
                  <a:close/>
                </a:path>
              </a:pathLst>
            </a:custGeom>
            <a:solidFill>
              <a:srgbClr val="C7C7D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0082807" y="7572970"/>
            <a:ext cx="318939" cy="538810"/>
            <a:chOff x="0" y="0"/>
            <a:chExt cx="425252" cy="71841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25252" cy="718414"/>
            </a:xfrm>
            <a:custGeom>
              <a:avLst/>
              <a:gdLst/>
              <a:ahLst/>
              <a:cxnLst/>
              <a:rect l="l" t="t" r="r" b="b"/>
              <a:pathLst>
                <a:path w="425252" h="718414">
                  <a:moveTo>
                    <a:pt x="0" y="0"/>
                  </a:moveTo>
                  <a:lnTo>
                    <a:pt x="425252" y="0"/>
                  </a:lnTo>
                  <a:lnTo>
                    <a:pt x="425252" y="718414"/>
                  </a:lnTo>
                  <a:lnTo>
                    <a:pt x="0" y="718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114300"/>
              <a:ext cx="425252" cy="83271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320"/>
                </a:lnSpc>
              </a:pPr>
              <a:r>
                <a:rPr lang="en-US" sz="270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850237" y="1817786"/>
            <a:ext cx="9445526" cy="1993360"/>
            <a:chOff x="0" y="0"/>
            <a:chExt cx="12594035" cy="26578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594035" cy="2657814"/>
            </a:xfrm>
            <a:custGeom>
              <a:avLst/>
              <a:gdLst/>
              <a:ahLst/>
              <a:cxnLst/>
              <a:rect l="l" t="t" r="r" b="b"/>
              <a:pathLst>
                <a:path w="12594035" h="2657814">
                  <a:moveTo>
                    <a:pt x="0" y="0"/>
                  </a:moveTo>
                  <a:lnTo>
                    <a:pt x="12594035" y="0"/>
                  </a:lnTo>
                  <a:lnTo>
                    <a:pt x="12594035" y="2657814"/>
                  </a:lnTo>
                  <a:lnTo>
                    <a:pt x="0" y="26578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2594035" cy="268638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Legal Outcomes &amp; Lessons Learned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845475" y="4010174"/>
            <a:ext cx="647402" cy="647402"/>
            <a:chOff x="0" y="0"/>
            <a:chExt cx="863203" cy="863203"/>
          </a:xfrm>
        </p:grpSpPr>
        <p:sp>
          <p:nvSpPr>
            <p:cNvPr id="10" name="Freeform 10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1E1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771632" y="4112270"/>
            <a:ext cx="3544044" cy="593357"/>
            <a:chOff x="0" y="0"/>
            <a:chExt cx="4725392" cy="79114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725392" cy="791142"/>
            </a:xfrm>
            <a:custGeom>
              <a:avLst/>
              <a:gdLst/>
              <a:ahLst/>
              <a:cxnLst/>
              <a:rect l="l" t="t" r="r" b="b"/>
              <a:pathLst>
                <a:path w="4725392" h="791142">
                  <a:moveTo>
                    <a:pt x="0" y="0"/>
                  </a:moveTo>
                  <a:lnTo>
                    <a:pt x="4725392" y="0"/>
                  </a:lnTo>
                  <a:lnTo>
                    <a:pt x="4725392" y="791142"/>
                  </a:lnTo>
                  <a:lnTo>
                    <a:pt x="0" y="7911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4725392" cy="81971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87"/>
                </a:lnSpc>
              </a:pPr>
              <a:r>
                <a:rPr lang="en-US" sz="2949" b="1">
                  <a:solidFill>
                    <a:srgbClr val="3C39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Forum Dismantled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771632" y="4725292"/>
            <a:ext cx="3624262" cy="940797"/>
            <a:chOff x="0" y="0"/>
            <a:chExt cx="4832350" cy="125439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32350" cy="1254396"/>
            </a:xfrm>
            <a:custGeom>
              <a:avLst/>
              <a:gdLst/>
              <a:ahLst/>
              <a:cxnLst/>
              <a:rect l="l" t="t" r="r" b="b"/>
              <a:pathLst>
                <a:path w="4832350" h="1254396">
                  <a:moveTo>
                    <a:pt x="0" y="0"/>
                  </a:moveTo>
                  <a:lnTo>
                    <a:pt x="4832350" y="0"/>
                  </a:lnTo>
                  <a:lnTo>
                    <a:pt x="4832350" y="1254396"/>
                  </a:lnTo>
                  <a:lnTo>
                    <a:pt x="0" y="12543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04775"/>
              <a:ext cx="4832350" cy="13591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88"/>
                </a:lnSpc>
              </a:pPr>
              <a:r>
                <a:rPr lang="en-US" sz="23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Permanent shutdown, no re-emergence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745491" y="4010174"/>
            <a:ext cx="647402" cy="647402"/>
            <a:chOff x="0" y="0"/>
            <a:chExt cx="863203" cy="863203"/>
          </a:xfrm>
        </p:grpSpPr>
        <p:sp>
          <p:nvSpPr>
            <p:cNvPr id="19" name="Freeform 19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1E1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671649" y="4112270"/>
            <a:ext cx="3544044" cy="593357"/>
            <a:chOff x="0" y="0"/>
            <a:chExt cx="4725392" cy="79114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725392" cy="791142"/>
            </a:xfrm>
            <a:custGeom>
              <a:avLst/>
              <a:gdLst/>
              <a:ahLst/>
              <a:cxnLst/>
              <a:rect l="l" t="t" r="r" b="b"/>
              <a:pathLst>
                <a:path w="4725392" h="791142">
                  <a:moveTo>
                    <a:pt x="0" y="0"/>
                  </a:moveTo>
                  <a:lnTo>
                    <a:pt x="4725392" y="0"/>
                  </a:lnTo>
                  <a:lnTo>
                    <a:pt x="4725392" y="791142"/>
                  </a:lnTo>
                  <a:lnTo>
                    <a:pt x="0" y="7911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4725392" cy="81971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87"/>
                </a:lnSpc>
              </a:pPr>
              <a:r>
                <a:rPr lang="en-US" sz="2949" b="1">
                  <a:solidFill>
                    <a:srgbClr val="3C39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Convictions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671649" y="4725292"/>
            <a:ext cx="3624262" cy="940797"/>
            <a:chOff x="0" y="0"/>
            <a:chExt cx="4832350" cy="125439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832350" cy="1254396"/>
            </a:xfrm>
            <a:custGeom>
              <a:avLst/>
              <a:gdLst/>
              <a:ahLst/>
              <a:cxnLst/>
              <a:rect l="l" t="t" r="r" b="b"/>
              <a:pathLst>
                <a:path w="4832350" h="1254396">
                  <a:moveTo>
                    <a:pt x="0" y="0"/>
                  </a:moveTo>
                  <a:lnTo>
                    <a:pt x="4832350" y="0"/>
                  </a:lnTo>
                  <a:lnTo>
                    <a:pt x="4832350" y="1254396"/>
                  </a:lnTo>
                  <a:lnTo>
                    <a:pt x="0" y="12543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04775"/>
              <a:ext cx="4832350" cy="13591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88"/>
                </a:lnSpc>
              </a:pPr>
              <a:r>
                <a:rPr lang="en-US" sz="23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Across U.S., Europe, South America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845475" y="6194822"/>
            <a:ext cx="647402" cy="647403"/>
            <a:chOff x="0" y="0"/>
            <a:chExt cx="863203" cy="863203"/>
          </a:xfrm>
        </p:grpSpPr>
        <p:sp>
          <p:nvSpPr>
            <p:cNvPr id="28" name="Freeform 28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1E1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771632" y="6296918"/>
            <a:ext cx="3544044" cy="593357"/>
            <a:chOff x="0" y="0"/>
            <a:chExt cx="4725392" cy="79114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725392" cy="791142"/>
            </a:xfrm>
            <a:custGeom>
              <a:avLst/>
              <a:gdLst/>
              <a:ahLst/>
              <a:cxnLst/>
              <a:rect l="l" t="t" r="r" b="b"/>
              <a:pathLst>
                <a:path w="4725392" h="791142">
                  <a:moveTo>
                    <a:pt x="0" y="0"/>
                  </a:moveTo>
                  <a:lnTo>
                    <a:pt x="4725392" y="0"/>
                  </a:lnTo>
                  <a:lnTo>
                    <a:pt x="4725392" y="791142"/>
                  </a:lnTo>
                  <a:lnTo>
                    <a:pt x="0" y="7911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4725392" cy="81971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87"/>
                </a:lnSpc>
              </a:pPr>
              <a:r>
                <a:rPr lang="en-US" sz="2949" b="1">
                  <a:solidFill>
                    <a:srgbClr val="3C39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Key Lessons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771633" y="6909941"/>
            <a:ext cx="8524131" cy="455022"/>
            <a:chOff x="0" y="0"/>
            <a:chExt cx="11365508" cy="60669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365509" cy="606696"/>
            </a:xfrm>
            <a:custGeom>
              <a:avLst/>
              <a:gdLst/>
              <a:ahLst/>
              <a:cxnLst/>
              <a:rect l="l" t="t" r="r" b="b"/>
              <a:pathLst>
                <a:path w="11365509" h="606696">
                  <a:moveTo>
                    <a:pt x="0" y="0"/>
                  </a:moveTo>
                  <a:lnTo>
                    <a:pt x="11365509" y="0"/>
                  </a:lnTo>
                  <a:lnTo>
                    <a:pt x="11365509" y="606696"/>
                  </a:lnTo>
                  <a:lnTo>
                    <a:pt x="0" y="6066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04775"/>
              <a:ext cx="11365508" cy="7114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60064" lvl="1" indent="-180032" algn="l">
                <a:lnSpc>
                  <a:spcPts val="3888"/>
                </a:lnSpc>
                <a:buFont typeface="Arial"/>
                <a:buChar char="•"/>
              </a:pPr>
              <a:r>
                <a:rPr lang="en-US" sz="23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Long-term infiltration succeeds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771633" y="7462689"/>
            <a:ext cx="8524131" cy="455022"/>
            <a:chOff x="0" y="0"/>
            <a:chExt cx="11365508" cy="60669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365509" cy="606696"/>
            </a:xfrm>
            <a:custGeom>
              <a:avLst/>
              <a:gdLst/>
              <a:ahLst/>
              <a:cxnLst/>
              <a:rect l="l" t="t" r="r" b="b"/>
              <a:pathLst>
                <a:path w="11365509" h="606696">
                  <a:moveTo>
                    <a:pt x="0" y="0"/>
                  </a:moveTo>
                  <a:lnTo>
                    <a:pt x="11365509" y="0"/>
                  </a:lnTo>
                  <a:lnTo>
                    <a:pt x="11365509" y="606696"/>
                  </a:lnTo>
                  <a:lnTo>
                    <a:pt x="0" y="6066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104775"/>
              <a:ext cx="11365508" cy="7114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60064" lvl="1" indent="-180032" algn="l">
                <a:lnSpc>
                  <a:spcPts val="3888"/>
                </a:lnSpc>
                <a:buFont typeface="Arial"/>
                <a:buChar char="•"/>
              </a:pPr>
              <a:r>
                <a:rPr lang="en-US" sz="23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Logs can expose malware sources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771633" y="8015436"/>
            <a:ext cx="8524131" cy="455022"/>
            <a:chOff x="0" y="0"/>
            <a:chExt cx="11365508" cy="60669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1365509" cy="606696"/>
            </a:xfrm>
            <a:custGeom>
              <a:avLst/>
              <a:gdLst/>
              <a:ahLst/>
              <a:cxnLst/>
              <a:rect l="l" t="t" r="r" b="b"/>
              <a:pathLst>
                <a:path w="11365509" h="606696">
                  <a:moveTo>
                    <a:pt x="0" y="0"/>
                  </a:moveTo>
                  <a:lnTo>
                    <a:pt x="11365509" y="0"/>
                  </a:lnTo>
                  <a:lnTo>
                    <a:pt x="11365509" y="606696"/>
                  </a:lnTo>
                  <a:lnTo>
                    <a:pt x="0" y="6066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104775"/>
              <a:ext cx="11365508" cy="7114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60064" lvl="1" indent="-180032" algn="l">
                <a:lnSpc>
                  <a:spcPts val="3888"/>
                </a:lnSpc>
                <a:buFont typeface="Arial"/>
                <a:buChar char="•"/>
              </a:pPr>
              <a:r>
                <a:rPr lang="en-US" sz="23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Cross-border cooperation vital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75067" y="482472"/>
            <a:ext cx="6017858" cy="8931792"/>
            <a:chOff x="0" y="0"/>
            <a:chExt cx="932324" cy="138376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32324" cy="1383768"/>
            </a:xfrm>
            <a:custGeom>
              <a:avLst/>
              <a:gdLst/>
              <a:ahLst/>
              <a:cxnLst/>
              <a:rect l="l" t="t" r="r" b="b"/>
              <a:pathLst>
                <a:path w="932324" h="1383768">
                  <a:moveTo>
                    <a:pt x="0" y="0"/>
                  </a:moveTo>
                  <a:lnTo>
                    <a:pt x="932324" y="0"/>
                  </a:lnTo>
                  <a:lnTo>
                    <a:pt x="932324" y="1383768"/>
                  </a:lnTo>
                  <a:lnTo>
                    <a:pt x="0" y="1383768"/>
                  </a:lnTo>
                  <a:close/>
                </a:path>
              </a:pathLst>
            </a:custGeom>
            <a:blipFill>
              <a:blip r:embed="rId3"/>
              <a:stretch>
                <a:fillRect l="-53041" r="-4513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</Words>
  <Application>Microsoft Office PowerPoint</Application>
  <PresentationFormat>Custom</PresentationFormat>
  <Paragraphs>99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Roboto Bold</vt:lpstr>
      <vt:lpstr>Arial</vt:lpstr>
      <vt:lpstr>Raleway Bold</vt:lpstr>
      <vt:lpstr>Calibri</vt:lpstr>
      <vt:lpstr>Roboto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Operation-Shrouded-Horizon-The-Takedown-of-Darkode</dc:title>
  <cp:lastModifiedBy>Awais Ahmed</cp:lastModifiedBy>
  <cp:revision>3</cp:revision>
  <dcterms:created xsi:type="dcterms:W3CDTF">2006-08-16T00:00:00Z</dcterms:created>
  <dcterms:modified xsi:type="dcterms:W3CDTF">2026-08-31T10:27:20Z</dcterms:modified>
  <dc:identifier>DAGoAbid5ng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2026-08-31T10:27:20Z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5ac1389f-675e-4a39-990b-5f67d516cb1d</vt:lpwstr>
  </property>
  <property fmtid="{D5CDD505-2E9C-101B-9397-08002B2CF9AE}" pid="7" name="MSIP_Label_defa4170-0d19-0005-0004-bc88714345d2_ActionId">
    <vt:lpwstr>b1cb382b-120b-4558-9dd7-07f393bfab56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
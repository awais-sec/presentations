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Inter Bold" charset="1" panose="020B0802030000000004"/>
      <p:regular r:id="rId17"/>
    </p:embeddedFont>
    <p:embeddedFont>
      <p:font typeface="Inter" charset="1" panose="020B0502030000000004"/>
      <p:regular r:id="rId18"/>
    </p:embeddedFont>
    <p:embeddedFont>
      <p:font typeface="Inter Medium" charset="1" panose="02000503000000020004"/>
      <p:regular r:id="rId19"/>
    </p:embeddedFont>
    <p:embeddedFont>
      <p:font typeface="Canva Sans" charset="1" panose="020B0503030501040103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notesSlides/notesSlide2.xml" Type="http://schemas.openxmlformats.org/officeDocument/2006/relationships/notesSlide"/><Relationship Id="rId22" Target="notesSlides/notesSlide3.xml" Type="http://schemas.openxmlformats.org/officeDocument/2006/relationships/notesSlide"/><Relationship Id="rId23" Target="notesSlides/notesSlide4.xml" Type="http://schemas.openxmlformats.org/officeDocument/2006/relationships/notesSlide"/><Relationship Id="rId24" Target="notesSlides/notesSlide5.xml" Type="http://schemas.openxmlformats.org/officeDocument/2006/relationships/notesSlide"/><Relationship Id="rId25" Target="notesSlides/notesSlide6.xml" Type="http://schemas.openxmlformats.org/officeDocument/2006/relationships/notesSlide"/><Relationship Id="rId26" Target="notesSlides/notesSlide7.xml" Type="http://schemas.openxmlformats.org/officeDocument/2006/relationships/notesSlide"/><Relationship Id="rId27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8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5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7.png" Type="http://schemas.openxmlformats.org/officeDocument/2006/relationships/image"/><Relationship Id="rId4" Target="../media/image8.pn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-1745871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346102" y="1028700"/>
            <a:ext cx="9445526" cy="2657921"/>
            <a:chOff x="0" y="0"/>
            <a:chExt cx="12594035" cy="354389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594035" cy="3543895"/>
            </a:xfrm>
            <a:custGeom>
              <a:avLst/>
              <a:gdLst/>
              <a:ahLst/>
              <a:cxnLst/>
              <a:rect r="r" b="b" t="t" l="l"/>
              <a:pathLst>
                <a:path h="3543895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3543895"/>
                  </a:lnTo>
                  <a:lnTo>
                    <a:pt x="0" y="354389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2594035" cy="35724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New Technology File System (NTFS): A Deep Dive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346102" y="4111823"/>
            <a:ext cx="9445526" cy="996654"/>
            <a:chOff x="0" y="0"/>
            <a:chExt cx="12594035" cy="132887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2594035" cy="1328872"/>
            </a:xfrm>
            <a:custGeom>
              <a:avLst/>
              <a:gdLst/>
              <a:ahLst/>
              <a:cxnLst/>
              <a:rect r="r" b="b" t="t" l="l"/>
              <a:pathLst>
                <a:path h="1328872" w="12594035">
                  <a:moveTo>
                    <a:pt x="0" y="0"/>
                  </a:moveTo>
                  <a:lnTo>
                    <a:pt x="12594035" y="0"/>
                  </a:lnTo>
                  <a:lnTo>
                    <a:pt x="12594035" y="1328872"/>
                  </a:lnTo>
                  <a:lnTo>
                    <a:pt x="0" y="1328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04775"/>
              <a:ext cx="12594035" cy="14336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Exploring </a:t>
              </a: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NTFS, the modern Windows file system. Learn its architecture, advantages, and forensic importance.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989689" y="8867329"/>
            <a:ext cx="174724" cy="121890"/>
            <a:chOff x="0" y="0"/>
            <a:chExt cx="232965" cy="16252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32965" cy="162520"/>
            </a:xfrm>
            <a:custGeom>
              <a:avLst/>
              <a:gdLst/>
              <a:ahLst/>
              <a:cxnLst/>
              <a:rect r="r" b="b" t="t" l="l"/>
              <a:pathLst>
                <a:path h="162520" w="232965">
                  <a:moveTo>
                    <a:pt x="0" y="0"/>
                  </a:moveTo>
                  <a:lnTo>
                    <a:pt x="232965" y="0"/>
                  </a:lnTo>
                  <a:lnTo>
                    <a:pt x="232965" y="162520"/>
                  </a:lnTo>
                  <a:lnTo>
                    <a:pt x="0" y="1625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19050"/>
              <a:ext cx="232965" cy="14347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937"/>
                </a:lnSpc>
              </a:pPr>
              <a:r>
                <a:rPr lang="en-US" sz="937" b="true">
                  <a:solidFill>
                    <a:srgbClr val="FFFFFF"/>
                  </a:solidFill>
                  <a:latin typeface="Inter Medium"/>
                  <a:ea typeface="Inter Medium"/>
                  <a:cs typeface="Inter Medium"/>
                  <a:sym typeface="Inter Medium"/>
                </a:rPr>
                <a:t>AA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6559718" y="6255715"/>
            <a:ext cx="5168565" cy="2145702"/>
            <a:chOff x="0" y="0"/>
            <a:chExt cx="3459416" cy="143615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459416" cy="1436158"/>
            </a:xfrm>
            <a:custGeom>
              <a:avLst/>
              <a:gdLst/>
              <a:ahLst/>
              <a:cxnLst/>
              <a:rect r="r" b="b" t="t" l="l"/>
              <a:pathLst>
                <a:path h="1436158" w="3459416">
                  <a:moveTo>
                    <a:pt x="0" y="0"/>
                  </a:moveTo>
                  <a:lnTo>
                    <a:pt x="3459416" y="0"/>
                  </a:lnTo>
                  <a:lnTo>
                    <a:pt x="3459416" y="1436158"/>
                  </a:lnTo>
                  <a:lnTo>
                    <a:pt x="0" y="1436158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66675"/>
              <a:ext cx="3459416" cy="150283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15"/>
                </a:lnSpc>
              </a:pPr>
              <a:r>
                <a:rPr lang="en-US" sz="2850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Presented b</a:t>
              </a:r>
              <a:r>
                <a:rPr lang="en-US" sz="2850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y: </a:t>
              </a:r>
            </a:p>
            <a:p>
              <a:pPr algn="r">
                <a:lnSpc>
                  <a:spcPts val="4015"/>
                </a:lnSpc>
              </a:pPr>
              <a:r>
                <a:rPr lang="en-US" sz="2850">
                  <a:solidFill>
                    <a:srgbClr val="27252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Abubaker (003)</a:t>
              </a:r>
            </a:p>
            <a:p>
              <a:pPr algn="r">
                <a:lnSpc>
                  <a:spcPts val="4015"/>
                </a:lnSpc>
              </a:pPr>
              <a:r>
                <a:rPr lang="en-US" sz="2850">
                  <a:solidFill>
                    <a:srgbClr val="27252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Awais (008)</a:t>
              </a:r>
            </a:p>
            <a:p>
              <a:pPr algn="r">
                <a:lnSpc>
                  <a:spcPts val="4015"/>
                </a:lnSpc>
              </a:pPr>
              <a:r>
                <a:rPr lang="en-US" sz="2849">
                  <a:solidFill>
                    <a:srgbClr val="272525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Ahmar (010)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16201520" y="1028700"/>
            <a:ext cx="1057780" cy="1057780"/>
          </a:xfrm>
          <a:custGeom>
            <a:avLst/>
            <a:gdLst/>
            <a:ahLst/>
            <a:cxnLst/>
            <a:rect r="r" b="b" t="t" l="l"/>
            <a:pathLst>
              <a:path h="1057780" w="1057780">
                <a:moveTo>
                  <a:pt x="0" y="0"/>
                </a:moveTo>
                <a:lnTo>
                  <a:pt x="1057780" y="0"/>
                </a:lnTo>
                <a:lnTo>
                  <a:pt x="1057780" y="1057780"/>
                </a:lnTo>
                <a:lnTo>
                  <a:pt x="0" y="105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000"/>
          </a:xfrm>
          <a:custGeom>
            <a:avLst/>
            <a:gdLst/>
            <a:ahLst/>
            <a:cxnLst/>
            <a:rect r="r" b="b" t="t" l="l"/>
            <a:pathLst>
              <a:path h="10287000" w="6858000">
                <a:moveTo>
                  <a:pt x="0" y="0"/>
                </a:moveTo>
                <a:lnTo>
                  <a:pt x="6858000" y="0"/>
                </a:lnTo>
                <a:lnTo>
                  <a:pt x="685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804100" y="1557590"/>
            <a:ext cx="8060554" cy="1204209"/>
            <a:chOff x="0" y="0"/>
            <a:chExt cx="10747406" cy="1605612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0747406" cy="1605612"/>
            </a:xfrm>
            <a:custGeom>
              <a:avLst/>
              <a:gdLst/>
              <a:ahLst/>
              <a:cxnLst/>
              <a:rect r="r" b="b" t="t" l="l"/>
              <a:pathLst>
                <a:path h="1605612" w="10747406">
                  <a:moveTo>
                    <a:pt x="0" y="0"/>
                  </a:moveTo>
                  <a:lnTo>
                    <a:pt x="10747406" y="0"/>
                  </a:lnTo>
                  <a:lnTo>
                    <a:pt x="10747406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10747406" cy="1634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Introduction 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804100" y="2974628"/>
            <a:ext cx="4590604" cy="2569517"/>
            <a:chOff x="0" y="0"/>
            <a:chExt cx="6120805" cy="342602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8101905" y="3272432"/>
            <a:ext cx="3544044" cy="639575"/>
            <a:chOff x="0" y="0"/>
            <a:chExt cx="4725392" cy="8527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Origins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8101905" y="3885456"/>
            <a:ext cx="3994994" cy="1482429"/>
            <a:chOff x="0" y="0"/>
            <a:chExt cx="5326658" cy="19765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326658" cy="1976571"/>
            </a:xfrm>
            <a:custGeom>
              <a:avLst/>
              <a:gdLst/>
              <a:ahLst/>
              <a:cxnLst/>
              <a:rect r="r" b="b" t="t" l="l"/>
              <a:pathLst>
                <a:path h="1976571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976571"/>
                  </a:lnTo>
                  <a:lnTo>
                    <a:pt x="0" y="19765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104775"/>
              <a:ext cx="5326658" cy="20813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Developed by Microsoft in 1993 for Windows NT 3.1 release.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2668696" y="2974628"/>
            <a:ext cx="4590604" cy="2569517"/>
            <a:chOff x="0" y="0"/>
            <a:chExt cx="6120805" cy="3426023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6350" y="6350"/>
              <a:ext cx="6108065" cy="3413252"/>
            </a:xfrm>
            <a:custGeom>
              <a:avLst/>
              <a:gdLst/>
              <a:ahLst/>
              <a:cxnLst/>
              <a:rect r="r" b="b" t="t" l="l"/>
              <a:pathLst>
                <a:path h="3413252" w="6108065">
                  <a:moveTo>
                    <a:pt x="0" y="158750"/>
                  </a:moveTo>
                  <a:cubicBezTo>
                    <a:pt x="0" y="71120"/>
                    <a:pt x="71247" y="0"/>
                    <a:pt x="159004" y="0"/>
                  </a:cubicBezTo>
                  <a:lnTo>
                    <a:pt x="5949061" y="0"/>
                  </a:lnTo>
                  <a:cubicBezTo>
                    <a:pt x="6036945" y="0"/>
                    <a:pt x="6108065" y="71120"/>
                    <a:pt x="6108065" y="158750"/>
                  </a:cubicBezTo>
                  <a:lnTo>
                    <a:pt x="6108065" y="3254502"/>
                  </a:lnTo>
                  <a:cubicBezTo>
                    <a:pt x="6108065" y="3342259"/>
                    <a:pt x="6036818" y="3413252"/>
                    <a:pt x="5949061" y="3413252"/>
                  </a:cubicBezTo>
                  <a:lnTo>
                    <a:pt x="159004" y="3413252"/>
                  </a:lnTo>
                  <a:cubicBezTo>
                    <a:pt x="71120" y="3413252"/>
                    <a:pt x="0" y="3342132"/>
                    <a:pt x="0" y="3254502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6120765" cy="3425952"/>
            </a:xfrm>
            <a:custGeom>
              <a:avLst/>
              <a:gdLst/>
              <a:ahLst/>
              <a:cxnLst/>
              <a:rect r="r" b="b" t="t" l="l"/>
              <a:pathLst>
                <a:path h="3425952" w="6120765">
                  <a:moveTo>
                    <a:pt x="0" y="165100"/>
                  </a:moveTo>
                  <a:cubicBezTo>
                    <a:pt x="0" y="73914"/>
                    <a:pt x="74041" y="0"/>
                    <a:pt x="165354" y="0"/>
                  </a:cubicBezTo>
                  <a:lnTo>
                    <a:pt x="5955411" y="0"/>
                  </a:lnTo>
                  <a:lnTo>
                    <a:pt x="5955411" y="6350"/>
                  </a:lnTo>
                  <a:lnTo>
                    <a:pt x="5955411" y="0"/>
                  </a:lnTo>
                  <a:cubicBezTo>
                    <a:pt x="6046724" y="0"/>
                    <a:pt x="6120765" y="73914"/>
                    <a:pt x="6120765" y="165100"/>
                  </a:cubicBezTo>
                  <a:lnTo>
                    <a:pt x="6114415" y="165100"/>
                  </a:lnTo>
                  <a:lnTo>
                    <a:pt x="6120765" y="165100"/>
                  </a:lnTo>
                  <a:lnTo>
                    <a:pt x="6120765" y="3260852"/>
                  </a:lnTo>
                  <a:lnTo>
                    <a:pt x="6114415" y="3260852"/>
                  </a:lnTo>
                  <a:lnTo>
                    <a:pt x="6120765" y="3260852"/>
                  </a:lnTo>
                  <a:cubicBezTo>
                    <a:pt x="6120765" y="3352038"/>
                    <a:pt x="6046724" y="3425952"/>
                    <a:pt x="5955411" y="3425952"/>
                  </a:cubicBezTo>
                  <a:lnTo>
                    <a:pt x="5955411" y="3419602"/>
                  </a:lnTo>
                  <a:lnTo>
                    <a:pt x="5955411" y="3425952"/>
                  </a:lnTo>
                  <a:lnTo>
                    <a:pt x="165354" y="3425952"/>
                  </a:lnTo>
                  <a:lnTo>
                    <a:pt x="165354" y="3419602"/>
                  </a:lnTo>
                  <a:lnTo>
                    <a:pt x="165354" y="3425952"/>
                  </a:lnTo>
                  <a:cubicBezTo>
                    <a:pt x="74041" y="3425952"/>
                    <a:pt x="0" y="3352038"/>
                    <a:pt x="0" y="3260852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3260852"/>
                  </a:lnTo>
                  <a:lnTo>
                    <a:pt x="6350" y="3260852"/>
                  </a:lnTo>
                  <a:lnTo>
                    <a:pt x="12700" y="3260852"/>
                  </a:lnTo>
                  <a:cubicBezTo>
                    <a:pt x="12700" y="3345053"/>
                    <a:pt x="81026" y="3413252"/>
                    <a:pt x="165354" y="3413252"/>
                  </a:cubicBezTo>
                  <a:lnTo>
                    <a:pt x="5955411" y="3413252"/>
                  </a:lnTo>
                  <a:cubicBezTo>
                    <a:pt x="6039739" y="3413252"/>
                    <a:pt x="6108065" y="3345053"/>
                    <a:pt x="6108065" y="3260852"/>
                  </a:cubicBezTo>
                  <a:lnTo>
                    <a:pt x="6108065" y="165100"/>
                  </a:lnTo>
                  <a:cubicBezTo>
                    <a:pt x="6108065" y="80899"/>
                    <a:pt x="6039739" y="12700"/>
                    <a:pt x="5955411" y="12700"/>
                  </a:cubicBezTo>
                  <a:lnTo>
                    <a:pt x="165354" y="12700"/>
                  </a:lnTo>
                  <a:lnTo>
                    <a:pt x="165354" y="6350"/>
                  </a:lnTo>
                  <a:lnTo>
                    <a:pt x="165354" y="12700"/>
                  </a:lnTo>
                  <a:cubicBezTo>
                    <a:pt x="81026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2966501" y="3272432"/>
            <a:ext cx="3544044" cy="639575"/>
            <a:chOff x="0" y="0"/>
            <a:chExt cx="4725392" cy="852766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Evolution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966501" y="3885456"/>
            <a:ext cx="3994994" cy="1482429"/>
            <a:chOff x="0" y="0"/>
            <a:chExt cx="5326658" cy="197657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326658" cy="1976571"/>
            </a:xfrm>
            <a:custGeom>
              <a:avLst/>
              <a:gdLst/>
              <a:ahLst/>
              <a:cxnLst/>
              <a:rect r="r" b="b" t="t" l="l"/>
              <a:pathLst>
                <a:path h="1976571" w="5326658">
                  <a:moveTo>
                    <a:pt x="0" y="0"/>
                  </a:moveTo>
                  <a:lnTo>
                    <a:pt x="5326658" y="0"/>
                  </a:lnTo>
                  <a:lnTo>
                    <a:pt x="5326658" y="1976571"/>
                  </a:lnTo>
                  <a:lnTo>
                    <a:pt x="0" y="19765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5326658" cy="20813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Successor to FAT, standard Windows file system since 1993.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7804100" y="5818137"/>
            <a:ext cx="9455051" cy="1907482"/>
            <a:chOff x="0" y="0"/>
            <a:chExt cx="12606735" cy="254331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6350" y="7287"/>
              <a:ext cx="12594082" cy="2528654"/>
            </a:xfrm>
            <a:custGeom>
              <a:avLst/>
              <a:gdLst/>
              <a:ahLst/>
              <a:cxnLst/>
              <a:rect r="r" b="b" t="t" l="l"/>
              <a:pathLst>
                <a:path h="2528654" w="12594082">
                  <a:moveTo>
                    <a:pt x="0" y="182169"/>
                  </a:moveTo>
                  <a:cubicBezTo>
                    <a:pt x="0" y="81612"/>
                    <a:pt x="71374" y="0"/>
                    <a:pt x="159512" y="0"/>
                  </a:cubicBezTo>
                  <a:lnTo>
                    <a:pt x="12434570" y="0"/>
                  </a:lnTo>
                  <a:cubicBezTo>
                    <a:pt x="12522708" y="0"/>
                    <a:pt x="12594082" y="81612"/>
                    <a:pt x="12594082" y="182169"/>
                  </a:cubicBezTo>
                  <a:lnTo>
                    <a:pt x="12594082" y="2346485"/>
                  </a:lnTo>
                  <a:cubicBezTo>
                    <a:pt x="12594082" y="2447042"/>
                    <a:pt x="12522708" y="2528654"/>
                    <a:pt x="12434570" y="2528654"/>
                  </a:cubicBezTo>
                  <a:lnTo>
                    <a:pt x="159512" y="2528654"/>
                  </a:lnTo>
                  <a:cubicBezTo>
                    <a:pt x="71374" y="2528654"/>
                    <a:pt x="0" y="2447042"/>
                    <a:pt x="0" y="2346485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2606782" cy="2543228"/>
            </a:xfrm>
            <a:custGeom>
              <a:avLst/>
              <a:gdLst/>
              <a:ahLst/>
              <a:cxnLst/>
              <a:rect r="r" b="b" t="t" l="l"/>
              <a:pathLst>
                <a:path h="2543228" w="12606782">
                  <a:moveTo>
                    <a:pt x="0" y="189456"/>
                  </a:moveTo>
                  <a:cubicBezTo>
                    <a:pt x="0" y="84818"/>
                    <a:pt x="74295" y="0"/>
                    <a:pt x="165862" y="0"/>
                  </a:cubicBezTo>
                  <a:lnTo>
                    <a:pt x="12440920" y="0"/>
                  </a:lnTo>
                  <a:lnTo>
                    <a:pt x="12440920" y="7287"/>
                  </a:lnTo>
                  <a:lnTo>
                    <a:pt x="12440920" y="0"/>
                  </a:lnTo>
                  <a:cubicBezTo>
                    <a:pt x="12532487" y="0"/>
                    <a:pt x="12606782" y="84818"/>
                    <a:pt x="12606782" y="189456"/>
                  </a:cubicBezTo>
                  <a:lnTo>
                    <a:pt x="12600432" y="189456"/>
                  </a:lnTo>
                  <a:lnTo>
                    <a:pt x="12606782" y="189456"/>
                  </a:lnTo>
                  <a:lnTo>
                    <a:pt x="12606782" y="2353772"/>
                  </a:lnTo>
                  <a:lnTo>
                    <a:pt x="12600432" y="2353772"/>
                  </a:lnTo>
                  <a:lnTo>
                    <a:pt x="12606782" y="2353772"/>
                  </a:lnTo>
                  <a:cubicBezTo>
                    <a:pt x="12606782" y="2458410"/>
                    <a:pt x="12532487" y="2543228"/>
                    <a:pt x="12440920" y="2543228"/>
                  </a:cubicBezTo>
                  <a:lnTo>
                    <a:pt x="12440920" y="2535941"/>
                  </a:lnTo>
                  <a:lnTo>
                    <a:pt x="12440920" y="2543228"/>
                  </a:lnTo>
                  <a:lnTo>
                    <a:pt x="165862" y="2543228"/>
                  </a:lnTo>
                  <a:lnTo>
                    <a:pt x="165862" y="2535941"/>
                  </a:lnTo>
                  <a:lnTo>
                    <a:pt x="165862" y="2543228"/>
                  </a:lnTo>
                  <a:cubicBezTo>
                    <a:pt x="74295" y="2543228"/>
                    <a:pt x="0" y="2458410"/>
                    <a:pt x="0" y="2353772"/>
                  </a:cubicBezTo>
                  <a:lnTo>
                    <a:pt x="0" y="189456"/>
                  </a:lnTo>
                  <a:lnTo>
                    <a:pt x="6350" y="189456"/>
                  </a:lnTo>
                  <a:lnTo>
                    <a:pt x="0" y="189456"/>
                  </a:lnTo>
                  <a:moveTo>
                    <a:pt x="12700" y="189456"/>
                  </a:moveTo>
                  <a:lnTo>
                    <a:pt x="12700" y="2353772"/>
                  </a:lnTo>
                  <a:lnTo>
                    <a:pt x="6350" y="2353772"/>
                  </a:lnTo>
                  <a:lnTo>
                    <a:pt x="12700" y="2353772"/>
                  </a:lnTo>
                  <a:cubicBezTo>
                    <a:pt x="12700" y="2450394"/>
                    <a:pt x="81280" y="2528654"/>
                    <a:pt x="165862" y="2528654"/>
                  </a:cubicBezTo>
                  <a:lnTo>
                    <a:pt x="12440920" y="2528654"/>
                  </a:lnTo>
                  <a:cubicBezTo>
                    <a:pt x="12525501" y="2528654"/>
                    <a:pt x="12594082" y="2450249"/>
                    <a:pt x="12594082" y="2353772"/>
                  </a:cubicBezTo>
                  <a:lnTo>
                    <a:pt x="12594082" y="189456"/>
                  </a:lnTo>
                  <a:cubicBezTo>
                    <a:pt x="12594082" y="92833"/>
                    <a:pt x="12525501" y="14574"/>
                    <a:pt x="12440920" y="14574"/>
                  </a:cubicBezTo>
                  <a:lnTo>
                    <a:pt x="165862" y="14574"/>
                  </a:lnTo>
                  <a:lnTo>
                    <a:pt x="165862" y="7287"/>
                  </a:lnTo>
                  <a:lnTo>
                    <a:pt x="165862" y="14574"/>
                  </a:lnTo>
                  <a:cubicBezTo>
                    <a:pt x="81280" y="14574"/>
                    <a:pt x="12700" y="92979"/>
                    <a:pt x="12700" y="189456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1" id="31"/>
          <p:cNvGrpSpPr/>
          <p:nvPr/>
        </p:nvGrpSpPr>
        <p:grpSpPr>
          <a:xfrm rot="0">
            <a:off x="8101905" y="6115942"/>
            <a:ext cx="3544044" cy="639575"/>
            <a:chOff x="0" y="0"/>
            <a:chExt cx="4725392" cy="852766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Design Focus</a:t>
              </a:r>
            </a:p>
          </p:txBody>
        </p:sp>
      </p:grpSp>
      <p:grpSp>
        <p:nvGrpSpPr>
          <p:cNvPr name="Group 34" id="34"/>
          <p:cNvGrpSpPr/>
          <p:nvPr/>
        </p:nvGrpSpPr>
        <p:grpSpPr>
          <a:xfrm rot="0">
            <a:off x="8101905" y="6728966"/>
            <a:ext cx="8859441" cy="996654"/>
            <a:chOff x="0" y="0"/>
            <a:chExt cx="11812588" cy="132887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812588" cy="1328872"/>
            </a:xfrm>
            <a:custGeom>
              <a:avLst/>
              <a:gdLst/>
              <a:ahLst/>
              <a:cxnLst/>
              <a:rect r="r" b="b" t="t" l="l"/>
              <a:pathLst>
                <a:path h="1328872" w="11812588">
                  <a:moveTo>
                    <a:pt x="0" y="0"/>
                  </a:moveTo>
                  <a:lnTo>
                    <a:pt x="11812588" y="0"/>
                  </a:lnTo>
                  <a:lnTo>
                    <a:pt x="11812588" y="1328872"/>
                  </a:lnTo>
                  <a:lnTo>
                    <a:pt x="0" y="132887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104775"/>
              <a:ext cx="11812588" cy="14336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Built for security, reliability, and advanced file system features.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2086480"/>
            <a:ext cx="8516540" cy="1244574"/>
            <a:chOff x="0" y="0"/>
            <a:chExt cx="11355387" cy="165943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355387" cy="1659432"/>
            </a:xfrm>
            <a:custGeom>
              <a:avLst/>
              <a:gdLst/>
              <a:ahLst/>
              <a:cxnLst/>
              <a:rect r="r" b="b" t="t" l="l"/>
              <a:pathLst>
                <a:path h="1659432" w="11355387">
                  <a:moveTo>
                    <a:pt x="0" y="0"/>
                  </a:moveTo>
                  <a:lnTo>
                    <a:pt x="11355387" y="0"/>
                  </a:lnTo>
                  <a:lnTo>
                    <a:pt x="11355387" y="1659432"/>
                  </a:lnTo>
                  <a:lnTo>
                    <a:pt x="0" y="165943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355387" cy="168800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7186"/>
                </a:lnSpc>
              </a:pPr>
              <a:r>
                <a:rPr lang="en-US" sz="57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Advantages Over FAT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3681173"/>
            <a:ext cx="3544044" cy="639575"/>
            <a:chOff x="0" y="0"/>
            <a:chExt cx="4725392" cy="8527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Greater Capacity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028700" y="4407603"/>
            <a:ext cx="3556993" cy="1627406"/>
            <a:chOff x="0" y="0"/>
            <a:chExt cx="4742657" cy="216987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42657" cy="2169875"/>
            </a:xfrm>
            <a:custGeom>
              <a:avLst/>
              <a:gdLst/>
              <a:ahLst/>
              <a:cxnLst/>
              <a:rect r="r" b="b" t="t" l="l"/>
              <a:pathLst>
                <a:path h="21698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169875"/>
                  </a:lnTo>
                  <a:lnTo>
                    <a:pt x="0" y="21698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4742657" cy="2284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Supports files and partitions up to 256 TB.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86970" y="3681173"/>
            <a:ext cx="3544044" cy="639575"/>
            <a:chOff x="0" y="0"/>
            <a:chExt cx="4725392" cy="85276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Security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86970" y="4407603"/>
            <a:ext cx="3556993" cy="1627406"/>
            <a:chOff x="0" y="0"/>
            <a:chExt cx="4742657" cy="216987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42657" cy="2169875"/>
            </a:xfrm>
            <a:custGeom>
              <a:avLst/>
              <a:gdLst/>
              <a:ahLst/>
              <a:cxnLst/>
              <a:rect r="r" b="b" t="t" l="l"/>
              <a:pathLst>
                <a:path h="21698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169875"/>
                  </a:lnTo>
                  <a:lnTo>
                    <a:pt x="0" y="21698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4742657" cy="2284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Access Control Lists enable detailed permissions.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45240" y="3681173"/>
            <a:ext cx="3544044" cy="639575"/>
            <a:chOff x="0" y="0"/>
            <a:chExt cx="4725392" cy="8527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Reliability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45240" y="4407603"/>
            <a:ext cx="3556993" cy="1627406"/>
            <a:chOff x="0" y="0"/>
            <a:chExt cx="4742657" cy="216987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42657" cy="2169875"/>
            </a:xfrm>
            <a:custGeom>
              <a:avLst/>
              <a:gdLst/>
              <a:ahLst/>
              <a:cxnLst/>
              <a:rect r="r" b="b" t="t" l="l"/>
              <a:pathLst>
                <a:path h="21698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169875"/>
                  </a:lnTo>
                  <a:lnTo>
                    <a:pt x="0" y="21698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4742657" cy="22841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Journaling helps recover from sudden crashes.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803510" y="3681173"/>
            <a:ext cx="3924016" cy="639575"/>
            <a:chOff x="0" y="0"/>
            <a:chExt cx="5232022" cy="85276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5232022" cy="852766"/>
            </a:xfrm>
            <a:custGeom>
              <a:avLst/>
              <a:gdLst/>
              <a:ahLst/>
              <a:cxnLst/>
              <a:rect r="r" b="b" t="t" l="l"/>
              <a:pathLst>
                <a:path h="852766" w="5232022">
                  <a:moveTo>
                    <a:pt x="0" y="0"/>
                  </a:moveTo>
                  <a:lnTo>
                    <a:pt x="5232022" y="0"/>
                  </a:lnTo>
                  <a:lnTo>
                    <a:pt x="523202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523202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Additional Features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803510" y="4407603"/>
            <a:ext cx="3556992" cy="2694206"/>
            <a:chOff x="0" y="0"/>
            <a:chExt cx="4742657" cy="3592275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42657" cy="3592275"/>
            </a:xfrm>
            <a:custGeom>
              <a:avLst/>
              <a:gdLst/>
              <a:ahLst/>
              <a:cxnLst/>
              <a:rect r="r" b="b" t="t" l="l"/>
              <a:pathLst>
                <a:path h="3592275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3592275"/>
                  </a:lnTo>
                  <a:lnTo>
                    <a:pt x="0" y="359227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4742657" cy="370657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213"/>
                </a:lnSpc>
              </a:pPr>
              <a:r>
                <a:rPr lang="en-US" sz="25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Supports file compression, encryption, quotas, and Unicode filenames.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201520" y="1028700"/>
            <a:ext cx="1057780" cy="1057780"/>
          </a:xfrm>
          <a:custGeom>
            <a:avLst/>
            <a:gdLst/>
            <a:ahLst/>
            <a:cxnLst/>
            <a:rect r="r" b="b" t="t" l="l"/>
            <a:pathLst>
              <a:path h="1057780" w="1057780">
                <a:moveTo>
                  <a:pt x="0" y="0"/>
                </a:moveTo>
                <a:lnTo>
                  <a:pt x="1057780" y="0"/>
                </a:lnTo>
                <a:lnTo>
                  <a:pt x="1057780" y="1057780"/>
                </a:lnTo>
                <a:lnTo>
                  <a:pt x="0" y="1057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87475" y="1028700"/>
            <a:ext cx="7458521" cy="1204209"/>
            <a:chOff x="0" y="0"/>
            <a:chExt cx="9944695" cy="16056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944695" cy="1605612"/>
            </a:xfrm>
            <a:custGeom>
              <a:avLst/>
              <a:gdLst/>
              <a:ahLst/>
              <a:cxnLst/>
              <a:rect r="r" b="b" t="t" l="l"/>
              <a:pathLst>
                <a:path h="1605612" w="9944695">
                  <a:moveTo>
                    <a:pt x="0" y="0"/>
                  </a:moveTo>
                  <a:lnTo>
                    <a:pt x="9944695" y="0"/>
                  </a:lnTo>
                  <a:lnTo>
                    <a:pt x="9944695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9944695" cy="1634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Key Features 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87475" y="2615804"/>
            <a:ext cx="647402" cy="647402"/>
            <a:chOff x="0" y="0"/>
            <a:chExt cx="863203" cy="863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908870" y="2437209"/>
            <a:ext cx="4601316" cy="639575"/>
            <a:chOff x="0" y="0"/>
            <a:chExt cx="6135088" cy="85276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6135088" cy="852766"/>
            </a:xfrm>
            <a:custGeom>
              <a:avLst/>
              <a:gdLst/>
              <a:ahLst/>
              <a:cxnLst/>
              <a:rect r="r" b="b" t="t" l="l"/>
              <a:pathLst>
                <a:path h="852766" w="6135088">
                  <a:moveTo>
                    <a:pt x="0" y="0"/>
                  </a:moveTo>
                  <a:lnTo>
                    <a:pt x="6135088" y="0"/>
                  </a:lnTo>
                  <a:lnTo>
                    <a:pt x="6135088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9050"/>
              <a:ext cx="6135088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Master File Table (MFT)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08870" y="3050232"/>
            <a:ext cx="8524131" cy="510879"/>
            <a:chOff x="0" y="0"/>
            <a:chExt cx="11365508" cy="681171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1365509" cy="681171"/>
            </a:xfrm>
            <a:custGeom>
              <a:avLst/>
              <a:gdLst/>
              <a:ahLst/>
              <a:cxnLst/>
              <a:rect r="r" b="b" t="t" l="l"/>
              <a:pathLst>
                <a:path h="681171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81171"/>
                  </a:lnTo>
                  <a:lnTo>
                    <a:pt x="0" y="681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04775"/>
              <a:ext cx="11365508" cy="7859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Stores metadata for every file and directory.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87475" y="4346822"/>
            <a:ext cx="647402" cy="647402"/>
            <a:chOff x="0" y="0"/>
            <a:chExt cx="863203" cy="86320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1" id="21"/>
          <p:cNvGrpSpPr/>
          <p:nvPr/>
        </p:nvGrpSpPr>
        <p:grpSpPr>
          <a:xfrm rot="0">
            <a:off x="1908870" y="4168229"/>
            <a:ext cx="3544044" cy="639575"/>
            <a:chOff x="0" y="0"/>
            <a:chExt cx="4725392" cy="85276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852766"/>
            </a:xfrm>
            <a:custGeom>
              <a:avLst/>
              <a:gdLst/>
              <a:ahLst/>
              <a:cxnLst/>
              <a:rect r="r" b="b" t="t" l="l"/>
              <a:pathLst>
                <a:path h="852766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725392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Journaling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1908870" y="4781252"/>
            <a:ext cx="8524131" cy="510879"/>
            <a:chOff x="0" y="0"/>
            <a:chExt cx="11365508" cy="68117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1365509" cy="681171"/>
            </a:xfrm>
            <a:custGeom>
              <a:avLst/>
              <a:gdLst/>
              <a:ahLst/>
              <a:cxnLst/>
              <a:rect r="r" b="b" t="t" l="l"/>
              <a:pathLst>
                <a:path h="681171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81171"/>
                  </a:lnTo>
                  <a:lnTo>
                    <a:pt x="0" y="681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04775"/>
              <a:ext cx="11365508" cy="7859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Logs file system changes for robust crash recovery.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987475" y="6077842"/>
            <a:ext cx="647402" cy="647402"/>
            <a:chOff x="0" y="0"/>
            <a:chExt cx="863203" cy="86320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908870" y="5899249"/>
            <a:ext cx="4601316" cy="639575"/>
            <a:chOff x="0" y="0"/>
            <a:chExt cx="6135088" cy="85276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35088" cy="852766"/>
            </a:xfrm>
            <a:custGeom>
              <a:avLst/>
              <a:gdLst/>
              <a:ahLst/>
              <a:cxnLst/>
              <a:rect r="r" b="b" t="t" l="l"/>
              <a:pathLst>
                <a:path h="852766" w="6135088">
                  <a:moveTo>
                    <a:pt x="0" y="0"/>
                  </a:moveTo>
                  <a:lnTo>
                    <a:pt x="6135088" y="0"/>
                  </a:lnTo>
                  <a:lnTo>
                    <a:pt x="6135088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9050"/>
              <a:ext cx="6135088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Security Descriptors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908870" y="6512272"/>
            <a:ext cx="8524131" cy="510879"/>
            <a:chOff x="0" y="0"/>
            <a:chExt cx="11365508" cy="68117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1365509" cy="681171"/>
            </a:xfrm>
            <a:custGeom>
              <a:avLst/>
              <a:gdLst/>
              <a:ahLst/>
              <a:cxnLst/>
              <a:rect r="r" b="b" t="t" l="l"/>
              <a:pathLst>
                <a:path h="681171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81171"/>
                  </a:lnTo>
                  <a:lnTo>
                    <a:pt x="0" y="681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11365508" cy="7859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Manage access to files and directories securely.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987475" y="7808862"/>
            <a:ext cx="647402" cy="647402"/>
            <a:chOff x="0" y="0"/>
            <a:chExt cx="863203" cy="86320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9" id="39"/>
          <p:cNvGrpSpPr/>
          <p:nvPr/>
        </p:nvGrpSpPr>
        <p:grpSpPr>
          <a:xfrm rot="0">
            <a:off x="1908870" y="7630269"/>
            <a:ext cx="4601316" cy="639575"/>
            <a:chOff x="0" y="0"/>
            <a:chExt cx="6135088" cy="852766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135088" cy="852766"/>
            </a:xfrm>
            <a:custGeom>
              <a:avLst/>
              <a:gdLst/>
              <a:ahLst/>
              <a:cxnLst/>
              <a:rect r="r" b="b" t="t" l="l"/>
              <a:pathLst>
                <a:path h="852766" w="6135088">
                  <a:moveTo>
                    <a:pt x="0" y="0"/>
                  </a:moveTo>
                  <a:lnTo>
                    <a:pt x="6135088" y="0"/>
                  </a:lnTo>
                  <a:lnTo>
                    <a:pt x="6135088" y="852766"/>
                  </a:lnTo>
                  <a:lnTo>
                    <a:pt x="0" y="852766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6135088" cy="87181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687"/>
                </a:lnSpc>
              </a:pPr>
              <a:r>
                <a:rPr lang="en-US" sz="29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Volume Shadow Copy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08870" y="8243292"/>
            <a:ext cx="8524131" cy="510879"/>
            <a:chOff x="0" y="0"/>
            <a:chExt cx="11365508" cy="681171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1365509" cy="681171"/>
            </a:xfrm>
            <a:custGeom>
              <a:avLst/>
              <a:gdLst/>
              <a:ahLst/>
              <a:cxnLst/>
              <a:rect r="r" b="b" t="t" l="l"/>
              <a:pathLst>
                <a:path h="681171" w="11365509">
                  <a:moveTo>
                    <a:pt x="0" y="0"/>
                  </a:moveTo>
                  <a:lnTo>
                    <a:pt x="11365509" y="0"/>
                  </a:lnTo>
                  <a:lnTo>
                    <a:pt x="11365509" y="681171"/>
                  </a:lnTo>
                  <a:lnTo>
                    <a:pt x="0" y="68117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04775"/>
              <a:ext cx="11365508" cy="785946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88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Creates snapshots to facilitate backups and recovery.</a:t>
              </a:r>
            </a:p>
          </p:txBody>
        </p:sp>
      </p:grpSp>
      <p:sp>
        <p:nvSpPr>
          <p:cNvPr name="Freeform 45" id="45"/>
          <p:cNvSpPr/>
          <p:nvPr/>
        </p:nvSpPr>
        <p:spPr>
          <a:xfrm flipH="false" flipV="false" rot="0">
            <a:off x="11076243" y="2843024"/>
            <a:ext cx="6657828" cy="4891466"/>
          </a:xfrm>
          <a:custGeom>
            <a:avLst/>
            <a:gdLst/>
            <a:ahLst/>
            <a:cxnLst/>
            <a:rect r="r" b="b" t="t" l="l"/>
            <a:pathLst>
              <a:path h="4891466" w="6657828">
                <a:moveTo>
                  <a:pt x="0" y="0"/>
                </a:moveTo>
                <a:lnTo>
                  <a:pt x="6657828" y="0"/>
                </a:lnTo>
                <a:lnTo>
                  <a:pt x="6657828" y="4891466"/>
                </a:lnTo>
                <a:lnTo>
                  <a:pt x="0" y="489146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028700" y="974972"/>
            <a:ext cx="8324254" cy="1204209"/>
            <a:chOff x="0" y="0"/>
            <a:chExt cx="11099005" cy="16056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99005" cy="1605612"/>
            </a:xfrm>
            <a:custGeom>
              <a:avLst/>
              <a:gdLst/>
              <a:ahLst/>
              <a:cxnLst/>
              <a:rect r="r" b="b" t="t" l="l"/>
              <a:pathLst>
                <a:path h="1605612" w="11099005">
                  <a:moveTo>
                    <a:pt x="0" y="0"/>
                  </a:moveTo>
                  <a:lnTo>
                    <a:pt x="11099005" y="0"/>
                  </a:lnTo>
                  <a:lnTo>
                    <a:pt x="11099005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1099005" cy="1634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NTFS Data Structures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1028700" y="2436356"/>
            <a:ext cx="647402" cy="647402"/>
            <a:chOff x="0" y="0"/>
            <a:chExt cx="863203" cy="86320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139800" y="2494251"/>
            <a:ext cx="425202" cy="783564"/>
            <a:chOff x="0" y="0"/>
            <a:chExt cx="566937" cy="1044752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66937" cy="1044752"/>
            </a:xfrm>
            <a:custGeom>
              <a:avLst/>
              <a:gdLst/>
              <a:ahLst/>
              <a:cxnLst/>
              <a:rect r="r" b="b" t="t" l="l"/>
              <a:pathLst>
                <a:path h="1044752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1044752"/>
                  </a:lnTo>
                  <a:lnTo>
                    <a:pt x="0" y="10447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57150"/>
              <a:ext cx="566937" cy="9876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612"/>
                </a:lnSpc>
              </a:pPr>
              <a:r>
                <a:rPr lang="en-US" sz="3612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1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954857" y="2538453"/>
            <a:ext cx="3544044" cy="654959"/>
            <a:chOff x="0" y="0"/>
            <a:chExt cx="4725392" cy="8732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873279"/>
            </a:xfrm>
            <a:custGeom>
              <a:avLst/>
              <a:gdLst/>
              <a:ahLst/>
              <a:cxnLst/>
              <a:rect r="r" b="b" t="t" l="l"/>
              <a:pathLst>
                <a:path h="87327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725392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MFT Entries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954857" y="3151476"/>
            <a:ext cx="7053262" cy="1054855"/>
            <a:chOff x="0" y="0"/>
            <a:chExt cx="9404350" cy="14064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9404350" cy="1406473"/>
            </a:xfrm>
            <a:custGeom>
              <a:avLst/>
              <a:gdLst/>
              <a:ahLst/>
              <a:cxnLst/>
              <a:rect r="r" b="b" t="t" l="l"/>
              <a:pathLst>
                <a:path h="1406473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406473"/>
                  </a:lnTo>
                  <a:lnTo>
                    <a:pt x="0" y="1406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9404350" cy="15207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Contain metadata, attributes, and data location info.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033463" y="5989778"/>
            <a:ext cx="647403" cy="647402"/>
            <a:chOff x="0" y="0"/>
            <a:chExt cx="863203" cy="863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1144564" y="6047673"/>
            <a:ext cx="425203" cy="783564"/>
            <a:chOff x="0" y="0"/>
            <a:chExt cx="566937" cy="104475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66937" cy="1044752"/>
            </a:xfrm>
            <a:custGeom>
              <a:avLst/>
              <a:gdLst/>
              <a:ahLst/>
              <a:cxnLst/>
              <a:rect r="r" b="b" t="t" l="l"/>
              <a:pathLst>
                <a:path h="1044752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1044752"/>
                  </a:lnTo>
                  <a:lnTo>
                    <a:pt x="0" y="10447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57150"/>
              <a:ext cx="566937" cy="9876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612"/>
                </a:lnSpc>
              </a:pPr>
              <a:r>
                <a:rPr lang="en-US" sz="3612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2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959620" y="6091874"/>
            <a:ext cx="3544044" cy="654959"/>
            <a:chOff x="0" y="0"/>
            <a:chExt cx="4725392" cy="8732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25392" cy="873279"/>
            </a:xfrm>
            <a:custGeom>
              <a:avLst/>
              <a:gdLst/>
              <a:ahLst/>
              <a:cxnLst/>
              <a:rect r="r" b="b" t="t" l="l"/>
              <a:pathLst>
                <a:path h="87327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25392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Data Runs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959620" y="6704898"/>
            <a:ext cx="7053262" cy="540505"/>
            <a:chOff x="0" y="0"/>
            <a:chExt cx="9404350" cy="7206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9404350" cy="720673"/>
            </a:xfrm>
            <a:custGeom>
              <a:avLst/>
              <a:gdLst/>
              <a:ahLst/>
              <a:cxnLst/>
              <a:rect r="r" b="b" t="t" l="l"/>
              <a:pathLst>
                <a:path h="720673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720673"/>
                  </a:lnTo>
                  <a:lnTo>
                    <a:pt x="0" y="7206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9404350" cy="8349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Specify physical locations of file data on disk.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1028700" y="4167376"/>
            <a:ext cx="647402" cy="647402"/>
            <a:chOff x="0" y="0"/>
            <a:chExt cx="863203" cy="86320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36" id="36"/>
          <p:cNvGrpSpPr/>
          <p:nvPr/>
        </p:nvGrpSpPr>
        <p:grpSpPr>
          <a:xfrm rot="0">
            <a:off x="1139800" y="4225271"/>
            <a:ext cx="425202" cy="783564"/>
            <a:chOff x="0" y="0"/>
            <a:chExt cx="566937" cy="1044752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66937" cy="1044752"/>
            </a:xfrm>
            <a:custGeom>
              <a:avLst/>
              <a:gdLst/>
              <a:ahLst/>
              <a:cxnLst/>
              <a:rect r="r" b="b" t="t" l="l"/>
              <a:pathLst>
                <a:path h="1044752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1044752"/>
                  </a:lnTo>
                  <a:lnTo>
                    <a:pt x="0" y="10447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57150"/>
              <a:ext cx="566937" cy="9876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612"/>
                </a:lnSpc>
              </a:pPr>
              <a:r>
                <a:rPr lang="en-US" sz="3612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3</a:t>
              </a:r>
            </a:p>
          </p:txBody>
        </p:sp>
      </p:grpSp>
      <p:grpSp>
        <p:nvGrpSpPr>
          <p:cNvPr name="Group 39" id="39"/>
          <p:cNvGrpSpPr/>
          <p:nvPr/>
        </p:nvGrpSpPr>
        <p:grpSpPr>
          <a:xfrm rot="0">
            <a:off x="1954857" y="4269473"/>
            <a:ext cx="3544044" cy="654959"/>
            <a:chOff x="0" y="0"/>
            <a:chExt cx="4725392" cy="873279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4725392" cy="873279"/>
            </a:xfrm>
            <a:custGeom>
              <a:avLst/>
              <a:gdLst/>
              <a:ahLst/>
              <a:cxnLst/>
              <a:rect r="r" b="b" t="t" l="l"/>
              <a:pathLst>
                <a:path h="87327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1" id="41"/>
            <p:cNvSpPr txBox="true"/>
            <p:nvPr/>
          </p:nvSpPr>
          <p:spPr>
            <a:xfrm>
              <a:off x="0" y="-19050"/>
              <a:ext cx="4725392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Attribute Types</a:t>
              </a:r>
            </a:p>
          </p:txBody>
        </p:sp>
      </p:grpSp>
      <p:grpSp>
        <p:nvGrpSpPr>
          <p:cNvPr name="Group 42" id="42"/>
          <p:cNvGrpSpPr/>
          <p:nvPr/>
        </p:nvGrpSpPr>
        <p:grpSpPr>
          <a:xfrm rot="0">
            <a:off x="1954857" y="4882496"/>
            <a:ext cx="7053262" cy="1054855"/>
            <a:chOff x="0" y="0"/>
            <a:chExt cx="9404350" cy="1406473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9404350" cy="1406473"/>
            </a:xfrm>
            <a:custGeom>
              <a:avLst/>
              <a:gdLst/>
              <a:ahLst/>
              <a:cxnLst/>
              <a:rect r="r" b="b" t="t" l="l"/>
              <a:pathLst>
                <a:path h="1406473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406473"/>
                  </a:lnTo>
                  <a:lnTo>
                    <a:pt x="0" y="1406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4" id="44"/>
            <p:cNvSpPr txBox="true"/>
            <p:nvPr/>
          </p:nvSpPr>
          <p:spPr>
            <a:xfrm>
              <a:off x="0" y="-114300"/>
              <a:ext cx="9404350" cy="15207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Include standard info, filename, data, and security details.</a:t>
              </a:r>
            </a:p>
          </p:txBody>
        </p:sp>
      </p:grpSp>
      <p:grpSp>
        <p:nvGrpSpPr>
          <p:cNvPr name="Group 45" id="45"/>
          <p:cNvGrpSpPr/>
          <p:nvPr/>
        </p:nvGrpSpPr>
        <p:grpSpPr>
          <a:xfrm rot="0">
            <a:off x="1033463" y="7720798"/>
            <a:ext cx="647403" cy="647402"/>
            <a:chOff x="0" y="0"/>
            <a:chExt cx="863203" cy="863203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DADBF1"/>
            </a:solidFill>
          </p:spPr>
        </p:sp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0C1D7"/>
            </a:solidFill>
          </p:spPr>
        </p:sp>
      </p:grpSp>
      <p:grpSp>
        <p:nvGrpSpPr>
          <p:cNvPr name="Group 48" id="48"/>
          <p:cNvGrpSpPr/>
          <p:nvPr/>
        </p:nvGrpSpPr>
        <p:grpSpPr>
          <a:xfrm rot="0">
            <a:off x="1144564" y="7778693"/>
            <a:ext cx="425203" cy="783564"/>
            <a:chOff x="0" y="0"/>
            <a:chExt cx="566937" cy="1044752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566937" cy="1044752"/>
            </a:xfrm>
            <a:custGeom>
              <a:avLst/>
              <a:gdLst/>
              <a:ahLst/>
              <a:cxnLst/>
              <a:rect r="r" b="b" t="t" l="l"/>
              <a:pathLst>
                <a:path h="1044752" w="566937">
                  <a:moveTo>
                    <a:pt x="0" y="0"/>
                  </a:moveTo>
                  <a:lnTo>
                    <a:pt x="566937" y="0"/>
                  </a:lnTo>
                  <a:lnTo>
                    <a:pt x="566937" y="1044752"/>
                  </a:lnTo>
                  <a:lnTo>
                    <a:pt x="0" y="104475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0" id="50"/>
            <p:cNvSpPr txBox="true"/>
            <p:nvPr/>
          </p:nvSpPr>
          <p:spPr>
            <a:xfrm>
              <a:off x="0" y="57150"/>
              <a:ext cx="566937" cy="987602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ctr">
                <a:lnSpc>
                  <a:spcPts val="3612"/>
                </a:lnSpc>
              </a:pPr>
              <a:r>
                <a:rPr lang="en-US" sz="3612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4</a:t>
              </a:r>
            </a:p>
          </p:txBody>
        </p:sp>
      </p:grpSp>
      <p:grpSp>
        <p:nvGrpSpPr>
          <p:cNvPr name="Group 51" id="51"/>
          <p:cNvGrpSpPr/>
          <p:nvPr/>
        </p:nvGrpSpPr>
        <p:grpSpPr>
          <a:xfrm rot="0">
            <a:off x="1959620" y="7676050"/>
            <a:ext cx="3544044" cy="654959"/>
            <a:chOff x="0" y="0"/>
            <a:chExt cx="4725392" cy="873279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4725392" cy="873279"/>
            </a:xfrm>
            <a:custGeom>
              <a:avLst/>
              <a:gdLst/>
              <a:ahLst/>
              <a:cxnLst/>
              <a:rect r="r" b="b" t="t" l="l"/>
              <a:pathLst>
                <a:path h="87327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3" id="53"/>
            <p:cNvSpPr txBox="true"/>
            <p:nvPr/>
          </p:nvSpPr>
          <p:spPr>
            <a:xfrm>
              <a:off x="0" y="-19050"/>
              <a:ext cx="4725392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Indexing</a:t>
              </a:r>
            </a:p>
          </p:txBody>
        </p:sp>
      </p:grpSp>
      <p:grpSp>
        <p:nvGrpSpPr>
          <p:cNvPr name="Group 54" id="54"/>
          <p:cNvGrpSpPr/>
          <p:nvPr/>
        </p:nvGrpSpPr>
        <p:grpSpPr>
          <a:xfrm rot="0">
            <a:off x="1959620" y="8435918"/>
            <a:ext cx="7053262" cy="1054855"/>
            <a:chOff x="0" y="0"/>
            <a:chExt cx="9404350" cy="1406473"/>
          </a:xfrm>
        </p:grpSpPr>
        <p:sp>
          <p:nvSpPr>
            <p:cNvPr name="Freeform 55" id="55"/>
            <p:cNvSpPr/>
            <p:nvPr/>
          </p:nvSpPr>
          <p:spPr>
            <a:xfrm flipH="false" flipV="false" rot="0">
              <a:off x="0" y="0"/>
              <a:ext cx="9404350" cy="1406473"/>
            </a:xfrm>
            <a:custGeom>
              <a:avLst/>
              <a:gdLst/>
              <a:ahLst/>
              <a:cxnLst/>
              <a:rect r="r" b="b" t="t" l="l"/>
              <a:pathLst>
                <a:path h="1406473" w="9404350">
                  <a:moveTo>
                    <a:pt x="0" y="0"/>
                  </a:moveTo>
                  <a:lnTo>
                    <a:pt x="9404350" y="0"/>
                  </a:lnTo>
                  <a:lnTo>
                    <a:pt x="9404350" y="1406473"/>
                  </a:lnTo>
                  <a:lnTo>
                    <a:pt x="0" y="14064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6" id="56"/>
            <p:cNvSpPr txBox="true"/>
            <p:nvPr/>
          </p:nvSpPr>
          <p:spPr>
            <a:xfrm>
              <a:off x="0" y="-114300"/>
              <a:ext cx="9404350" cy="15207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Speeds up file and directory lookups efficiently.</a:t>
              </a:r>
            </a:p>
          </p:txBody>
        </p:sp>
      </p:grpSp>
      <p:sp>
        <p:nvSpPr>
          <p:cNvPr name="Freeform 57" id="57"/>
          <p:cNvSpPr/>
          <p:nvPr/>
        </p:nvSpPr>
        <p:spPr>
          <a:xfrm flipH="false" flipV="false" rot="0">
            <a:off x="9935748" y="2032333"/>
            <a:ext cx="8352252" cy="6277974"/>
          </a:xfrm>
          <a:custGeom>
            <a:avLst/>
            <a:gdLst/>
            <a:ahLst/>
            <a:cxnLst/>
            <a:rect r="r" b="b" t="t" l="l"/>
            <a:pathLst>
              <a:path h="6277974" w="8352252">
                <a:moveTo>
                  <a:pt x="0" y="0"/>
                </a:moveTo>
                <a:lnTo>
                  <a:pt x="8352252" y="0"/>
                </a:lnTo>
                <a:lnTo>
                  <a:pt x="8352252" y="6277973"/>
                </a:lnTo>
                <a:lnTo>
                  <a:pt x="0" y="627797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03" r="0" b="-203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18288000" cy="3473351"/>
          </a:xfrm>
          <a:custGeom>
            <a:avLst/>
            <a:gdLst/>
            <a:ahLst/>
            <a:cxnLst/>
            <a:rect r="r" b="b" t="t" l="l"/>
            <a:pathLst>
              <a:path h="3473351" w="18288000">
                <a:moveTo>
                  <a:pt x="0" y="0"/>
                </a:moveTo>
                <a:lnTo>
                  <a:pt x="18288000" y="0"/>
                </a:lnTo>
                <a:lnTo>
                  <a:pt x="18288000" y="3473351"/>
                </a:lnTo>
                <a:lnTo>
                  <a:pt x="0" y="34733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47" r="0" b="-47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967680" y="4162961"/>
            <a:ext cx="6995369" cy="1173866"/>
            <a:chOff x="0" y="0"/>
            <a:chExt cx="9327158" cy="156515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9327159" cy="1565155"/>
            </a:xfrm>
            <a:custGeom>
              <a:avLst/>
              <a:gdLst/>
              <a:ahLst/>
              <a:cxnLst/>
              <a:rect r="r" b="b" t="t" l="l"/>
              <a:pathLst>
                <a:path h="1565155" w="9327159">
                  <a:moveTo>
                    <a:pt x="0" y="0"/>
                  </a:moveTo>
                  <a:lnTo>
                    <a:pt x="9327159" y="0"/>
                  </a:lnTo>
                  <a:lnTo>
                    <a:pt x="9327159" y="1565155"/>
                  </a:lnTo>
                  <a:lnTo>
                    <a:pt x="0" y="156515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9327158" cy="160325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812"/>
                </a:lnSpc>
              </a:pPr>
              <a:r>
                <a:rPr lang="en-US" sz="5437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NTFS Metadata Files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28700" y="5244852"/>
            <a:ext cx="16352639" cy="4013447"/>
            <a:chOff x="0" y="0"/>
            <a:chExt cx="21803518" cy="535126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803615" cy="5351272"/>
            </a:xfrm>
            <a:custGeom>
              <a:avLst/>
              <a:gdLst/>
              <a:ahLst/>
              <a:cxnLst/>
              <a:rect r="r" b="b" t="t" l="l"/>
              <a:pathLst>
                <a:path h="5351272" w="21803615">
                  <a:moveTo>
                    <a:pt x="0" y="161925"/>
                  </a:moveTo>
                  <a:cubicBezTo>
                    <a:pt x="0" y="72517"/>
                    <a:pt x="72644" y="0"/>
                    <a:pt x="162306" y="0"/>
                  </a:cubicBezTo>
                  <a:lnTo>
                    <a:pt x="21641308" y="0"/>
                  </a:lnTo>
                  <a:lnTo>
                    <a:pt x="21641308" y="6350"/>
                  </a:lnTo>
                  <a:lnTo>
                    <a:pt x="21641308" y="0"/>
                  </a:lnTo>
                  <a:cubicBezTo>
                    <a:pt x="21730844" y="0"/>
                    <a:pt x="21803615" y="72517"/>
                    <a:pt x="21803615" y="161925"/>
                  </a:cubicBezTo>
                  <a:lnTo>
                    <a:pt x="21797265" y="161925"/>
                  </a:lnTo>
                  <a:lnTo>
                    <a:pt x="21803615" y="161925"/>
                  </a:lnTo>
                  <a:lnTo>
                    <a:pt x="21803615" y="5189347"/>
                  </a:lnTo>
                  <a:lnTo>
                    <a:pt x="21797265" y="5189347"/>
                  </a:lnTo>
                  <a:lnTo>
                    <a:pt x="21803615" y="5189347"/>
                  </a:lnTo>
                  <a:cubicBezTo>
                    <a:pt x="21803615" y="5278755"/>
                    <a:pt x="21730971" y="5351272"/>
                    <a:pt x="21641308" y="5351272"/>
                  </a:cubicBezTo>
                  <a:lnTo>
                    <a:pt x="21641308" y="5344922"/>
                  </a:lnTo>
                  <a:lnTo>
                    <a:pt x="21641308" y="5351272"/>
                  </a:lnTo>
                  <a:lnTo>
                    <a:pt x="162306" y="5351272"/>
                  </a:lnTo>
                  <a:lnTo>
                    <a:pt x="162306" y="5344922"/>
                  </a:lnTo>
                  <a:lnTo>
                    <a:pt x="162306" y="5351272"/>
                  </a:lnTo>
                  <a:cubicBezTo>
                    <a:pt x="72644" y="5351272"/>
                    <a:pt x="0" y="5278755"/>
                    <a:pt x="0" y="5189347"/>
                  </a:cubicBezTo>
                  <a:lnTo>
                    <a:pt x="0" y="161925"/>
                  </a:lnTo>
                  <a:lnTo>
                    <a:pt x="6350" y="161925"/>
                  </a:lnTo>
                  <a:lnTo>
                    <a:pt x="0" y="161925"/>
                  </a:lnTo>
                  <a:moveTo>
                    <a:pt x="12700" y="161925"/>
                  </a:moveTo>
                  <a:lnTo>
                    <a:pt x="12700" y="5189347"/>
                  </a:lnTo>
                  <a:lnTo>
                    <a:pt x="6350" y="5189347"/>
                  </a:lnTo>
                  <a:lnTo>
                    <a:pt x="12700" y="5189347"/>
                  </a:lnTo>
                  <a:cubicBezTo>
                    <a:pt x="12700" y="5271770"/>
                    <a:pt x="79629" y="5338572"/>
                    <a:pt x="162306" y="5338572"/>
                  </a:cubicBezTo>
                  <a:lnTo>
                    <a:pt x="21641308" y="5338572"/>
                  </a:lnTo>
                  <a:cubicBezTo>
                    <a:pt x="21723858" y="5338572"/>
                    <a:pt x="21790915" y="5271770"/>
                    <a:pt x="21790915" y="5189347"/>
                  </a:cubicBezTo>
                  <a:lnTo>
                    <a:pt x="21790915" y="161925"/>
                  </a:lnTo>
                  <a:cubicBezTo>
                    <a:pt x="21790915" y="79502"/>
                    <a:pt x="21723986" y="12700"/>
                    <a:pt x="21641308" y="12700"/>
                  </a:cubicBezTo>
                  <a:lnTo>
                    <a:pt x="162306" y="12700"/>
                  </a:lnTo>
                  <a:lnTo>
                    <a:pt x="162306" y="6350"/>
                  </a:lnTo>
                  <a:lnTo>
                    <a:pt x="162306" y="12700"/>
                  </a:lnTo>
                  <a:cubicBezTo>
                    <a:pt x="79629" y="12700"/>
                    <a:pt x="12700" y="79502"/>
                    <a:pt x="12700" y="161925"/>
                  </a:cubicBezTo>
                  <a:close/>
                </a:path>
              </a:pathLst>
            </a:custGeom>
            <a:solidFill>
              <a:srgbClr val="000000">
                <a:alpha val="392"/>
              </a:srgbClr>
            </a:solidFill>
          </p:spPr>
        </p:sp>
      </p:grpSp>
      <p:grpSp>
        <p:nvGrpSpPr>
          <p:cNvPr name="Group 12" id="12"/>
          <p:cNvGrpSpPr/>
          <p:nvPr/>
        </p:nvGrpSpPr>
        <p:grpSpPr>
          <a:xfrm rot="0">
            <a:off x="1042988" y="5259140"/>
            <a:ext cx="16324064" cy="796975"/>
            <a:chOff x="0" y="0"/>
            <a:chExt cx="21765418" cy="106263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1765388" cy="1062609"/>
            </a:xfrm>
            <a:custGeom>
              <a:avLst/>
              <a:gdLst/>
              <a:ahLst/>
              <a:cxnLst/>
              <a:rect r="r" b="b" t="t" l="l"/>
              <a:pathLst>
                <a:path h="1062609" w="21765388">
                  <a:moveTo>
                    <a:pt x="0" y="0"/>
                  </a:moveTo>
                  <a:lnTo>
                    <a:pt x="21765388" y="0"/>
                  </a:lnTo>
                  <a:lnTo>
                    <a:pt x="21765388" y="1062609"/>
                  </a:lnTo>
                  <a:lnTo>
                    <a:pt x="0" y="10626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14" id="14"/>
          <p:cNvGrpSpPr/>
          <p:nvPr/>
        </p:nvGrpSpPr>
        <p:grpSpPr>
          <a:xfrm rot="0">
            <a:off x="1320850" y="5435352"/>
            <a:ext cx="7601545" cy="510017"/>
            <a:chOff x="0" y="0"/>
            <a:chExt cx="10135393" cy="68002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$MFT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9487645" y="5435352"/>
            <a:ext cx="7601545" cy="510017"/>
            <a:chOff x="0" y="0"/>
            <a:chExt cx="10135393" cy="680022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Central database of file metadata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042988" y="6056115"/>
            <a:ext cx="16324064" cy="796975"/>
            <a:chOff x="0" y="0"/>
            <a:chExt cx="21765418" cy="106263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765388" cy="1062609"/>
            </a:xfrm>
            <a:custGeom>
              <a:avLst/>
              <a:gdLst/>
              <a:ahLst/>
              <a:cxnLst/>
              <a:rect r="r" b="b" t="t" l="l"/>
              <a:pathLst>
                <a:path h="1062609" w="21765388">
                  <a:moveTo>
                    <a:pt x="0" y="0"/>
                  </a:moveTo>
                  <a:lnTo>
                    <a:pt x="21765388" y="0"/>
                  </a:lnTo>
                  <a:lnTo>
                    <a:pt x="21765388" y="1062609"/>
                  </a:lnTo>
                  <a:lnTo>
                    <a:pt x="0" y="1062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22" id="22"/>
          <p:cNvGrpSpPr/>
          <p:nvPr/>
        </p:nvGrpSpPr>
        <p:grpSpPr>
          <a:xfrm rot="0">
            <a:off x="1320850" y="6232327"/>
            <a:ext cx="7601545" cy="510017"/>
            <a:chOff x="0" y="0"/>
            <a:chExt cx="10135393" cy="680022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$LogFile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487645" y="6232327"/>
            <a:ext cx="7601545" cy="510017"/>
            <a:chOff x="0" y="0"/>
            <a:chExt cx="10135393" cy="680022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Transaction log for journaling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042988" y="6853090"/>
            <a:ext cx="16324064" cy="796975"/>
            <a:chOff x="0" y="0"/>
            <a:chExt cx="21765418" cy="1062633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1765388" cy="1062609"/>
            </a:xfrm>
            <a:custGeom>
              <a:avLst/>
              <a:gdLst/>
              <a:ahLst/>
              <a:cxnLst/>
              <a:rect r="r" b="b" t="t" l="l"/>
              <a:pathLst>
                <a:path h="1062609" w="21765388">
                  <a:moveTo>
                    <a:pt x="0" y="0"/>
                  </a:moveTo>
                  <a:lnTo>
                    <a:pt x="21765388" y="0"/>
                  </a:lnTo>
                  <a:lnTo>
                    <a:pt x="21765388" y="1062609"/>
                  </a:lnTo>
                  <a:lnTo>
                    <a:pt x="0" y="10626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30" id="30"/>
          <p:cNvGrpSpPr/>
          <p:nvPr/>
        </p:nvGrpSpPr>
        <p:grpSpPr>
          <a:xfrm rot="0">
            <a:off x="1320850" y="7029302"/>
            <a:ext cx="7601545" cy="510017"/>
            <a:chOff x="0" y="0"/>
            <a:chExt cx="10135393" cy="680022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$Volume</a:t>
              </a: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9487645" y="7029302"/>
            <a:ext cx="7601545" cy="510017"/>
            <a:chOff x="0" y="0"/>
            <a:chExt cx="10135393" cy="680022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Holds volume-level metadata</a:t>
              </a: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1042988" y="7650064"/>
            <a:ext cx="16324064" cy="796975"/>
            <a:chOff x="0" y="0"/>
            <a:chExt cx="21765418" cy="1062633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21765388" cy="1062609"/>
            </a:xfrm>
            <a:custGeom>
              <a:avLst/>
              <a:gdLst/>
              <a:ahLst/>
              <a:cxnLst/>
              <a:rect r="r" b="b" t="t" l="l"/>
              <a:pathLst>
                <a:path h="1062609" w="21765388">
                  <a:moveTo>
                    <a:pt x="0" y="0"/>
                  </a:moveTo>
                  <a:lnTo>
                    <a:pt x="21765388" y="0"/>
                  </a:lnTo>
                  <a:lnTo>
                    <a:pt x="21765388" y="1062609"/>
                  </a:lnTo>
                  <a:lnTo>
                    <a:pt x="0" y="106260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</p:grpSp>
      <p:grpSp>
        <p:nvGrpSpPr>
          <p:cNvPr name="Group 38" id="38"/>
          <p:cNvGrpSpPr/>
          <p:nvPr/>
        </p:nvGrpSpPr>
        <p:grpSpPr>
          <a:xfrm rot="0">
            <a:off x="1320850" y="7826276"/>
            <a:ext cx="7601545" cy="510017"/>
            <a:chOff x="0" y="0"/>
            <a:chExt cx="10135393" cy="680022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$AttrDef</a:t>
              </a:r>
            </a:p>
          </p:txBody>
        </p:sp>
      </p:grpSp>
      <p:grpSp>
        <p:nvGrpSpPr>
          <p:cNvPr name="Group 41" id="41"/>
          <p:cNvGrpSpPr/>
          <p:nvPr/>
        </p:nvGrpSpPr>
        <p:grpSpPr>
          <a:xfrm rot="0">
            <a:off x="9487645" y="7826276"/>
            <a:ext cx="7601545" cy="510017"/>
            <a:chOff x="0" y="0"/>
            <a:chExt cx="10135393" cy="680022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3" id="43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Defines attribute types</a:t>
              </a:r>
            </a:p>
          </p:txBody>
        </p:sp>
      </p:grpSp>
      <p:grpSp>
        <p:nvGrpSpPr>
          <p:cNvPr name="Group 44" id="44"/>
          <p:cNvGrpSpPr/>
          <p:nvPr/>
        </p:nvGrpSpPr>
        <p:grpSpPr>
          <a:xfrm rot="0">
            <a:off x="1042988" y="8447039"/>
            <a:ext cx="16324064" cy="796975"/>
            <a:chOff x="0" y="0"/>
            <a:chExt cx="21765418" cy="1062633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1765388" cy="1062609"/>
            </a:xfrm>
            <a:custGeom>
              <a:avLst/>
              <a:gdLst/>
              <a:ahLst/>
              <a:cxnLst/>
              <a:rect r="r" b="b" t="t" l="l"/>
              <a:pathLst>
                <a:path h="1062609" w="21765388">
                  <a:moveTo>
                    <a:pt x="0" y="0"/>
                  </a:moveTo>
                  <a:lnTo>
                    <a:pt x="21765388" y="0"/>
                  </a:lnTo>
                  <a:lnTo>
                    <a:pt x="21765388" y="1062609"/>
                  </a:lnTo>
                  <a:lnTo>
                    <a:pt x="0" y="1062609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</p:spPr>
        </p:sp>
      </p:grpSp>
      <p:grpSp>
        <p:nvGrpSpPr>
          <p:cNvPr name="Group 46" id="46"/>
          <p:cNvGrpSpPr/>
          <p:nvPr/>
        </p:nvGrpSpPr>
        <p:grpSpPr>
          <a:xfrm rot="0">
            <a:off x="1320850" y="8623251"/>
            <a:ext cx="7601545" cy="510017"/>
            <a:chOff x="0" y="0"/>
            <a:chExt cx="10135393" cy="680022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$Bitmap</a:t>
              </a:r>
            </a:p>
          </p:txBody>
        </p:sp>
      </p:grpSp>
      <p:grpSp>
        <p:nvGrpSpPr>
          <p:cNvPr name="Group 49" id="49"/>
          <p:cNvGrpSpPr/>
          <p:nvPr/>
        </p:nvGrpSpPr>
        <p:grpSpPr>
          <a:xfrm rot="0">
            <a:off x="9487645" y="8623251"/>
            <a:ext cx="7601545" cy="510017"/>
            <a:chOff x="0" y="0"/>
            <a:chExt cx="10135393" cy="680022"/>
          </a:xfrm>
        </p:grpSpPr>
        <p:sp>
          <p:nvSpPr>
            <p:cNvPr name="Freeform 50" id="50"/>
            <p:cNvSpPr/>
            <p:nvPr/>
          </p:nvSpPr>
          <p:spPr>
            <a:xfrm flipH="false" flipV="false" rot="0">
              <a:off x="0" y="0"/>
              <a:ext cx="10135393" cy="680022"/>
            </a:xfrm>
            <a:custGeom>
              <a:avLst/>
              <a:gdLst/>
              <a:ahLst/>
              <a:cxnLst/>
              <a:rect r="r" b="b" t="t" l="l"/>
              <a:pathLst>
                <a:path h="680022" w="10135393">
                  <a:moveTo>
                    <a:pt x="0" y="0"/>
                  </a:moveTo>
                  <a:lnTo>
                    <a:pt x="10135393" y="0"/>
                  </a:lnTo>
                  <a:lnTo>
                    <a:pt x="10135393" y="680022"/>
                  </a:lnTo>
                  <a:lnTo>
                    <a:pt x="0" y="68002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51" id="51"/>
            <p:cNvSpPr txBox="true"/>
            <p:nvPr/>
          </p:nvSpPr>
          <p:spPr>
            <a:xfrm>
              <a:off x="0" y="-104775"/>
              <a:ext cx="10135393" cy="78479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9"/>
                </a:lnSpc>
              </a:pPr>
              <a:r>
                <a:rPr lang="en-US" sz="23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Tracks volume allocation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992237" y="1740456"/>
            <a:ext cx="11826143" cy="1204209"/>
            <a:chOff x="0" y="0"/>
            <a:chExt cx="15768191" cy="160561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768191" cy="1605612"/>
            </a:xfrm>
            <a:custGeom>
              <a:avLst/>
              <a:gdLst/>
              <a:ahLst/>
              <a:cxnLst/>
              <a:rect r="r" b="b" t="t" l="l"/>
              <a:pathLst>
                <a:path h="1605612" w="15768191">
                  <a:moveTo>
                    <a:pt x="0" y="0"/>
                  </a:moveTo>
                  <a:lnTo>
                    <a:pt x="15768191" y="0"/>
                  </a:lnTo>
                  <a:lnTo>
                    <a:pt x="15768191" y="1605612"/>
                  </a:lnTo>
                  <a:lnTo>
                    <a:pt x="0" y="1605612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768191" cy="1634187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937"/>
                </a:lnSpc>
              </a:pPr>
              <a:r>
                <a:rPr lang="en-US" sz="55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Role of NTFS in Digital Forensics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992238" y="4224536"/>
            <a:ext cx="3859632" cy="654959"/>
            <a:chOff x="0" y="0"/>
            <a:chExt cx="5146176" cy="87327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5146177" cy="873279"/>
            </a:xfrm>
            <a:custGeom>
              <a:avLst/>
              <a:gdLst/>
              <a:ahLst/>
              <a:cxnLst/>
              <a:rect r="r" b="b" t="t" l="l"/>
              <a:pathLst>
                <a:path h="873279" w="5146177">
                  <a:moveTo>
                    <a:pt x="0" y="0"/>
                  </a:moveTo>
                  <a:lnTo>
                    <a:pt x="5146177" y="0"/>
                  </a:lnTo>
                  <a:lnTo>
                    <a:pt x="5146177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19050"/>
              <a:ext cx="5146176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Metadata Richness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92238" y="4950966"/>
            <a:ext cx="3556993" cy="1569205"/>
            <a:chOff x="0" y="0"/>
            <a:chExt cx="4742657" cy="2092273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4742657" cy="2092273"/>
            </a:xfrm>
            <a:custGeom>
              <a:avLst/>
              <a:gdLst/>
              <a:ahLst/>
              <a:cxnLst/>
              <a:rect r="r" b="b" t="t" l="l"/>
              <a:pathLst>
                <a:path h="209227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092273"/>
                  </a:lnTo>
                  <a:lnTo>
                    <a:pt x="0" y="2092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114300"/>
              <a:ext cx="4742657" cy="22065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Timestamps and file attributes aid investigations.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5250508" y="4224536"/>
            <a:ext cx="3544044" cy="654959"/>
            <a:chOff x="0" y="0"/>
            <a:chExt cx="4725392" cy="87327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725392" cy="873279"/>
            </a:xfrm>
            <a:custGeom>
              <a:avLst/>
              <a:gdLst/>
              <a:ahLst/>
              <a:cxnLst/>
              <a:rect r="r" b="b" t="t" l="l"/>
              <a:pathLst>
                <a:path h="87327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19050"/>
              <a:ext cx="4725392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File Slack Space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5250508" y="4950966"/>
            <a:ext cx="3556993" cy="1569205"/>
            <a:chOff x="0" y="0"/>
            <a:chExt cx="4742657" cy="2092273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742657" cy="2092273"/>
            </a:xfrm>
            <a:custGeom>
              <a:avLst/>
              <a:gdLst/>
              <a:ahLst/>
              <a:cxnLst/>
              <a:rect r="r" b="b" t="t" l="l"/>
              <a:pathLst>
                <a:path h="209227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092273"/>
                  </a:lnTo>
                  <a:lnTo>
                    <a:pt x="0" y="2092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14300"/>
              <a:ext cx="4742657" cy="22065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Potential hiding place for deleted or hidden data.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508777" y="4224536"/>
            <a:ext cx="3544044" cy="654959"/>
            <a:chOff x="0" y="0"/>
            <a:chExt cx="4725392" cy="87327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725392" cy="873279"/>
            </a:xfrm>
            <a:custGeom>
              <a:avLst/>
              <a:gdLst/>
              <a:ahLst/>
              <a:cxnLst/>
              <a:rect r="r" b="b" t="t" l="l"/>
              <a:pathLst>
                <a:path h="873279" w="4725392">
                  <a:moveTo>
                    <a:pt x="0" y="0"/>
                  </a:moveTo>
                  <a:lnTo>
                    <a:pt x="4725392" y="0"/>
                  </a:lnTo>
                  <a:lnTo>
                    <a:pt x="4725392" y="873279"/>
                  </a:lnTo>
                  <a:lnTo>
                    <a:pt x="0" y="87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19050"/>
              <a:ext cx="4725392" cy="892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Journaling Logs</a:t>
              </a: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9508778" y="4950966"/>
            <a:ext cx="3556993" cy="1569205"/>
            <a:chOff x="0" y="0"/>
            <a:chExt cx="4742657" cy="2092273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4742657" cy="2092273"/>
            </a:xfrm>
            <a:custGeom>
              <a:avLst/>
              <a:gdLst/>
              <a:ahLst/>
              <a:cxnLst/>
              <a:rect r="r" b="b" t="t" l="l"/>
              <a:pathLst>
                <a:path h="209227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092273"/>
                  </a:lnTo>
                  <a:lnTo>
                    <a:pt x="0" y="2092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114300"/>
              <a:ext cx="4742657" cy="22065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Track file system changes and user activity.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13767047" y="4224536"/>
            <a:ext cx="3556992" cy="1131209"/>
            <a:chOff x="0" y="0"/>
            <a:chExt cx="4742657" cy="1508279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42657" cy="1508279"/>
            </a:xfrm>
            <a:custGeom>
              <a:avLst/>
              <a:gdLst/>
              <a:ahLst/>
              <a:cxnLst/>
              <a:rect r="r" b="b" t="t" l="l"/>
              <a:pathLst>
                <a:path h="1508279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1508279"/>
                  </a:lnTo>
                  <a:lnTo>
                    <a:pt x="0" y="1508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-19050"/>
              <a:ext cx="4742657" cy="1527329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812"/>
                </a:lnSpc>
              </a:pPr>
              <a:r>
                <a:rPr lang="en-US" sz="3049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Volume Shadow Copies</a:t>
              </a: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3767047" y="5393879"/>
            <a:ext cx="3556992" cy="1569205"/>
            <a:chOff x="0" y="0"/>
            <a:chExt cx="4742657" cy="209227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742657" cy="2092273"/>
            </a:xfrm>
            <a:custGeom>
              <a:avLst/>
              <a:gdLst/>
              <a:ahLst/>
              <a:cxnLst/>
              <a:rect r="r" b="b" t="t" l="l"/>
              <a:pathLst>
                <a:path h="2092273" w="4742657">
                  <a:moveTo>
                    <a:pt x="0" y="0"/>
                  </a:moveTo>
                  <a:lnTo>
                    <a:pt x="4742657" y="0"/>
                  </a:lnTo>
                  <a:lnTo>
                    <a:pt x="4742657" y="2092273"/>
                  </a:lnTo>
                  <a:lnTo>
                    <a:pt x="0" y="20922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-114300"/>
              <a:ext cx="4742657" cy="2206573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4051"/>
                </a:lnSpc>
              </a:pPr>
              <a:r>
                <a:rPr lang="en-US" sz="2487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Access previous versions for evidence recovery.</a:t>
              </a:r>
            </a:p>
          </p:txBody>
        </p:sp>
      </p:grpSp>
      <p:sp>
        <p:nvSpPr>
          <p:cNvPr name="Freeform 33" id="33"/>
          <p:cNvSpPr/>
          <p:nvPr/>
        </p:nvSpPr>
        <p:spPr>
          <a:xfrm flipH="false" flipV="false" rot="0">
            <a:off x="16201520" y="1028700"/>
            <a:ext cx="1057780" cy="1057780"/>
          </a:xfrm>
          <a:custGeom>
            <a:avLst/>
            <a:gdLst/>
            <a:ahLst/>
            <a:cxnLst/>
            <a:rect r="r" b="b" t="t" l="l"/>
            <a:pathLst>
              <a:path h="1057780" w="1057780">
                <a:moveTo>
                  <a:pt x="0" y="0"/>
                </a:moveTo>
                <a:lnTo>
                  <a:pt x="1057780" y="0"/>
                </a:lnTo>
                <a:lnTo>
                  <a:pt x="1057780" y="1057780"/>
                </a:lnTo>
                <a:lnTo>
                  <a:pt x="0" y="10577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6F4F4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name="Freeform 6" id="6" descr="preencoded.png"/>
          <p:cNvSpPr/>
          <p:nvPr/>
        </p:nvSpPr>
        <p:spPr>
          <a:xfrm flipH="false" flipV="false" rot="0">
            <a:off x="0" y="0"/>
            <a:ext cx="6858000" cy="10287595"/>
          </a:xfrm>
          <a:custGeom>
            <a:avLst/>
            <a:gdLst/>
            <a:ahLst/>
            <a:cxnLst/>
            <a:rect r="r" b="b" t="t" l="l"/>
            <a:pathLst>
              <a:path h="10287595" w="6858000">
                <a:moveTo>
                  <a:pt x="0" y="0"/>
                </a:moveTo>
                <a:lnTo>
                  <a:pt x="6858000" y="0"/>
                </a:lnTo>
                <a:lnTo>
                  <a:pt x="6858000" y="10287595"/>
                </a:lnTo>
                <a:lnTo>
                  <a:pt x="0" y="102875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" t="0" r="-2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7630715" y="779412"/>
            <a:ext cx="9628585" cy="1608832"/>
            <a:chOff x="0" y="0"/>
            <a:chExt cx="12838113" cy="214511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2838113" cy="2145110"/>
            </a:xfrm>
            <a:custGeom>
              <a:avLst/>
              <a:gdLst/>
              <a:ahLst/>
              <a:cxnLst/>
              <a:rect r="r" b="b" t="t" l="l"/>
              <a:pathLst>
                <a:path h="2145110" w="12838113">
                  <a:moveTo>
                    <a:pt x="0" y="0"/>
                  </a:moveTo>
                  <a:lnTo>
                    <a:pt x="12838113" y="0"/>
                  </a:lnTo>
                  <a:lnTo>
                    <a:pt x="12838113" y="2145110"/>
                  </a:lnTo>
                  <a:lnTo>
                    <a:pt x="0" y="214511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12838113" cy="218321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6312"/>
                </a:lnSpc>
              </a:pPr>
              <a:r>
                <a:rPr lang="en-US" sz="5062" b="true">
                  <a:solidFill>
                    <a:srgbClr val="000000"/>
                  </a:solidFill>
                  <a:latin typeface="Inter Bold"/>
                  <a:ea typeface="Inter Bold"/>
                  <a:cs typeface="Inter Bold"/>
                  <a:sym typeface="Inter Bold"/>
                </a:rPr>
                <a:t>Recent Developments and Forensics Tools</a:t>
              </a:r>
            </a:p>
          </p:txBody>
        </p:sp>
      </p:grpSp>
      <p:sp>
        <p:nvSpPr>
          <p:cNvPr name="Freeform 10" id="10" descr="preencoded.png"/>
          <p:cNvSpPr/>
          <p:nvPr/>
        </p:nvSpPr>
        <p:spPr>
          <a:xfrm flipH="false" flipV="false" rot="0">
            <a:off x="7758707" y="2702570"/>
            <a:ext cx="1286916" cy="1544241"/>
          </a:xfrm>
          <a:custGeom>
            <a:avLst/>
            <a:gdLst/>
            <a:ahLst/>
            <a:cxnLst/>
            <a:rect r="r" b="b" t="t" l="l"/>
            <a:pathLst>
              <a:path h="1544241" w="1286916">
                <a:moveTo>
                  <a:pt x="0" y="0"/>
                </a:moveTo>
                <a:lnTo>
                  <a:pt x="1286917" y="0"/>
                </a:lnTo>
                <a:lnTo>
                  <a:pt x="1286917" y="1544241"/>
                </a:lnTo>
                <a:lnTo>
                  <a:pt x="0" y="154424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" r="0" b="-1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9431685" y="2959894"/>
            <a:ext cx="3217217" cy="586827"/>
            <a:chOff x="0" y="0"/>
            <a:chExt cx="4289623" cy="7824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89623" cy="782435"/>
            </a:xfrm>
            <a:custGeom>
              <a:avLst/>
              <a:gdLst/>
              <a:ahLst/>
              <a:cxnLst/>
              <a:rect r="r" b="b" t="t" l="l"/>
              <a:pathLst>
                <a:path h="782435" w="4289623">
                  <a:moveTo>
                    <a:pt x="0" y="0"/>
                  </a:moveTo>
                  <a:lnTo>
                    <a:pt x="4289623" y="0"/>
                  </a:lnTo>
                  <a:lnTo>
                    <a:pt x="4289623" y="782435"/>
                  </a:lnTo>
                  <a:lnTo>
                    <a:pt x="0" y="782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19050"/>
              <a:ext cx="4289623" cy="8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700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NTFS Today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9431685" y="3516362"/>
            <a:ext cx="7955607" cy="909161"/>
            <a:chOff x="0" y="0"/>
            <a:chExt cx="10607477" cy="121221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607477" cy="1212215"/>
            </a:xfrm>
            <a:custGeom>
              <a:avLst/>
              <a:gdLst/>
              <a:ahLst/>
              <a:cxnLst/>
              <a:rect r="r" b="b" t="t" l="l"/>
              <a:pathLst>
                <a:path h="1212215" w="10607477">
                  <a:moveTo>
                    <a:pt x="0" y="0"/>
                  </a:moveTo>
                  <a:lnTo>
                    <a:pt x="10607477" y="0"/>
                  </a:lnTo>
                  <a:lnTo>
                    <a:pt x="10607477" y="1212215"/>
                  </a:lnTo>
                  <a:lnTo>
                    <a:pt x="0" y="1212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85725"/>
              <a:ext cx="10607477" cy="1297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06"/>
                </a:lnSpc>
              </a:pPr>
              <a:r>
                <a:rPr lang="en-US" sz="21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Still dominant on Windows OS drives, despite new file systems.</a:t>
              </a:r>
            </a:p>
          </p:txBody>
        </p:sp>
      </p:grpSp>
      <p:sp>
        <p:nvSpPr>
          <p:cNvPr name="Freeform 17" id="17" descr="preencoded.png"/>
          <p:cNvSpPr/>
          <p:nvPr/>
        </p:nvSpPr>
        <p:spPr>
          <a:xfrm flipH="false" flipV="false" rot="0">
            <a:off x="7758707" y="4246810"/>
            <a:ext cx="1286916" cy="1894434"/>
          </a:xfrm>
          <a:custGeom>
            <a:avLst/>
            <a:gdLst/>
            <a:ahLst/>
            <a:cxnLst/>
            <a:rect r="r" b="b" t="t" l="l"/>
            <a:pathLst>
              <a:path h="1894434" w="1286916">
                <a:moveTo>
                  <a:pt x="0" y="0"/>
                </a:moveTo>
                <a:lnTo>
                  <a:pt x="1286917" y="0"/>
                </a:lnTo>
                <a:lnTo>
                  <a:pt x="1286917" y="1894434"/>
                </a:lnTo>
                <a:lnTo>
                  <a:pt x="0" y="18944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67" r="0" b="-67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9431685" y="4504135"/>
            <a:ext cx="3217217" cy="586827"/>
            <a:chOff x="0" y="0"/>
            <a:chExt cx="4289623" cy="78243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289623" cy="782435"/>
            </a:xfrm>
            <a:custGeom>
              <a:avLst/>
              <a:gdLst/>
              <a:ahLst/>
              <a:cxnLst/>
              <a:rect r="r" b="b" t="t" l="l"/>
              <a:pathLst>
                <a:path h="782435" w="4289623">
                  <a:moveTo>
                    <a:pt x="0" y="0"/>
                  </a:moveTo>
                  <a:lnTo>
                    <a:pt x="4289623" y="0"/>
                  </a:lnTo>
                  <a:lnTo>
                    <a:pt x="4289623" y="782435"/>
                  </a:lnTo>
                  <a:lnTo>
                    <a:pt x="0" y="782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19050"/>
              <a:ext cx="4289623" cy="8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700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Forensic Tools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431685" y="5060603"/>
            <a:ext cx="7955607" cy="909161"/>
            <a:chOff x="0" y="0"/>
            <a:chExt cx="10607477" cy="121221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607477" cy="1212215"/>
            </a:xfrm>
            <a:custGeom>
              <a:avLst/>
              <a:gdLst/>
              <a:ahLst/>
              <a:cxnLst/>
              <a:rect r="r" b="b" t="t" l="l"/>
              <a:pathLst>
                <a:path h="1212215" w="10607477">
                  <a:moveTo>
                    <a:pt x="0" y="0"/>
                  </a:moveTo>
                  <a:lnTo>
                    <a:pt x="10607477" y="0"/>
                  </a:lnTo>
                  <a:lnTo>
                    <a:pt x="10607477" y="1212215"/>
                  </a:lnTo>
                  <a:lnTo>
                    <a:pt x="0" y="1212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85725"/>
              <a:ext cx="10607477" cy="1297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06"/>
                </a:lnSpc>
              </a:pPr>
              <a:r>
                <a:rPr lang="en-US" sz="21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Tools like Autopsy, EnCase, and FTK Imager handle NTFS analysis.</a:t>
              </a:r>
            </a:p>
          </p:txBody>
        </p:sp>
      </p:grpSp>
      <p:sp>
        <p:nvSpPr>
          <p:cNvPr name="Freeform 24" id="24" descr="preencoded.png"/>
          <p:cNvSpPr/>
          <p:nvPr/>
        </p:nvSpPr>
        <p:spPr>
          <a:xfrm flipH="false" flipV="false" rot="0">
            <a:off x="7758707" y="6141244"/>
            <a:ext cx="1286916" cy="1894434"/>
          </a:xfrm>
          <a:custGeom>
            <a:avLst/>
            <a:gdLst/>
            <a:ahLst/>
            <a:cxnLst/>
            <a:rect r="r" b="b" t="t" l="l"/>
            <a:pathLst>
              <a:path h="1894434" w="1286916">
                <a:moveTo>
                  <a:pt x="0" y="0"/>
                </a:moveTo>
                <a:lnTo>
                  <a:pt x="1286917" y="0"/>
                </a:lnTo>
                <a:lnTo>
                  <a:pt x="1286917" y="1894434"/>
                </a:lnTo>
                <a:lnTo>
                  <a:pt x="0" y="189443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-67" r="0" b="-67"/>
            </a:stretch>
          </a:blipFill>
        </p:spPr>
      </p:sp>
      <p:grpSp>
        <p:nvGrpSpPr>
          <p:cNvPr name="Group 25" id="25"/>
          <p:cNvGrpSpPr/>
          <p:nvPr/>
        </p:nvGrpSpPr>
        <p:grpSpPr>
          <a:xfrm rot="0">
            <a:off x="9431685" y="6398568"/>
            <a:ext cx="3217217" cy="586827"/>
            <a:chOff x="0" y="0"/>
            <a:chExt cx="4289623" cy="78243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289623" cy="782435"/>
            </a:xfrm>
            <a:custGeom>
              <a:avLst/>
              <a:gdLst/>
              <a:ahLst/>
              <a:cxnLst/>
              <a:rect r="r" b="b" t="t" l="l"/>
              <a:pathLst>
                <a:path h="782435" w="4289623">
                  <a:moveTo>
                    <a:pt x="0" y="0"/>
                  </a:moveTo>
                  <a:lnTo>
                    <a:pt x="4289623" y="0"/>
                  </a:lnTo>
                  <a:lnTo>
                    <a:pt x="4289623" y="782435"/>
                  </a:lnTo>
                  <a:lnTo>
                    <a:pt x="0" y="782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19050"/>
              <a:ext cx="4289623" cy="8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700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Challenges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9431685" y="6955036"/>
            <a:ext cx="7955607" cy="909161"/>
            <a:chOff x="0" y="0"/>
            <a:chExt cx="10607477" cy="121221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0607477" cy="1212215"/>
            </a:xfrm>
            <a:custGeom>
              <a:avLst/>
              <a:gdLst/>
              <a:ahLst/>
              <a:cxnLst/>
              <a:rect r="r" b="b" t="t" l="l"/>
              <a:pathLst>
                <a:path h="1212215" w="10607477">
                  <a:moveTo>
                    <a:pt x="0" y="0"/>
                  </a:moveTo>
                  <a:lnTo>
                    <a:pt x="10607477" y="0"/>
                  </a:lnTo>
                  <a:lnTo>
                    <a:pt x="10607477" y="1212215"/>
                  </a:lnTo>
                  <a:lnTo>
                    <a:pt x="0" y="12122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85725"/>
              <a:ext cx="10607477" cy="12979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06"/>
                </a:lnSpc>
              </a:pPr>
              <a:r>
                <a:rPr lang="en-US" sz="21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Encrypted files and anti-forensic methods complicate investigations.</a:t>
              </a:r>
            </a:p>
          </p:txBody>
        </p:sp>
      </p:grpSp>
      <p:sp>
        <p:nvSpPr>
          <p:cNvPr name="Freeform 31" id="31" descr="preencoded.png"/>
          <p:cNvSpPr/>
          <p:nvPr/>
        </p:nvSpPr>
        <p:spPr>
          <a:xfrm flipH="false" flipV="false" rot="0">
            <a:off x="7758707" y="8035677"/>
            <a:ext cx="1286916" cy="1544241"/>
          </a:xfrm>
          <a:custGeom>
            <a:avLst/>
            <a:gdLst/>
            <a:ahLst/>
            <a:cxnLst/>
            <a:rect r="r" b="b" t="t" l="l"/>
            <a:pathLst>
              <a:path h="1544241" w="1286916">
                <a:moveTo>
                  <a:pt x="0" y="0"/>
                </a:moveTo>
                <a:lnTo>
                  <a:pt x="1286917" y="0"/>
                </a:lnTo>
                <a:lnTo>
                  <a:pt x="1286917" y="1544242"/>
                </a:lnTo>
                <a:lnTo>
                  <a:pt x="0" y="154424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-1" r="0" b="-1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9431685" y="8293001"/>
            <a:ext cx="3217217" cy="586827"/>
            <a:chOff x="0" y="0"/>
            <a:chExt cx="4289623" cy="78243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289623" cy="782435"/>
            </a:xfrm>
            <a:custGeom>
              <a:avLst/>
              <a:gdLst/>
              <a:ahLst/>
              <a:cxnLst/>
              <a:rect r="r" b="b" t="t" l="l"/>
              <a:pathLst>
                <a:path h="782435" w="4289623">
                  <a:moveTo>
                    <a:pt x="0" y="0"/>
                  </a:moveTo>
                  <a:lnTo>
                    <a:pt x="4289623" y="0"/>
                  </a:lnTo>
                  <a:lnTo>
                    <a:pt x="4289623" y="782435"/>
                  </a:lnTo>
                  <a:lnTo>
                    <a:pt x="0" y="78243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19050"/>
              <a:ext cx="4289623" cy="801485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375"/>
                </a:lnSpc>
              </a:pPr>
              <a:r>
                <a:rPr lang="en-US" sz="2700" b="true">
                  <a:solidFill>
                    <a:srgbClr val="272525"/>
                  </a:solidFill>
                  <a:latin typeface="Inter Bold"/>
                  <a:ea typeface="Inter Bold"/>
                  <a:cs typeface="Inter Bold"/>
                  <a:sym typeface="Inter Bold"/>
                </a:rPr>
                <a:t>New File Systems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9431685" y="8849469"/>
            <a:ext cx="7955607" cy="471011"/>
            <a:chOff x="0" y="0"/>
            <a:chExt cx="10607477" cy="628015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607477" cy="628015"/>
            </a:xfrm>
            <a:custGeom>
              <a:avLst/>
              <a:gdLst/>
              <a:ahLst/>
              <a:cxnLst/>
              <a:rect r="r" b="b" t="t" l="l"/>
              <a:pathLst>
                <a:path h="628015" w="10607477">
                  <a:moveTo>
                    <a:pt x="0" y="0"/>
                  </a:moveTo>
                  <a:lnTo>
                    <a:pt x="10607477" y="0"/>
                  </a:lnTo>
                  <a:lnTo>
                    <a:pt x="10607477" y="628015"/>
                  </a:lnTo>
                  <a:lnTo>
                    <a:pt x="0" y="628015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85725"/>
              <a:ext cx="10607477" cy="713740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3506"/>
                </a:lnSpc>
              </a:pPr>
              <a:r>
                <a:rPr lang="en-US" sz="2199">
                  <a:solidFill>
                    <a:srgbClr val="272525"/>
                  </a:solidFill>
                  <a:latin typeface="Inter"/>
                  <a:ea typeface="Inter"/>
                  <a:cs typeface="Inter"/>
                  <a:sym typeface="Inter"/>
                </a:rPr>
                <a:t>ReFS offers resilience but NTFS remains widely used.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DAGnzddV6MI</dc:identifier>
  <dcterms:modified xsi:type="dcterms:W3CDTF">2011-08-01T06:04:30Z</dcterms:modified>
  <cp:revision>1</cp:revision>
  <dc:title>NTFS - A deep dive.pptx</dc:title>
</cp:coreProperties>
</file>
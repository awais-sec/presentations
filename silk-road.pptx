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0" r:id="rId4"/>
    <p:sldId id="271" r:id="rId5"/>
    <p:sldId id="261" r:id="rId6"/>
    <p:sldId id="262" r:id="rId7"/>
    <p:sldId id="263" r:id="rId8"/>
    <p:sldId id="265" r:id="rId9"/>
    <p:sldId id="266" r:id="rId10"/>
    <p:sldId id="269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Barlow Bold" panose="00000800000000000000" pitchFamily="2" charset="0"/>
      <p:bold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303" autoAdjust="0"/>
  </p:normalViewPr>
  <p:slideViewPr>
    <p:cSldViewPr>
      <p:cViewPr varScale="1">
        <p:scale>
          <a:sx n="58" d="100"/>
          <a:sy n="58" d="100"/>
        </p:scale>
        <p:origin x="9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BC53-C4C8-0A2A-02BD-03500C5D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AB3D5D-AF82-0A49-AC2C-6F0658A1B4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7B8E5-F023-837C-5E0B-5A6D99AAAE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FF61B67-7F8C-639D-C8E5-35E7C01A6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B81773-073B-26E6-8CF8-18292E7C9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097C9-D156-176C-A2A2-C0F79832F1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5C277-29E2-9BA4-46FE-F02B1BB82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875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5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0237" y="2343894"/>
            <a:ext cx="9445526" cy="2008667"/>
            <a:chOff x="0" y="0"/>
            <a:chExt cx="12594035" cy="26782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94035" cy="2678223"/>
            </a:xfrm>
            <a:custGeom>
              <a:avLst/>
              <a:gdLst/>
              <a:ahLst/>
              <a:cxnLst/>
              <a:rect l="l" t="t" r="r" b="b"/>
              <a:pathLst>
                <a:path w="12594035" h="2678223">
                  <a:moveTo>
                    <a:pt x="0" y="0"/>
                  </a:moveTo>
                  <a:lnTo>
                    <a:pt x="12594035" y="0"/>
                  </a:lnTo>
                  <a:lnTo>
                    <a:pt x="12594035" y="2678223"/>
                  </a:lnTo>
                  <a:lnTo>
                    <a:pt x="0" y="26782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594035" cy="27353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Silk Road Case: Unveiling Cyber Fraud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0237" y="4541044"/>
            <a:ext cx="9445526" cy="1360885"/>
            <a:chOff x="0" y="0"/>
            <a:chExt cx="12594035" cy="1814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5" cy="1814513"/>
            </a:xfrm>
            <a:custGeom>
              <a:avLst/>
              <a:gdLst/>
              <a:ahLst/>
              <a:cxnLst/>
              <a:rect l="l" t="t" r="r" b="b"/>
              <a:pathLst>
                <a:path w="12594035" h="1814513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594035" cy="19192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Explore the Silk Road case, a landmark in cybercrime history. This presentation highlights the convergence of technology, crime, and law enforcement in the digital age.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87904" y="7633990"/>
            <a:ext cx="178296" cy="121890"/>
            <a:chOff x="0" y="0"/>
            <a:chExt cx="237728" cy="162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7728" cy="162520"/>
            </a:xfrm>
            <a:custGeom>
              <a:avLst/>
              <a:gdLst/>
              <a:ahLst/>
              <a:cxnLst/>
              <a:rect l="l" t="t" r="r" b="b"/>
              <a:pathLst>
                <a:path w="237728" h="162520">
                  <a:moveTo>
                    <a:pt x="0" y="0"/>
                  </a:moveTo>
                  <a:lnTo>
                    <a:pt x="237728" y="0"/>
                  </a:lnTo>
                  <a:lnTo>
                    <a:pt x="237728" y="162520"/>
                  </a:lnTo>
                  <a:lnTo>
                    <a:pt x="0" y="162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37728" cy="1625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37"/>
                </a:lnSpc>
              </a:pPr>
              <a:r>
                <a:rPr lang="en-US" sz="93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66200" y="6763280"/>
            <a:ext cx="4863157" cy="555827"/>
            <a:chOff x="0" y="0"/>
            <a:chExt cx="6484209" cy="7411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84209" cy="741102"/>
            </a:xfrm>
            <a:custGeom>
              <a:avLst/>
              <a:gdLst/>
              <a:ahLst/>
              <a:cxnLst/>
              <a:rect l="l" t="t" r="r" b="b"/>
              <a:pathLst>
                <a:path w="6484209" h="741102">
                  <a:moveTo>
                    <a:pt x="0" y="0"/>
                  </a:moveTo>
                  <a:lnTo>
                    <a:pt x="6484209" y="0"/>
                  </a:lnTo>
                  <a:lnTo>
                    <a:pt x="6484209" y="741102"/>
                  </a:lnTo>
                  <a:lnTo>
                    <a:pt x="0" y="741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484209" cy="8173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4"/>
                </a:lnSpc>
              </a:pPr>
              <a:r>
                <a:rPr lang="en-US" sz="2750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Presented by:</a:t>
              </a:r>
              <a:r>
                <a:rPr lang="en-US" sz="2750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Awais Ahmed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5818" y="1903878"/>
            <a:ext cx="4902688" cy="6635217"/>
          </a:xfrm>
          <a:custGeom>
            <a:avLst/>
            <a:gdLst/>
            <a:ahLst/>
            <a:cxnLst/>
            <a:rect l="l" t="t" r="r" b="b"/>
            <a:pathLst>
              <a:path w="4902688" h="6635217">
                <a:moveTo>
                  <a:pt x="0" y="0"/>
                </a:moveTo>
                <a:lnTo>
                  <a:pt x="4902688" y="0"/>
                </a:lnTo>
                <a:lnTo>
                  <a:pt x="4902688" y="6635217"/>
                </a:lnTo>
                <a:lnTo>
                  <a:pt x="0" y="6635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7" y="2820591"/>
            <a:ext cx="10646567" cy="885974"/>
            <a:chOff x="0" y="0"/>
            <a:chExt cx="12516048" cy="1181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16048" cy="1181298"/>
            </a:xfrm>
            <a:custGeom>
              <a:avLst/>
              <a:gdLst/>
              <a:ahLst/>
              <a:cxnLst/>
              <a:rect l="l" t="t" r="r" b="b"/>
              <a:pathLst>
                <a:path w="12516048" h="1181298">
                  <a:moveTo>
                    <a:pt x="0" y="0"/>
                  </a:moveTo>
                  <a:lnTo>
                    <a:pt x="12516048" y="0"/>
                  </a:lnTo>
                  <a:lnTo>
                    <a:pt x="1251604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516048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Emergence of Darknet Market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7" y="4202683"/>
            <a:ext cx="3544044" cy="442912"/>
            <a:chOff x="0" y="0"/>
            <a:chExt cx="4725392" cy="590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Visionary Beginnings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5141714"/>
            <a:ext cx="4972645" cy="907256"/>
            <a:chOff x="0" y="0"/>
            <a:chExt cx="6630193" cy="12096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dirty="0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envisioned a platform promoting anonymity.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8" y="6304061"/>
            <a:ext cx="4972645" cy="907256"/>
            <a:chOff x="0" y="0"/>
            <a:chExt cx="6630193" cy="1209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He wanted decentralized commerce free from regulation.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66160" y="4415284"/>
            <a:ext cx="3544044" cy="442912"/>
            <a:chOff x="0" y="0"/>
            <a:chExt cx="4725392" cy="590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Strategic Launch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6160" y="5141714"/>
            <a:ext cx="4972645" cy="907256"/>
            <a:chOff x="0" y="0"/>
            <a:chExt cx="6630193" cy="12096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Launched in February 2011, integrated Tor and Bitcoin.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6160" y="6304061"/>
            <a:ext cx="4972645" cy="907256"/>
            <a:chOff x="0" y="0"/>
            <a:chExt cx="6630193" cy="1209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The initial server was located in Iceland, leveraging privacy laws.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40084" y="4415284"/>
            <a:ext cx="3544044" cy="442912"/>
            <a:chOff x="0" y="0"/>
            <a:chExt cx="4725392" cy="5905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Illicit Focus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40084" y="5141714"/>
            <a:ext cx="4972645" cy="907256"/>
            <a:chOff x="0" y="0"/>
            <a:chExt cx="6630193" cy="12096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The early growth focused on illicit goods and services.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0084" y="6304061"/>
            <a:ext cx="4972645" cy="907256"/>
            <a:chOff x="0" y="0"/>
            <a:chExt cx="6630193" cy="12096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This attracted a user base seeking unregulated transactions.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6536619" y="8202336"/>
            <a:ext cx="1046180" cy="1415883"/>
          </a:xfrm>
          <a:custGeom>
            <a:avLst/>
            <a:gdLst/>
            <a:ahLst/>
            <a:cxnLst/>
            <a:rect l="l" t="t" r="r" b="b"/>
            <a:pathLst>
              <a:path w="1046180" h="1415883">
                <a:moveTo>
                  <a:pt x="0" y="0"/>
                </a:moveTo>
                <a:lnTo>
                  <a:pt x="1046181" y="0"/>
                </a:lnTo>
                <a:lnTo>
                  <a:pt x="1046181" y="1415883"/>
                </a:lnTo>
                <a:lnTo>
                  <a:pt x="0" y="141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CC47-05BA-1DDB-2C99-10F98F8E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>
            <a:extLst>
              <a:ext uri="{FF2B5EF4-FFF2-40B4-BE49-F238E27FC236}">
                <a16:creationId xmlns:a16="http://schemas.microsoft.com/office/drawing/2014/main" id="{A088D7FE-2E1D-F0FC-2EBD-BE4D27823BE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409296-9487-6E8F-D006-E3C2CFD5750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DABAA3-F5ED-AFD1-BE26-090DDA99287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CBEDDB6-1F44-42E3-531D-C18A1DC60249}"/>
              </a:ext>
            </a:extLst>
          </p:cNvPr>
          <p:cNvGrpSpPr/>
          <p:nvPr/>
        </p:nvGrpSpPr>
        <p:grpSpPr>
          <a:xfrm>
            <a:off x="992237" y="2820591"/>
            <a:ext cx="10646567" cy="885974"/>
            <a:chOff x="0" y="0"/>
            <a:chExt cx="12516048" cy="118129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4681161-1B9A-ED1D-1C56-73D9CC8922EE}"/>
                </a:ext>
              </a:extLst>
            </p:cNvPr>
            <p:cNvSpPr/>
            <p:nvPr/>
          </p:nvSpPr>
          <p:spPr>
            <a:xfrm>
              <a:off x="0" y="0"/>
              <a:ext cx="12516048" cy="1181298"/>
            </a:xfrm>
            <a:custGeom>
              <a:avLst/>
              <a:gdLst/>
              <a:ahLst/>
              <a:cxnLst/>
              <a:rect l="l" t="t" r="r" b="b"/>
              <a:pathLst>
                <a:path w="12516048" h="1181298">
                  <a:moveTo>
                    <a:pt x="0" y="0"/>
                  </a:moveTo>
                  <a:lnTo>
                    <a:pt x="12516048" y="0"/>
                  </a:lnTo>
                  <a:lnTo>
                    <a:pt x="1251604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AC63A53-42D2-BBB8-F872-07806954DDAE}"/>
                </a:ext>
              </a:extLst>
            </p:cNvPr>
            <p:cNvSpPr txBox="1"/>
            <p:nvPr/>
          </p:nvSpPr>
          <p:spPr>
            <a:xfrm>
              <a:off x="0" y="-57150"/>
              <a:ext cx="12516048" cy="12384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Rise to Fame &amp; Scale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2FAEEDB-3B84-52DC-D2A8-2C9E0394C093}"/>
              </a:ext>
            </a:extLst>
          </p:cNvPr>
          <p:cNvGrpSpPr/>
          <p:nvPr/>
        </p:nvGrpSpPr>
        <p:grpSpPr>
          <a:xfrm>
            <a:off x="992238" y="4415284"/>
            <a:ext cx="3544044" cy="442912"/>
            <a:chOff x="0" y="0"/>
            <a:chExt cx="4725392" cy="5905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6713C12-DDAC-9D9A-F13D-D9EFE907F2F3}"/>
                </a:ext>
              </a:extLst>
            </p:cNvPr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7239A8B-B43F-B257-9B65-AC9BAB69EB65}"/>
                </a:ext>
              </a:extLst>
            </p:cNvPr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Community Buzz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FA339F1-7A3D-07B4-CA22-0E7F2F6D3609}"/>
              </a:ext>
            </a:extLst>
          </p:cNvPr>
          <p:cNvGrpSpPr/>
          <p:nvPr/>
        </p:nvGrpSpPr>
        <p:grpSpPr>
          <a:xfrm>
            <a:off x="2558878" y="4432995"/>
            <a:ext cx="4972645" cy="907256"/>
            <a:chOff x="0" y="0"/>
            <a:chExt cx="6630193" cy="120967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48245D8-1FA3-52B4-AEF5-973564A1BE67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BC28586-DE25-789B-6E88-EEDCA021768A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424F150-90E9-FB52-AE9E-C7DE690D8CB1}"/>
              </a:ext>
            </a:extLst>
          </p:cNvPr>
          <p:cNvGrpSpPr/>
          <p:nvPr/>
        </p:nvGrpSpPr>
        <p:grpSpPr>
          <a:xfrm>
            <a:off x="992238" y="6304061"/>
            <a:ext cx="4972645" cy="907256"/>
            <a:chOff x="0" y="0"/>
            <a:chExt cx="6630193" cy="120967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7BC9566-3D4F-B60D-78D7-464D93A5042C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D64EE8B-841F-E7BF-CFCF-7E95F9ECDE56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C6BC912-B2CF-69AC-D5CF-1C57828AA595}"/>
              </a:ext>
            </a:extLst>
          </p:cNvPr>
          <p:cNvGrpSpPr/>
          <p:nvPr/>
        </p:nvGrpSpPr>
        <p:grpSpPr>
          <a:xfrm>
            <a:off x="4536282" y="5730433"/>
            <a:ext cx="3544044" cy="442912"/>
            <a:chOff x="0" y="0"/>
            <a:chExt cx="4725392" cy="59055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6EED0EB-29BD-C430-8314-0936C563999D}"/>
                </a:ext>
              </a:extLst>
            </p:cNvPr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088FA09-DAF8-F9D4-C0D0-4A23266300BE}"/>
                </a:ext>
              </a:extLst>
            </p:cNvPr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Transaction Volume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A6CF6DD1-8A10-2229-5F08-3F7E48164247}"/>
              </a:ext>
            </a:extLst>
          </p:cNvPr>
          <p:cNvGrpSpPr/>
          <p:nvPr/>
        </p:nvGrpSpPr>
        <p:grpSpPr>
          <a:xfrm>
            <a:off x="6666160" y="5141714"/>
            <a:ext cx="4972645" cy="907256"/>
            <a:chOff x="0" y="0"/>
            <a:chExt cx="6630193" cy="1209675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5E123D-DF77-9303-1F23-A5487CAAF087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1AAC472-652B-927E-E2F6-87A05011E422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EB9A8975-1722-CA14-9CF0-F1C7D7FBC8FE}"/>
              </a:ext>
            </a:extLst>
          </p:cNvPr>
          <p:cNvGrpSpPr/>
          <p:nvPr/>
        </p:nvGrpSpPr>
        <p:grpSpPr>
          <a:xfrm>
            <a:off x="6666160" y="6304061"/>
            <a:ext cx="4972645" cy="907256"/>
            <a:chOff x="0" y="0"/>
            <a:chExt cx="6630193" cy="1209675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0890E4F-0216-92CF-03A3-A3A306584D20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78D64566-38C9-AE3D-C9DF-CBD44FFA03CC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04D4BA19-2B61-AFA6-455B-64A78975B403}"/>
              </a:ext>
            </a:extLst>
          </p:cNvPr>
          <p:cNvGrpSpPr/>
          <p:nvPr/>
        </p:nvGrpSpPr>
        <p:grpSpPr>
          <a:xfrm>
            <a:off x="8755629" y="4415284"/>
            <a:ext cx="7128499" cy="3031776"/>
            <a:chOff x="-4779273" y="0"/>
            <a:chExt cx="9504665" cy="4042373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C1C1411-F550-81FC-1D20-B20FD069B85C}"/>
                </a:ext>
              </a:extLst>
            </p:cNvPr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9EFD3F20-F7CC-B743-A4B8-BBECCC0D1950}"/>
                </a:ext>
              </a:extLst>
            </p:cNvPr>
            <p:cNvSpPr txBox="1"/>
            <p:nvPr/>
          </p:nvSpPr>
          <p:spPr>
            <a:xfrm>
              <a:off x="-4779273" y="3413723"/>
              <a:ext cx="4725392" cy="628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 dirty="0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Risks &amp; Frauds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4BC3F539-2897-8F5C-84E7-3DDC522A9A5A}"/>
              </a:ext>
            </a:extLst>
          </p:cNvPr>
          <p:cNvGrpSpPr/>
          <p:nvPr/>
        </p:nvGrpSpPr>
        <p:grpSpPr>
          <a:xfrm>
            <a:off x="12340084" y="5141714"/>
            <a:ext cx="4972645" cy="907256"/>
            <a:chOff x="0" y="0"/>
            <a:chExt cx="6630193" cy="1209675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54322DFD-B031-CD0C-6D16-6EC9283E98B7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5CC61A42-188D-FDB0-BF34-45EE851F8E83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6E5802AA-36A3-4DEC-E627-8EF0B266BA20}"/>
              </a:ext>
            </a:extLst>
          </p:cNvPr>
          <p:cNvGrpSpPr/>
          <p:nvPr/>
        </p:nvGrpSpPr>
        <p:grpSpPr>
          <a:xfrm>
            <a:off x="12340084" y="6304061"/>
            <a:ext cx="4972645" cy="907256"/>
            <a:chOff x="0" y="0"/>
            <a:chExt cx="6630193" cy="1209675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88E2C75-0931-1516-2358-8F8681675282}"/>
                </a:ext>
              </a:extLst>
            </p:cNvPr>
            <p:cNvSpPr/>
            <p:nvPr/>
          </p:nvSpPr>
          <p:spPr>
            <a:xfrm>
              <a:off x="0" y="0"/>
              <a:ext cx="6630193" cy="1209675"/>
            </a:xfrm>
            <a:custGeom>
              <a:avLst/>
              <a:gdLst/>
              <a:ahLst/>
              <a:cxnLst/>
              <a:rect l="l" t="t" r="r" b="b"/>
              <a:pathLst>
                <a:path w="6630193" h="1209675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8368D171-5573-27F3-5CEE-FF5B6490DB86}"/>
                </a:ext>
              </a:extLst>
            </p:cNvPr>
            <p:cNvSpPr txBox="1"/>
            <p:nvPr/>
          </p:nvSpPr>
          <p:spPr>
            <a:xfrm>
              <a:off x="0" y="-104775"/>
              <a:ext cx="6630193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endParaRPr lang="en-US" sz="218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EF014156-D597-219B-4E32-A8D31BCAD8E9}"/>
              </a:ext>
            </a:extLst>
          </p:cNvPr>
          <p:cNvSpPr/>
          <p:nvPr/>
        </p:nvSpPr>
        <p:spPr>
          <a:xfrm>
            <a:off x="16536619" y="8202336"/>
            <a:ext cx="1046180" cy="1415883"/>
          </a:xfrm>
          <a:custGeom>
            <a:avLst/>
            <a:gdLst/>
            <a:ahLst/>
            <a:cxnLst/>
            <a:rect l="l" t="t" r="r" b="b"/>
            <a:pathLst>
              <a:path w="1046180" h="1415883">
                <a:moveTo>
                  <a:pt x="0" y="0"/>
                </a:moveTo>
                <a:lnTo>
                  <a:pt x="1046181" y="0"/>
                </a:lnTo>
                <a:lnTo>
                  <a:pt x="1046181" y="1415883"/>
                </a:lnTo>
                <a:lnTo>
                  <a:pt x="0" y="141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0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0"/>
            <a:ext cx="72009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7886" y="2324695"/>
            <a:ext cx="8202663" cy="89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000"/>
              </a:lnSpc>
            </a:pPr>
            <a:r>
              <a:rPr lang="en-US" sz="5563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U.S. Agencies Take Notice</a:t>
            </a:r>
            <a:endParaRPr lang="en-US" sz="5563" dirty="0"/>
          </a:p>
        </p:txBody>
      </p:sp>
      <p:sp>
        <p:nvSpPr>
          <p:cNvPr id="4" name="Shape 1"/>
          <p:cNvSpPr/>
          <p:nvPr/>
        </p:nvSpPr>
        <p:spPr>
          <a:xfrm>
            <a:off x="947887" y="3621733"/>
            <a:ext cx="4631829" cy="2468315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228131" y="3901977"/>
            <a:ext cx="3563391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Analysis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228130" y="4509641"/>
            <a:ext cx="4071343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125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IRS detects unusual Bitcoin movements tied to suspicious activity.</a:t>
            </a:r>
            <a:endParaRPr lang="en-US" sz="2125" dirty="0"/>
          </a:p>
        </p:txBody>
      </p:sp>
      <p:sp>
        <p:nvSpPr>
          <p:cNvPr id="7" name="Shape 4"/>
          <p:cNvSpPr/>
          <p:nvPr/>
        </p:nvSpPr>
        <p:spPr>
          <a:xfrm>
            <a:off x="5850434" y="3621733"/>
            <a:ext cx="4631829" cy="2468315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30678" y="3901977"/>
            <a:ext cx="3563391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Multiagency Effort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6130677" y="4509641"/>
            <a:ext cx="407134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125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Homeland Security, the FBI, DEA, IRS-CI, and even the Secret Service</a:t>
            </a:r>
            <a:endParaRPr lang="en-US" sz="2125" dirty="0"/>
          </a:p>
        </p:txBody>
      </p:sp>
      <p:sp>
        <p:nvSpPr>
          <p:cNvPr id="10" name="Shape 7"/>
          <p:cNvSpPr/>
          <p:nvPr/>
        </p:nvSpPr>
        <p:spPr>
          <a:xfrm>
            <a:off x="947886" y="6360765"/>
            <a:ext cx="9534228" cy="1601540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28131" y="6641009"/>
            <a:ext cx="3563391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Tor Origin Concern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1228131" y="7248674"/>
            <a:ext cx="8973741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125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Tor’s roots in U.S. Navy tech raise additional security interest.</a:t>
            </a:r>
            <a:endParaRPr lang="en-US" sz="2125" dirty="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ECA5CD7-4F91-E978-CF0D-EEC6044F6ABC}"/>
              </a:ext>
            </a:extLst>
          </p:cNvPr>
          <p:cNvSpPr/>
          <p:nvPr/>
        </p:nvSpPr>
        <p:spPr>
          <a:xfrm>
            <a:off x="15816559" y="1229239"/>
            <a:ext cx="2486619" cy="3081796"/>
          </a:xfrm>
          <a:custGeom>
            <a:avLst/>
            <a:gdLst/>
            <a:ahLst/>
            <a:cxnLst/>
            <a:rect l="l" t="t" r="r" b="b"/>
            <a:pathLst>
              <a:path w="5283282" h="6458729">
                <a:moveTo>
                  <a:pt x="0" y="0"/>
                </a:moveTo>
                <a:lnTo>
                  <a:pt x="5283282" y="0"/>
                </a:lnTo>
                <a:lnTo>
                  <a:pt x="5283282" y="6458728"/>
                </a:lnTo>
                <a:lnTo>
                  <a:pt x="0" y="6458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38" r="-34922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340001"/>
          </a:xfrm>
          <a:custGeom>
            <a:avLst/>
            <a:gdLst/>
            <a:ahLst/>
            <a:cxnLst/>
            <a:rect l="l" t="t" r="r" b="b"/>
            <a:pathLst>
              <a:path w="18288000" h="3340001">
                <a:moveTo>
                  <a:pt x="0" y="0"/>
                </a:moveTo>
                <a:lnTo>
                  <a:pt x="18288000" y="0"/>
                </a:lnTo>
                <a:lnTo>
                  <a:pt x="18288000" y="3340001"/>
                </a:lnTo>
                <a:lnTo>
                  <a:pt x="0" y="3340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9" b="-4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35088" y="4289821"/>
            <a:ext cx="7798742" cy="1068484"/>
            <a:chOff x="0" y="0"/>
            <a:chExt cx="10398323" cy="14246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98323" cy="1424645"/>
            </a:xfrm>
            <a:custGeom>
              <a:avLst/>
              <a:gdLst/>
              <a:ahLst/>
              <a:cxnLst/>
              <a:rect l="l" t="t" r="r" b="b"/>
              <a:pathLst>
                <a:path w="10398323" h="1424645">
                  <a:moveTo>
                    <a:pt x="0" y="0"/>
                  </a:moveTo>
                  <a:lnTo>
                    <a:pt x="10398323" y="0"/>
                  </a:lnTo>
                  <a:lnTo>
                    <a:pt x="10398323" y="1424645"/>
                  </a:lnTo>
                  <a:lnTo>
                    <a:pt x="0" y="14246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398323" cy="14722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62"/>
                </a:lnSpc>
              </a:pPr>
              <a:r>
                <a:rPr lang="en-US" sz="5250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Operation Marco Polo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325" y="5520779"/>
            <a:ext cx="8084939" cy="1995488"/>
            <a:chOff x="0" y="0"/>
            <a:chExt cx="10779918" cy="2660650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10767187" cy="2647950"/>
            </a:xfrm>
            <a:custGeom>
              <a:avLst/>
              <a:gdLst/>
              <a:ahLst/>
              <a:cxnLst/>
              <a:rect l="l" t="t" r="r" b="b"/>
              <a:pathLst>
                <a:path w="10767187" h="2647950">
                  <a:moveTo>
                    <a:pt x="0" y="149606"/>
                  </a:moveTo>
                  <a:cubicBezTo>
                    <a:pt x="0" y="67056"/>
                    <a:pt x="67183" y="0"/>
                    <a:pt x="150114" y="0"/>
                  </a:cubicBezTo>
                  <a:lnTo>
                    <a:pt x="10617073" y="0"/>
                  </a:lnTo>
                  <a:cubicBezTo>
                    <a:pt x="10700004" y="0"/>
                    <a:pt x="10767187" y="67056"/>
                    <a:pt x="10767187" y="149606"/>
                  </a:cubicBezTo>
                  <a:lnTo>
                    <a:pt x="10767187" y="2498344"/>
                  </a:lnTo>
                  <a:cubicBezTo>
                    <a:pt x="10767187" y="2581021"/>
                    <a:pt x="10700004" y="2647950"/>
                    <a:pt x="10617073" y="2647950"/>
                  </a:cubicBezTo>
                  <a:lnTo>
                    <a:pt x="150114" y="2647950"/>
                  </a:lnTo>
                  <a:cubicBezTo>
                    <a:pt x="67183" y="2647950"/>
                    <a:pt x="0" y="2580894"/>
                    <a:pt x="0" y="2498344"/>
                  </a:cubicBez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0779887" cy="2660650"/>
            </a:xfrm>
            <a:custGeom>
              <a:avLst/>
              <a:gdLst/>
              <a:ahLst/>
              <a:cxnLst/>
              <a:rect l="l" t="t" r="r" b="b"/>
              <a:pathLst>
                <a:path w="10779887" h="2660650">
                  <a:moveTo>
                    <a:pt x="0" y="155956"/>
                  </a:moveTo>
                  <a:cubicBezTo>
                    <a:pt x="0" y="69850"/>
                    <a:pt x="70104" y="0"/>
                    <a:pt x="156464" y="0"/>
                  </a:cubicBezTo>
                  <a:lnTo>
                    <a:pt x="10623423" y="0"/>
                  </a:lnTo>
                  <a:lnTo>
                    <a:pt x="10623423" y="6350"/>
                  </a:lnTo>
                  <a:lnTo>
                    <a:pt x="10623423" y="0"/>
                  </a:lnTo>
                  <a:cubicBezTo>
                    <a:pt x="10709910" y="0"/>
                    <a:pt x="10779887" y="69850"/>
                    <a:pt x="10779887" y="155956"/>
                  </a:cubicBezTo>
                  <a:lnTo>
                    <a:pt x="10773537" y="155956"/>
                  </a:lnTo>
                  <a:lnTo>
                    <a:pt x="10779887" y="155956"/>
                  </a:lnTo>
                  <a:lnTo>
                    <a:pt x="10779887" y="2504694"/>
                  </a:lnTo>
                  <a:lnTo>
                    <a:pt x="10773537" y="2504694"/>
                  </a:lnTo>
                  <a:lnTo>
                    <a:pt x="10779887" y="2504694"/>
                  </a:lnTo>
                  <a:cubicBezTo>
                    <a:pt x="10779887" y="2590927"/>
                    <a:pt x="10709783" y="2660650"/>
                    <a:pt x="10623423" y="2660650"/>
                  </a:cubicBezTo>
                  <a:lnTo>
                    <a:pt x="10623423" y="2654300"/>
                  </a:lnTo>
                  <a:lnTo>
                    <a:pt x="10623423" y="2660650"/>
                  </a:lnTo>
                  <a:lnTo>
                    <a:pt x="156464" y="2660650"/>
                  </a:lnTo>
                  <a:lnTo>
                    <a:pt x="156464" y="2654300"/>
                  </a:lnTo>
                  <a:lnTo>
                    <a:pt x="156464" y="2660650"/>
                  </a:lnTo>
                  <a:cubicBezTo>
                    <a:pt x="70104" y="2660650"/>
                    <a:pt x="0" y="2590800"/>
                    <a:pt x="0" y="2504694"/>
                  </a:cubicBezTo>
                  <a:lnTo>
                    <a:pt x="0" y="155956"/>
                  </a:lnTo>
                  <a:lnTo>
                    <a:pt x="6350" y="155956"/>
                  </a:lnTo>
                  <a:lnTo>
                    <a:pt x="0" y="155956"/>
                  </a:lnTo>
                  <a:moveTo>
                    <a:pt x="12700" y="155956"/>
                  </a:moveTo>
                  <a:lnTo>
                    <a:pt x="12700" y="2504694"/>
                  </a:lnTo>
                  <a:lnTo>
                    <a:pt x="6350" y="2504694"/>
                  </a:lnTo>
                  <a:lnTo>
                    <a:pt x="12700" y="2504694"/>
                  </a:lnTo>
                  <a:cubicBezTo>
                    <a:pt x="12700" y="2583815"/>
                    <a:pt x="77089" y="2647950"/>
                    <a:pt x="156464" y="2647950"/>
                  </a:cubicBezTo>
                  <a:lnTo>
                    <a:pt x="10623423" y="2647950"/>
                  </a:lnTo>
                  <a:cubicBezTo>
                    <a:pt x="10702925" y="2647950"/>
                    <a:pt x="10767187" y="2583815"/>
                    <a:pt x="10767187" y="2504694"/>
                  </a:cubicBezTo>
                  <a:lnTo>
                    <a:pt x="10767187" y="155956"/>
                  </a:lnTo>
                  <a:cubicBezTo>
                    <a:pt x="10767187" y="76835"/>
                    <a:pt x="10702798" y="12700"/>
                    <a:pt x="10623423" y="12700"/>
                  </a:cubicBezTo>
                  <a:lnTo>
                    <a:pt x="156464" y="12700"/>
                  </a:lnTo>
                  <a:lnTo>
                    <a:pt x="156464" y="6350"/>
                  </a:lnTo>
                  <a:lnTo>
                    <a:pt x="156464" y="12700"/>
                  </a:lnTo>
                  <a:cubicBezTo>
                    <a:pt x="77089" y="12700"/>
                    <a:pt x="12700" y="76835"/>
                    <a:pt x="12700" y="155956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1759" y="5802214"/>
            <a:ext cx="3340001" cy="417463"/>
            <a:chOff x="0" y="0"/>
            <a:chExt cx="4453335" cy="5566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53335" cy="556617"/>
            </a:xfrm>
            <a:custGeom>
              <a:avLst/>
              <a:gdLst/>
              <a:ahLst/>
              <a:cxnLst/>
              <a:rect l="l" t="t" r="r" b="b"/>
              <a:pathLst>
                <a:path w="4453335" h="556617">
                  <a:moveTo>
                    <a:pt x="0" y="0"/>
                  </a:moveTo>
                  <a:lnTo>
                    <a:pt x="4453335" y="0"/>
                  </a:lnTo>
                  <a:lnTo>
                    <a:pt x="4453335" y="556617"/>
                  </a:lnTo>
                  <a:lnTo>
                    <a:pt x="0" y="556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453335" cy="585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Collaboration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1759" y="6379964"/>
            <a:ext cx="7522071" cy="953582"/>
            <a:chOff x="0" y="0"/>
            <a:chExt cx="10029428" cy="12714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29428" cy="1271443"/>
            </a:xfrm>
            <a:custGeom>
              <a:avLst/>
              <a:gdLst/>
              <a:ahLst/>
              <a:cxnLst/>
              <a:rect l="l" t="t" r="r" b="b"/>
              <a:pathLst>
                <a:path w="10029428" h="1271443">
                  <a:moveTo>
                    <a:pt x="0" y="0"/>
                  </a:moveTo>
                  <a:lnTo>
                    <a:pt x="10029428" y="0"/>
                  </a:lnTo>
                  <a:lnTo>
                    <a:pt x="10029428" y="1271443"/>
                  </a:lnTo>
                  <a:lnTo>
                    <a:pt x="0" y="12714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0029428" cy="13666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94"/>
                </a:lnSpc>
              </a:pPr>
              <a:r>
                <a:rPr lang="en-US" sz="23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Multi-agency collaboration: FBI, DEA, IRS, international partners.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72885" y="5520779"/>
            <a:ext cx="8084939" cy="1995488"/>
            <a:chOff x="0" y="0"/>
            <a:chExt cx="10779918" cy="2660650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767187" cy="2647950"/>
            </a:xfrm>
            <a:custGeom>
              <a:avLst/>
              <a:gdLst/>
              <a:ahLst/>
              <a:cxnLst/>
              <a:rect l="l" t="t" r="r" b="b"/>
              <a:pathLst>
                <a:path w="10767187" h="2647950">
                  <a:moveTo>
                    <a:pt x="0" y="149606"/>
                  </a:moveTo>
                  <a:cubicBezTo>
                    <a:pt x="0" y="67056"/>
                    <a:pt x="67183" y="0"/>
                    <a:pt x="150114" y="0"/>
                  </a:cubicBezTo>
                  <a:lnTo>
                    <a:pt x="10617073" y="0"/>
                  </a:lnTo>
                  <a:cubicBezTo>
                    <a:pt x="10700004" y="0"/>
                    <a:pt x="10767187" y="67056"/>
                    <a:pt x="10767187" y="149606"/>
                  </a:cubicBezTo>
                  <a:lnTo>
                    <a:pt x="10767187" y="2498344"/>
                  </a:lnTo>
                  <a:cubicBezTo>
                    <a:pt x="10767187" y="2581021"/>
                    <a:pt x="10700004" y="2647950"/>
                    <a:pt x="10617073" y="2647950"/>
                  </a:cubicBezTo>
                  <a:lnTo>
                    <a:pt x="150114" y="2647950"/>
                  </a:lnTo>
                  <a:cubicBezTo>
                    <a:pt x="67183" y="2647950"/>
                    <a:pt x="0" y="2580894"/>
                    <a:pt x="0" y="2498344"/>
                  </a:cubicBez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779887" cy="2660650"/>
            </a:xfrm>
            <a:custGeom>
              <a:avLst/>
              <a:gdLst/>
              <a:ahLst/>
              <a:cxnLst/>
              <a:rect l="l" t="t" r="r" b="b"/>
              <a:pathLst>
                <a:path w="10779887" h="2660650">
                  <a:moveTo>
                    <a:pt x="0" y="155956"/>
                  </a:moveTo>
                  <a:cubicBezTo>
                    <a:pt x="0" y="69850"/>
                    <a:pt x="70104" y="0"/>
                    <a:pt x="156464" y="0"/>
                  </a:cubicBezTo>
                  <a:lnTo>
                    <a:pt x="10623423" y="0"/>
                  </a:lnTo>
                  <a:lnTo>
                    <a:pt x="10623423" y="6350"/>
                  </a:lnTo>
                  <a:lnTo>
                    <a:pt x="10623423" y="0"/>
                  </a:lnTo>
                  <a:cubicBezTo>
                    <a:pt x="10709910" y="0"/>
                    <a:pt x="10779887" y="69850"/>
                    <a:pt x="10779887" y="155956"/>
                  </a:cubicBezTo>
                  <a:lnTo>
                    <a:pt x="10773537" y="155956"/>
                  </a:lnTo>
                  <a:lnTo>
                    <a:pt x="10779887" y="155956"/>
                  </a:lnTo>
                  <a:lnTo>
                    <a:pt x="10779887" y="2504694"/>
                  </a:lnTo>
                  <a:lnTo>
                    <a:pt x="10773537" y="2504694"/>
                  </a:lnTo>
                  <a:lnTo>
                    <a:pt x="10779887" y="2504694"/>
                  </a:lnTo>
                  <a:cubicBezTo>
                    <a:pt x="10779887" y="2590927"/>
                    <a:pt x="10709783" y="2660650"/>
                    <a:pt x="10623423" y="2660650"/>
                  </a:cubicBezTo>
                  <a:lnTo>
                    <a:pt x="10623423" y="2654300"/>
                  </a:lnTo>
                  <a:lnTo>
                    <a:pt x="10623423" y="2660650"/>
                  </a:lnTo>
                  <a:lnTo>
                    <a:pt x="156464" y="2660650"/>
                  </a:lnTo>
                  <a:lnTo>
                    <a:pt x="156464" y="2654300"/>
                  </a:lnTo>
                  <a:lnTo>
                    <a:pt x="156464" y="2660650"/>
                  </a:lnTo>
                  <a:cubicBezTo>
                    <a:pt x="70104" y="2660650"/>
                    <a:pt x="0" y="2590800"/>
                    <a:pt x="0" y="2504694"/>
                  </a:cubicBezTo>
                  <a:lnTo>
                    <a:pt x="0" y="155956"/>
                  </a:lnTo>
                  <a:lnTo>
                    <a:pt x="6350" y="155956"/>
                  </a:lnTo>
                  <a:lnTo>
                    <a:pt x="0" y="155956"/>
                  </a:lnTo>
                  <a:moveTo>
                    <a:pt x="12700" y="155956"/>
                  </a:moveTo>
                  <a:lnTo>
                    <a:pt x="12700" y="2504694"/>
                  </a:lnTo>
                  <a:lnTo>
                    <a:pt x="6350" y="2504694"/>
                  </a:lnTo>
                  <a:lnTo>
                    <a:pt x="12700" y="2504694"/>
                  </a:lnTo>
                  <a:cubicBezTo>
                    <a:pt x="12700" y="2583815"/>
                    <a:pt x="77089" y="2647950"/>
                    <a:pt x="156464" y="2647950"/>
                  </a:cubicBezTo>
                  <a:lnTo>
                    <a:pt x="10623423" y="2647950"/>
                  </a:lnTo>
                  <a:cubicBezTo>
                    <a:pt x="10702925" y="2647950"/>
                    <a:pt x="10767187" y="2583815"/>
                    <a:pt x="10767187" y="2504694"/>
                  </a:cubicBezTo>
                  <a:lnTo>
                    <a:pt x="10767187" y="155956"/>
                  </a:lnTo>
                  <a:cubicBezTo>
                    <a:pt x="10767187" y="76835"/>
                    <a:pt x="10702798" y="12700"/>
                    <a:pt x="10623423" y="12700"/>
                  </a:cubicBezTo>
                  <a:lnTo>
                    <a:pt x="156464" y="12700"/>
                  </a:lnTo>
                  <a:lnTo>
                    <a:pt x="156464" y="6350"/>
                  </a:lnTo>
                  <a:lnTo>
                    <a:pt x="156464" y="12700"/>
                  </a:lnTo>
                  <a:cubicBezTo>
                    <a:pt x="77089" y="12700"/>
                    <a:pt x="12700" y="76835"/>
                    <a:pt x="12700" y="155956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54319" y="5802214"/>
            <a:ext cx="3340001" cy="417463"/>
            <a:chOff x="0" y="0"/>
            <a:chExt cx="4453335" cy="5566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53335" cy="556617"/>
            </a:xfrm>
            <a:custGeom>
              <a:avLst/>
              <a:gdLst/>
              <a:ahLst/>
              <a:cxnLst/>
              <a:rect l="l" t="t" r="r" b="b"/>
              <a:pathLst>
                <a:path w="4453335" h="556617">
                  <a:moveTo>
                    <a:pt x="0" y="0"/>
                  </a:moveTo>
                  <a:lnTo>
                    <a:pt x="4453335" y="0"/>
                  </a:lnTo>
                  <a:lnTo>
                    <a:pt x="4453335" y="556617"/>
                  </a:lnTo>
                  <a:lnTo>
                    <a:pt x="0" y="556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453335" cy="585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Undercover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54319" y="6379964"/>
            <a:ext cx="7522071" cy="991728"/>
            <a:chOff x="0" y="0"/>
            <a:chExt cx="10029428" cy="13223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29428" cy="1322304"/>
            </a:xfrm>
            <a:custGeom>
              <a:avLst/>
              <a:gdLst/>
              <a:ahLst/>
              <a:cxnLst/>
              <a:rect l="l" t="t" r="r" b="b"/>
              <a:pathLst>
                <a:path w="10029428" h="1322304">
                  <a:moveTo>
                    <a:pt x="0" y="0"/>
                  </a:moveTo>
                  <a:lnTo>
                    <a:pt x="10029428" y="0"/>
                  </a:lnTo>
                  <a:lnTo>
                    <a:pt x="10029428" y="1322304"/>
                  </a:lnTo>
                  <a:lnTo>
                    <a:pt x="0" y="1322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10029428" cy="14270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54"/>
                </a:lnSpc>
              </a:pPr>
              <a:r>
                <a:rPr lang="en-US" sz="24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Undercover operations: Agents posed as buyers and sellers.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0325" y="7773889"/>
            <a:ext cx="8084939" cy="1774620"/>
            <a:chOff x="0" y="0"/>
            <a:chExt cx="10779918" cy="2366160"/>
          </a:xfrm>
        </p:grpSpPr>
        <p:sp>
          <p:nvSpPr>
            <p:cNvPr id="28" name="Freeform 28"/>
            <p:cNvSpPr/>
            <p:nvPr/>
          </p:nvSpPr>
          <p:spPr>
            <a:xfrm>
              <a:off x="6350" y="7187"/>
              <a:ext cx="10767187" cy="2351858"/>
            </a:xfrm>
            <a:custGeom>
              <a:avLst/>
              <a:gdLst/>
              <a:ahLst/>
              <a:cxnLst/>
              <a:rect l="l" t="t" r="r" b="b"/>
              <a:pathLst>
                <a:path w="10767187" h="2351858">
                  <a:moveTo>
                    <a:pt x="0" y="169314"/>
                  </a:moveTo>
                  <a:cubicBezTo>
                    <a:pt x="0" y="75889"/>
                    <a:pt x="67310" y="0"/>
                    <a:pt x="150368" y="0"/>
                  </a:cubicBezTo>
                  <a:lnTo>
                    <a:pt x="10616819" y="0"/>
                  </a:lnTo>
                  <a:cubicBezTo>
                    <a:pt x="10699876" y="0"/>
                    <a:pt x="10767187" y="75889"/>
                    <a:pt x="10767187" y="169314"/>
                  </a:cubicBezTo>
                  <a:lnTo>
                    <a:pt x="10767187" y="2182400"/>
                  </a:lnTo>
                  <a:cubicBezTo>
                    <a:pt x="10767187" y="2275968"/>
                    <a:pt x="10699876" y="2351714"/>
                    <a:pt x="10616819" y="2351714"/>
                  </a:cubicBezTo>
                  <a:lnTo>
                    <a:pt x="150368" y="2351714"/>
                  </a:lnTo>
                  <a:cubicBezTo>
                    <a:pt x="67310" y="2351858"/>
                    <a:pt x="0" y="2275968"/>
                    <a:pt x="0" y="2182400"/>
                  </a:cubicBez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779887" cy="2366223"/>
            </a:xfrm>
            <a:custGeom>
              <a:avLst/>
              <a:gdLst/>
              <a:ahLst/>
              <a:cxnLst/>
              <a:rect l="l" t="t" r="r" b="b"/>
              <a:pathLst>
                <a:path w="10779887" h="2366223">
                  <a:moveTo>
                    <a:pt x="0" y="176501"/>
                  </a:moveTo>
                  <a:cubicBezTo>
                    <a:pt x="0" y="79052"/>
                    <a:pt x="70231" y="0"/>
                    <a:pt x="156718" y="0"/>
                  </a:cubicBezTo>
                  <a:lnTo>
                    <a:pt x="10623169" y="0"/>
                  </a:lnTo>
                  <a:lnTo>
                    <a:pt x="10623169" y="7187"/>
                  </a:lnTo>
                  <a:lnTo>
                    <a:pt x="10623169" y="0"/>
                  </a:lnTo>
                  <a:cubicBezTo>
                    <a:pt x="10709656" y="0"/>
                    <a:pt x="10779887" y="79052"/>
                    <a:pt x="10779887" y="176501"/>
                  </a:cubicBezTo>
                  <a:lnTo>
                    <a:pt x="10773537" y="176501"/>
                  </a:lnTo>
                  <a:lnTo>
                    <a:pt x="10779887" y="176501"/>
                  </a:lnTo>
                  <a:lnTo>
                    <a:pt x="10779887" y="2189587"/>
                  </a:lnTo>
                  <a:lnTo>
                    <a:pt x="10773537" y="2189587"/>
                  </a:lnTo>
                  <a:lnTo>
                    <a:pt x="10779887" y="2189587"/>
                  </a:lnTo>
                  <a:cubicBezTo>
                    <a:pt x="10779887" y="2287180"/>
                    <a:pt x="10709656" y="2366088"/>
                    <a:pt x="10623169" y="2366088"/>
                  </a:cubicBezTo>
                  <a:lnTo>
                    <a:pt x="10623169" y="2358901"/>
                  </a:lnTo>
                  <a:lnTo>
                    <a:pt x="10623169" y="2366088"/>
                  </a:lnTo>
                  <a:lnTo>
                    <a:pt x="156718" y="2366088"/>
                  </a:lnTo>
                  <a:lnTo>
                    <a:pt x="156718" y="2358901"/>
                  </a:lnTo>
                  <a:lnTo>
                    <a:pt x="156718" y="2366088"/>
                  </a:lnTo>
                  <a:cubicBezTo>
                    <a:pt x="70231" y="2366223"/>
                    <a:pt x="0" y="2287180"/>
                    <a:pt x="0" y="2189587"/>
                  </a:cubicBezTo>
                  <a:lnTo>
                    <a:pt x="0" y="176501"/>
                  </a:lnTo>
                  <a:lnTo>
                    <a:pt x="6350" y="176501"/>
                  </a:lnTo>
                  <a:lnTo>
                    <a:pt x="0" y="176501"/>
                  </a:lnTo>
                  <a:moveTo>
                    <a:pt x="12700" y="176501"/>
                  </a:moveTo>
                  <a:lnTo>
                    <a:pt x="12700" y="2189587"/>
                  </a:lnTo>
                  <a:lnTo>
                    <a:pt x="6350" y="2189587"/>
                  </a:lnTo>
                  <a:lnTo>
                    <a:pt x="12700" y="2189587"/>
                  </a:lnTo>
                  <a:cubicBezTo>
                    <a:pt x="12700" y="2279131"/>
                    <a:pt x="77216" y="2351714"/>
                    <a:pt x="156718" y="2351714"/>
                  </a:cubicBezTo>
                  <a:lnTo>
                    <a:pt x="10623169" y="2351714"/>
                  </a:lnTo>
                  <a:cubicBezTo>
                    <a:pt x="10702798" y="2351714"/>
                    <a:pt x="10767187" y="2279131"/>
                    <a:pt x="10767187" y="2189587"/>
                  </a:cubicBezTo>
                  <a:lnTo>
                    <a:pt x="10767187" y="176501"/>
                  </a:lnTo>
                  <a:cubicBezTo>
                    <a:pt x="10767187" y="86957"/>
                    <a:pt x="10702798" y="14373"/>
                    <a:pt x="10623169" y="14373"/>
                  </a:cubicBezTo>
                  <a:lnTo>
                    <a:pt x="156718" y="14373"/>
                  </a:lnTo>
                  <a:lnTo>
                    <a:pt x="156718" y="7187"/>
                  </a:lnTo>
                  <a:lnTo>
                    <a:pt x="156718" y="14373"/>
                  </a:lnTo>
                  <a:cubicBezTo>
                    <a:pt x="77216" y="14373"/>
                    <a:pt x="12700" y="86957"/>
                    <a:pt x="12700" y="176501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1759" y="8055322"/>
            <a:ext cx="3340001" cy="417463"/>
            <a:chOff x="0" y="0"/>
            <a:chExt cx="4453335" cy="5566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53335" cy="556617"/>
            </a:xfrm>
            <a:custGeom>
              <a:avLst/>
              <a:gdLst/>
              <a:ahLst/>
              <a:cxnLst/>
              <a:rect l="l" t="t" r="r" b="b"/>
              <a:pathLst>
                <a:path w="4453335" h="556617">
                  <a:moveTo>
                    <a:pt x="0" y="0"/>
                  </a:moveTo>
                  <a:lnTo>
                    <a:pt x="4453335" y="0"/>
                  </a:lnTo>
                  <a:lnTo>
                    <a:pt x="4453335" y="556617"/>
                  </a:lnTo>
                  <a:lnTo>
                    <a:pt x="0" y="556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453335" cy="585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Server Seizure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1759" y="8633072"/>
            <a:ext cx="7522071" cy="915437"/>
            <a:chOff x="0" y="0"/>
            <a:chExt cx="10029428" cy="12205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29428" cy="1220582"/>
            </a:xfrm>
            <a:custGeom>
              <a:avLst/>
              <a:gdLst/>
              <a:ahLst/>
              <a:cxnLst/>
              <a:rect l="l" t="t" r="r" b="b"/>
              <a:pathLst>
                <a:path w="10029428" h="1220582">
                  <a:moveTo>
                    <a:pt x="0" y="0"/>
                  </a:moveTo>
                  <a:lnTo>
                    <a:pt x="10029428" y="0"/>
                  </a:lnTo>
                  <a:lnTo>
                    <a:pt x="10029428" y="1220582"/>
                  </a:lnTo>
                  <a:lnTo>
                    <a:pt x="0" y="1220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10029428" cy="13253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33"/>
                </a:lnSpc>
              </a:pPr>
              <a:r>
                <a:rPr lang="en-US" sz="22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Seizure of Silk Road server in Iceland: Key evidence and data.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72885" y="7773889"/>
            <a:ext cx="8084939" cy="1774620"/>
            <a:chOff x="0" y="0"/>
            <a:chExt cx="10779918" cy="2366160"/>
          </a:xfrm>
        </p:grpSpPr>
        <p:sp>
          <p:nvSpPr>
            <p:cNvPr id="37" name="Freeform 37"/>
            <p:cNvSpPr/>
            <p:nvPr/>
          </p:nvSpPr>
          <p:spPr>
            <a:xfrm>
              <a:off x="6350" y="7187"/>
              <a:ext cx="10767187" cy="2351858"/>
            </a:xfrm>
            <a:custGeom>
              <a:avLst/>
              <a:gdLst/>
              <a:ahLst/>
              <a:cxnLst/>
              <a:rect l="l" t="t" r="r" b="b"/>
              <a:pathLst>
                <a:path w="10767187" h="2351858">
                  <a:moveTo>
                    <a:pt x="0" y="169314"/>
                  </a:moveTo>
                  <a:cubicBezTo>
                    <a:pt x="0" y="75889"/>
                    <a:pt x="67310" y="0"/>
                    <a:pt x="150368" y="0"/>
                  </a:cubicBezTo>
                  <a:lnTo>
                    <a:pt x="10616819" y="0"/>
                  </a:lnTo>
                  <a:cubicBezTo>
                    <a:pt x="10699876" y="0"/>
                    <a:pt x="10767187" y="75889"/>
                    <a:pt x="10767187" y="169314"/>
                  </a:cubicBezTo>
                  <a:lnTo>
                    <a:pt x="10767187" y="2182400"/>
                  </a:lnTo>
                  <a:cubicBezTo>
                    <a:pt x="10767187" y="2275968"/>
                    <a:pt x="10699876" y="2351714"/>
                    <a:pt x="10616819" y="2351714"/>
                  </a:cubicBezTo>
                  <a:lnTo>
                    <a:pt x="150368" y="2351714"/>
                  </a:lnTo>
                  <a:cubicBezTo>
                    <a:pt x="67310" y="2351858"/>
                    <a:pt x="0" y="2275968"/>
                    <a:pt x="0" y="2182400"/>
                  </a:cubicBezTo>
                  <a:close/>
                </a:path>
              </a:pathLst>
            </a:custGeom>
            <a:solidFill>
              <a:srgbClr val="E2E3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10779887" cy="2366223"/>
            </a:xfrm>
            <a:custGeom>
              <a:avLst/>
              <a:gdLst/>
              <a:ahLst/>
              <a:cxnLst/>
              <a:rect l="l" t="t" r="r" b="b"/>
              <a:pathLst>
                <a:path w="10779887" h="2366223">
                  <a:moveTo>
                    <a:pt x="0" y="176501"/>
                  </a:moveTo>
                  <a:cubicBezTo>
                    <a:pt x="0" y="79052"/>
                    <a:pt x="70231" y="0"/>
                    <a:pt x="156718" y="0"/>
                  </a:cubicBezTo>
                  <a:lnTo>
                    <a:pt x="10623169" y="0"/>
                  </a:lnTo>
                  <a:lnTo>
                    <a:pt x="10623169" y="7187"/>
                  </a:lnTo>
                  <a:lnTo>
                    <a:pt x="10623169" y="0"/>
                  </a:lnTo>
                  <a:cubicBezTo>
                    <a:pt x="10709656" y="0"/>
                    <a:pt x="10779887" y="79052"/>
                    <a:pt x="10779887" y="176501"/>
                  </a:cubicBezTo>
                  <a:lnTo>
                    <a:pt x="10773537" y="176501"/>
                  </a:lnTo>
                  <a:lnTo>
                    <a:pt x="10779887" y="176501"/>
                  </a:lnTo>
                  <a:lnTo>
                    <a:pt x="10779887" y="2189587"/>
                  </a:lnTo>
                  <a:lnTo>
                    <a:pt x="10773537" y="2189587"/>
                  </a:lnTo>
                  <a:lnTo>
                    <a:pt x="10779887" y="2189587"/>
                  </a:lnTo>
                  <a:cubicBezTo>
                    <a:pt x="10779887" y="2287180"/>
                    <a:pt x="10709656" y="2366088"/>
                    <a:pt x="10623169" y="2366088"/>
                  </a:cubicBezTo>
                  <a:lnTo>
                    <a:pt x="10623169" y="2358901"/>
                  </a:lnTo>
                  <a:lnTo>
                    <a:pt x="10623169" y="2366088"/>
                  </a:lnTo>
                  <a:lnTo>
                    <a:pt x="156718" y="2366088"/>
                  </a:lnTo>
                  <a:lnTo>
                    <a:pt x="156718" y="2358901"/>
                  </a:lnTo>
                  <a:lnTo>
                    <a:pt x="156718" y="2366088"/>
                  </a:lnTo>
                  <a:cubicBezTo>
                    <a:pt x="70231" y="2366223"/>
                    <a:pt x="0" y="2287180"/>
                    <a:pt x="0" y="2189587"/>
                  </a:cubicBezTo>
                  <a:lnTo>
                    <a:pt x="0" y="176501"/>
                  </a:lnTo>
                  <a:lnTo>
                    <a:pt x="6350" y="176501"/>
                  </a:lnTo>
                  <a:lnTo>
                    <a:pt x="0" y="176501"/>
                  </a:lnTo>
                  <a:moveTo>
                    <a:pt x="12700" y="176501"/>
                  </a:moveTo>
                  <a:lnTo>
                    <a:pt x="12700" y="2189587"/>
                  </a:lnTo>
                  <a:lnTo>
                    <a:pt x="6350" y="2189587"/>
                  </a:lnTo>
                  <a:lnTo>
                    <a:pt x="12700" y="2189587"/>
                  </a:lnTo>
                  <a:cubicBezTo>
                    <a:pt x="12700" y="2279131"/>
                    <a:pt x="77216" y="2351714"/>
                    <a:pt x="156718" y="2351714"/>
                  </a:cubicBezTo>
                  <a:lnTo>
                    <a:pt x="10623169" y="2351714"/>
                  </a:lnTo>
                  <a:cubicBezTo>
                    <a:pt x="10702798" y="2351714"/>
                    <a:pt x="10767187" y="2279131"/>
                    <a:pt x="10767187" y="2189587"/>
                  </a:cubicBezTo>
                  <a:lnTo>
                    <a:pt x="10767187" y="176501"/>
                  </a:lnTo>
                  <a:cubicBezTo>
                    <a:pt x="10767187" y="86957"/>
                    <a:pt x="10702798" y="14373"/>
                    <a:pt x="10623169" y="14373"/>
                  </a:cubicBezTo>
                  <a:lnTo>
                    <a:pt x="156718" y="14373"/>
                  </a:lnTo>
                  <a:lnTo>
                    <a:pt x="156718" y="7187"/>
                  </a:lnTo>
                  <a:lnTo>
                    <a:pt x="156718" y="14373"/>
                  </a:lnTo>
                  <a:cubicBezTo>
                    <a:pt x="77216" y="14373"/>
                    <a:pt x="12700" y="86957"/>
                    <a:pt x="12700" y="176501"/>
                  </a:cubicBezTo>
                  <a:close/>
                </a:path>
              </a:pathLst>
            </a:custGeom>
            <a:solidFill>
              <a:srgbClr val="C8C9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54319" y="8055322"/>
            <a:ext cx="3340001" cy="417463"/>
            <a:chOff x="0" y="0"/>
            <a:chExt cx="4453335" cy="55661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53335" cy="556617"/>
            </a:xfrm>
            <a:custGeom>
              <a:avLst/>
              <a:gdLst/>
              <a:ahLst/>
              <a:cxnLst/>
              <a:rect l="l" t="t" r="r" b="b"/>
              <a:pathLst>
                <a:path w="4453335" h="556617">
                  <a:moveTo>
                    <a:pt x="0" y="0"/>
                  </a:moveTo>
                  <a:lnTo>
                    <a:pt x="4453335" y="0"/>
                  </a:lnTo>
                  <a:lnTo>
                    <a:pt x="4453335" y="556617"/>
                  </a:lnTo>
                  <a:lnTo>
                    <a:pt x="0" y="5566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4453335" cy="58519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2625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Accounts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54319" y="8633072"/>
            <a:ext cx="7522071" cy="915437"/>
            <a:chOff x="0" y="0"/>
            <a:chExt cx="10029428" cy="122058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29428" cy="1220582"/>
            </a:xfrm>
            <a:custGeom>
              <a:avLst/>
              <a:gdLst/>
              <a:ahLst/>
              <a:cxnLst/>
              <a:rect l="l" t="t" r="r" b="b"/>
              <a:pathLst>
                <a:path w="10029428" h="1220582">
                  <a:moveTo>
                    <a:pt x="0" y="0"/>
                  </a:moveTo>
                  <a:lnTo>
                    <a:pt x="10029428" y="0"/>
                  </a:lnTo>
                  <a:lnTo>
                    <a:pt x="10029428" y="1220582"/>
                  </a:lnTo>
                  <a:lnTo>
                    <a:pt x="0" y="1220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10029428" cy="13253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33"/>
                </a:lnSpc>
              </a:pPr>
              <a:r>
                <a:rPr lang="en-US" sz="22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1.5 million user accounts uncovered during the investigation.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86687" y="729704"/>
            <a:ext cx="9572625" cy="1658242"/>
            <a:chOff x="0" y="0"/>
            <a:chExt cx="12763500" cy="22109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63500" cy="2210990"/>
            </a:xfrm>
            <a:custGeom>
              <a:avLst/>
              <a:gdLst/>
              <a:ahLst/>
              <a:cxnLst/>
              <a:rect l="l" t="t" r="r" b="b"/>
              <a:pathLst>
                <a:path w="12763500" h="2210990">
                  <a:moveTo>
                    <a:pt x="0" y="0"/>
                  </a:moveTo>
                  <a:lnTo>
                    <a:pt x="12763500" y="0"/>
                  </a:lnTo>
                  <a:lnTo>
                    <a:pt x="12763500" y="2210990"/>
                  </a:lnTo>
                  <a:lnTo>
                    <a:pt x="0" y="2210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2763500" cy="22776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00"/>
                </a:lnSpc>
              </a:pPr>
              <a:r>
                <a:rPr lang="en-US" sz="5187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Unmasking Dread Pirate Roberts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786687" y="2785914"/>
            <a:ext cx="663327" cy="663328"/>
          </a:xfrm>
          <a:custGeom>
            <a:avLst/>
            <a:gdLst/>
            <a:ahLst/>
            <a:cxnLst/>
            <a:rect l="l" t="t" r="r" b="b"/>
            <a:pathLst>
              <a:path w="663327" h="663328">
                <a:moveTo>
                  <a:pt x="0" y="0"/>
                </a:moveTo>
                <a:lnTo>
                  <a:pt x="663328" y="0"/>
                </a:lnTo>
                <a:lnTo>
                  <a:pt x="663328" y="663327"/>
                </a:lnTo>
                <a:lnTo>
                  <a:pt x="0" y="663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786687" y="3714452"/>
            <a:ext cx="2925515" cy="414635"/>
            <a:chOff x="0" y="0"/>
            <a:chExt cx="3900687" cy="5528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00687" cy="552847"/>
            </a:xfrm>
            <a:custGeom>
              <a:avLst/>
              <a:gdLst/>
              <a:ahLst/>
              <a:cxnLst/>
              <a:rect l="l" t="t" r="r" b="b"/>
              <a:pathLst>
                <a:path w="3900687" h="552847">
                  <a:moveTo>
                    <a:pt x="0" y="0"/>
                  </a:moveTo>
                  <a:lnTo>
                    <a:pt x="3900687" y="0"/>
                  </a:lnTo>
                  <a:lnTo>
                    <a:pt x="3900687" y="552847"/>
                  </a:lnTo>
                  <a:lnTo>
                    <a:pt x="0" y="55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3900687" cy="581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Online Alias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86687" y="4288185"/>
            <a:ext cx="2925515" cy="1273374"/>
            <a:chOff x="0" y="0"/>
            <a:chExt cx="3900687" cy="16978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00687" cy="1697832"/>
            </a:xfrm>
            <a:custGeom>
              <a:avLst/>
              <a:gdLst/>
              <a:ahLst/>
              <a:cxnLst/>
              <a:rect l="l" t="t" r="r" b="b"/>
              <a:pathLst>
                <a:path w="3900687" h="1697832">
                  <a:moveTo>
                    <a:pt x="0" y="0"/>
                  </a:moveTo>
                  <a:lnTo>
                    <a:pt x="3900687" y="0"/>
                  </a:lnTo>
                  <a:lnTo>
                    <a:pt x="3900687" y="1697832"/>
                  </a:lnTo>
                  <a:lnTo>
                    <a:pt x="0" y="1697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3900687" cy="17930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Ross Ulbricht's alias: Dread Pirate Roberts (DPR).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1110169" y="2785914"/>
            <a:ext cx="663328" cy="663328"/>
          </a:xfrm>
          <a:custGeom>
            <a:avLst/>
            <a:gdLst/>
            <a:ahLst/>
            <a:cxnLst/>
            <a:rect l="l" t="t" r="r" b="b"/>
            <a:pathLst>
              <a:path w="663328" h="663328">
                <a:moveTo>
                  <a:pt x="0" y="0"/>
                </a:moveTo>
                <a:lnTo>
                  <a:pt x="663327" y="0"/>
                </a:lnTo>
                <a:lnTo>
                  <a:pt x="663327" y="663327"/>
                </a:lnTo>
                <a:lnTo>
                  <a:pt x="0" y="663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1110169" y="3714452"/>
            <a:ext cx="2925515" cy="414635"/>
            <a:chOff x="0" y="0"/>
            <a:chExt cx="3900687" cy="5528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00687" cy="552847"/>
            </a:xfrm>
            <a:custGeom>
              <a:avLst/>
              <a:gdLst/>
              <a:ahLst/>
              <a:cxnLst/>
              <a:rect l="l" t="t" r="r" b="b"/>
              <a:pathLst>
                <a:path w="3900687" h="552847">
                  <a:moveTo>
                    <a:pt x="0" y="0"/>
                  </a:moveTo>
                  <a:lnTo>
                    <a:pt x="3900687" y="0"/>
                  </a:lnTo>
                  <a:lnTo>
                    <a:pt x="3900687" y="552847"/>
                  </a:lnTo>
                  <a:lnTo>
                    <a:pt x="0" y="55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900687" cy="581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Digital Forensics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10169" y="4288185"/>
            <a:ext cx="2925515" cy="848916"/>
            <a:chOff x="0" y="0"/>
            <a:chExt cx="3900687" cy="1131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00687" cy="1131888"/>
            </a:xfrm>
            <a:custGeom>
              <a:avLst/>
              <a:gdLst/>
              <a:ahLst/>
              <a:cxnLst/>
              <a:rect l="l" t="t" r="r" b="b"/>
              <a:pathLst>
                <a:path w="3900687" h="1131888">
                  <a:moveTo>
                    <a:pt x="0" y="0"/>
                  </a:moveTo>
                  <a:lnTo>
                    <a:pt x="3900687" y="0"/>
                  </a:lnTo>
                  <a:lnTo>
                    <a:pt x="3900687" y="1131888"/>
                  </a:lnTo>
                  <a:lnTo>
                    <a:pt x="0" y="11318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3900687" cy="12271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Linking Ulbricht to the Silk Road server.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4433649" y="2785914"/>
            <a:ext cx="663328" cy="663328"/>
          </a:xfrm>
          <a:custGeom>
            <a:avLst/>
            <a:gdLst/>
            <a:ahLst/>
            <a:cxnLst/>
            <a:rect l="l" t="t" r="r" b="b"/>
            <a:pathLst>
              <a:path w="663328" h="663328">
                <a:moveTo>
                  <a:pt x="0" y="0"/>
                </a:moveTo>
                <a:lnTo>
                  <a:pt x="663327" y="0"/>
                </a:lnTo>
                <a:lnTo>
                  <a:pt x="663327" y="663327"/>
                </a:lnTo>
                <a:lnTo>
                  <a:pt x="0" y="663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4433649" y="3714452"/>
            <a:ext cx="2925664" cy="414635"/>
            <a:chOff x="0" y="0"/>
            <a:chExt cx="3900885" cy="5528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00885" cy="552847"/>
            </a:xfrm>
            <a:custGeom>
              <a:avLst/>
              <a:gdLst/>
              <a:ahLst/>
              <a:cxnLst/>
              <a:rect l="l" t="t" r="r" b="b"/>
              <a:pathLst>
                <a:path w="3900885" h="552847">
                  <a:moveTo>
                    <a:pt x="0" y="0"/>
                  </a:moveTo>
                  <a:lnTo>
                    <a:pt x="3900885" y="0"/>
                  </a:lnTo>
                  <a:lnTo>
                    <a:pt x="3900885" y="552847"/>
                  </a:lnTo>
                  <a:lnTo>
                    <a:pt x="0" y="55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900885" cy="581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Laptop Seizure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33649" y="4288185"/>
            <a:ext cx="2925664" cy="1697831"/>
            <a:chOff x="0" y="0"/>
            <a:chExt cx="3900885" cy="22637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00885" cy="2263775"/>
            </a:xfrm>
            <a:custGeom>
              <a:avLst/>
              <a:gdLst/>
              <a:ahLst/>
              <a:cxnLst/>
              <a:rect l="l" t="t" r="r" b="b"/>
              <a:pathLst>
                <a:path w="3900885" h="2263775">
                  <a:moveTo>
                    <a:pt x="0" y="0"/>
                  </a:moveTo>
                  <a:lnTo>
                    <a:pt x="3900885" y="0"/>
                  </a:lnTo>
                  <a:lnTo>
                    <a:pt x="3900885" y="2263775"/>
                  </a:lnTo>
                  <a:lnTo>
                    <a:pt x="0" y="2263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3900885" cy="2359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Seizure of Ulbricht's laptop in a San Francisco library: Real-time evidence.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7786687" y="6781949"/>
            <a:ext cx="663327" cy="663327"/>
          </a:xfrm>
          <a:custGeom>
            <a:avLst/>
            <a:gdLst/>
            <a:ahLst/>
            <a:cxnLst/>
            <a:rect l="l" t="t" r="r" b="b"/>
            <a:pathLst>
              <a:path w="663327" h="663327">
                <a:moveTo>
                  <a:pt x="0" y="0"/>
                </a:moveTo>
                <a:lnTo>
                  <a:pt x="663328" y="0"/>
                </a:lnTo>
                <a:lnTo>
                  <a:pt x="663328" y="663327"/>
                </a:lnTo>
                <a:lnTo>
                  <a:pt x="0" y="663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7786687" y="7710487"/>
            <a:ext cx="2925515" cy="414635"/>
            <a:chOff x="0" y="0"/>
            <a:chExt cx="3900687" cy="5528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00687" cy="552847"/>
            </a:xfrm>
            <a:custGeom>
              <a:avLst/>
              <a:gdLst/>
              <a:ahLst/>
              <a:cxnLst/>
              <a:rect l="l" t="t" r="r" b="b"/>
              <a:pathLst>
                <a:path w="3900687" h="552847">
                  <a:moveTo>
                    <a:pt x="0" y="0"/>
                  </a:moveTo>
                  <a:lnTo>
                    <a:pt x="3900687" y="0"/>
                  </a:lnTo>
                  <a:lnTo>
                    <a:pt x="3900687" y="552847"/>
                  </a:lnTo>
                  <a:lnTo>
                    <a:pt x="0" y="552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3900687" cy="581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Bitcoin Wallet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786687" y="8284220"/>
            <a:ext cx="2925515" cy="1273374"/>
            <a:chOff x="0" y="0"/>
            <a:chExt cx="3900687" cy="16978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0687" cy="1697832"/>
            </a:xfrm>
            <a:custGeom>
              <a:avLst/>
              <a:gdLst/>
              <a:ahLst/>
              <a:cxnLst/>
              <a:rect l="l" t="t" r="r" b="b"/>
              <a:pathLst>
                <a:path w="3900687" h="1697832">
                  <a:moveTo>
                    <a:pt x="0" y="0"/>
                  </a:moveTo>
                  <a:lnTo>
                    <a:pt x="3900687" y="0"/>
                  </a:lnTo>
                  <a:lnTo>
                    <a:pt x="3900687" y="1697832"/>
                  </a:lnTo>
                  <a:lnTo>
                    <a:pt x="0" y="1697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3900687" cy="17930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Ulbricht's Bitcoin wallet contained millions in Bitcoin.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A862479E-FBE4-5842-B1EE-FA65A8B574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3132" y="2259296"/>
            <a:ext cx="4302831" cy="5429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166021"/>
          </a:xfrm>
          <a:custGeom>
            <a:avLst/>
            <a:gdLst/>
            <a:ahLst/>
            <a:cxnLst/>
            <a:rect l="l" t="t" r="r" b="b"/>
            <a:pathLst>
              <a:path w="18288000" h="3166021">
                <a:moveTo>
                  <a:pt x="0" y="0"/>
                </a:moveTo>
                <a:lnTo>
                  <a:pt x="18288000" y="0"/>
                </a:lnTo>
                <a:lnTo>
                  <a:pt x="18288000" y="3166021"/>
                </a:lnTo>
                <a:lnTo>
                  <a:pt x="0" y="3166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" r="-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86420" y="3862536"/>
            <a:ext cx="8272314" cy="791468"/>
            <a:chOff x="0" y="0"/>
            <a:chExt cx="11029752" cy="1055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29752" cy="1055290"/>
            </a:xfrm>
            <a:custGeom>
              <a:avLst/>
              <a:gdLst/>
              <a:ahLst/>
              <a:cxnLst/>
              <a:rect l="l" t="t" r="r" b="b"/>
              <a:pathLst>
                <a:path w="11029752" h="1055290">
                  <a:moveTo>
                    <a:pt x="0" y="0"/>
                  </a:moveTo>
                  <a:lnTo>
                    <a:pt x="11029752" y="0"/>
                  </a:lnTo>
                  <a:lnTo>
                    <a:pt x="11029752" y="1055290"/>
                  </a:lnTo>
                  <a:lnTo>
                    <a:pt x="0" y="105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029752" cy="11029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87"/>
                </a:lnSpc>
              </a:pPr>
              <a:r>
                <a:rPr lang="en-US" sz="4937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Verdict and Sentencing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86420" y="5033814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3"/>
                </a:lnTo>
                <a:lnTo>
                  <a:pt x="0" y="15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32609" y="5286970"/>
            <a:ext cx="3166021" cy="395585"/>
            <a:chOff x="0" y="0"/>
            <a:chExt cx="4221362" cy="5274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21362" cy="527447"/>
            </a:xfrm>
            <a:custGeom>
              <a:avLst/>
              <a:gdLst/>
              <a:ahLst/>
              <a:cxnLst/>
              <a:rect l="l" t="t" r="r" b="b"/>
              <a:pathLst>
                <a:path w="4221362" h="527447">
                  <a:moveTo>
                    <a:pt x="0" y="0"/>
                  </a:moveTo>
                  <a:lnTo>
                    <a:pt x="4221362" y="0"/>
                  </a:lnTo>
                  <a:lnTo>
                    <a:pt x="4221362" y="527447"/>
                  </a:lnTo>
                  <a:lnTo>
                    <a:pt x="0" y="5274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221362" cy="5464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37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Conviction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32609" y="5834509"/>
            <a:ext cx="14868971" cy="405259"/>
            <a:chOff x="0" y="0"/>
            <a:chExt cx="19825295" cy="5403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825295" cy="540345"/>
            </a:xfrm>
            <a:custGeom>
              <a:avLst/>
              <a:gdLst/>
              <a:ahLst/>
              <a:cxnLst/>
              <a:rect l="l" t="t" r="r" b="b"/>
              <a:pathLst>
                <a:path w="19825295" h="540345">
                  <a:moveTo>
                    <a:pt x="0" y="0"/>
                  </a:moveTo>
                  <a:lnTo>
                    <a:pt x="19825295" y="0"/>
                  </a:lnTo>
                  <a:lnTo>
                    <a:pt x="19825295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9825295" cy="6355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Guilty verdict after a month-long trial.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886420" y="6553497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532609" y="6806654"/>
            <a:ext cx="3166021" cy="395585"/>
            <a:chOff x="0" y="0"/>
            <a:chExt cx="4221362" cy="5274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21362" cy="527447"/>
            </a:xfrm>
            <a:custGeom>
              <a:avLst/>
              <a:gdLst/>
              <a:ahLst/>
              <a:cxnLst/>
              <a:rect l="l" t="t" r="r" b="b"/>
              <a:pathLst>
                <a:path w="4221362" h="527447">
                  <a:moveTo>
                    <a:pt x="0" y="0"/>
                  </a:moveTo>
                  <a:lnTo>
                    <a:pt x="4221362" y="0"/>
                  </a:lnTo>
                  <a:lnTo>
                    <a:pt x="4221362" y="527447"/>
                  </a:lnTo>
                  <a:lnTo>
                    <a:pt x="0" y="5274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221362" cy="5464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37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Life Sentence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2609" y="7354192"/>
            <a:ext cx="14868971" cy="405259"/>
            <a:chOff x="0" y="0"/>
            <a:chExt cx="19825295" cy="5403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825295" cy="540345"/>
            </a:xfrm>
            <a:custGeom>
              <a:avLst/>
              <a:gdLst/>
              <a:ahLst/>
              <a:cxnLst/>
              <a:rect l="l" t="t" r="r" b="b"/>
              <a:pathLst>
                <a:path w="19825295" h="540345">
                  <a:moveTo>
                    <a:pt x="0" y="0"/>
                  </a:moveTo>
                  <a:lnTo>
                    <a:pt x="19825295" y="0"/>
                  </a:lnTo>
                  <a:lnTo>
                    <a:pt x="19825295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19825295" cy="6355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Life sentence without parole: Harshest possible punishment.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886420" y="8073181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24" b="-1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532609" y="8326339"/>
            <a:ext cx="3166021" cy="395585"/>
            <a:chOff x="0" y="0"/>
            <a:chExt cx="4221362" cy="5274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21362" cy="527447"/>
            </a:xfrm>
            <a:custGeom>
              <a:avLst/>
              <a:gdLst/>
              <a:ahLst/>
              <a:cxnLst/>
              <a:rect l="l" t="t" r="r" b="b"/>
              <a:pathLst>
                <a:path w="4221362" h="527447">
                  <a:moveTo>
                    <a:pt x="0" y="0"/>
                  </a:moveTo>
                  <a:lnTo>
                    <a:pt x="4221362" y="0"/>
                  </a:lnTo>
                  <a:lnTo>
                    <a:pt x="4221362" y="527447"/>
                  </a:lnTo>
                  <a:lnTo>
                    <a:pt x="0" y="5274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221362" cy="5464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37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Asset Forfeiture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532609" y="8873878"/>
            <a:ext cx="14868971" cy="405259"/>
            <a:chOff x="0" y="0"/>
            <a:chExt cx="19825295" cy="5403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825295" cy="540345"/>
            </a:xfrm>
            <a:custGeom>
              <a:avLst/>
              <a:gdLst/>
              <a:ahLst/>
              <a:cxnLst/>
              <a:rect l="l" t="t" r="r" b="b"/>
              <a:pathLst>
                <a:path w="19825295" h="540345">
                  <a:moveTo>
                    <a:pt x="0" y="0"/>
                  </a:moveTo>
                  <a:lnTo>
                    <a:pt x="19825295" y="0"/>
                  </a:lnTo>
                  <a:lnTo>
                    <a:pt x="19825295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9825295" cy="6355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Forfeiture of assets: Over $18 million in Bitcoin and other property.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80" b="-298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2238" y="1054150"/>
            <a:ext cx="9445526" cy="1771947"/>
            <a:chOff x="0" y="0"/>
            <a:chExt cx="12594035" cy="2362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5054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Lessons Learned and Future Challenges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7" y="3392984"/>
            <a:ext cx="4510088" cy="1490116"/>
            <a:chOff x="0" y="0"/>
            <a:chExt cx="6013450" cy="19868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13450" cy="1986821"/>
            </a:xfrm>
            <a:custGeom>
              <a:avLst/>
              <a:gdLst/>
              <a:ahLst/>
              <a:cxnLst/>
              <a:rect l="l" t="t" r="r" b="b"/>
              <a:pathLst>
                <a:path w="6013450" h="1986821">
                  <a:moveTo>
                    <a:pt x="0" y="0"/>
                  </a:moveTo>
                  <a:lnTo>
                    <a:pt x="6013450" y="0"/>
                  </a:lnTo>
                  <a:lnTo>
                    <a:pt x="6013450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4775"/>
              <a:ext cx="6013450" cy="18820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312"/>
                </a:lnSpc>
              </a:pPr>
              <a:r>
                <a:rPr lang="en-US" sz="731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4682729"/>
            <a:ext cx="4510088" cy="1360885"/>
            <a:chOff x="0" y="0"/>
            <a:chExt cx="6013450" cy="18145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13450" cy="1814513"/>
            </a:xfrm>
            <a:custGeom>
              <a:avLst/>
              <a:gdLst/>
              <a:ahLst/>
              <a:cxnLst/>
              <a:rect l="l" t="t" r="r" b="b"/>
              <a:pathLst>
                <a:path w="6013450" h="1814513">
                  <a:moveTo>
                    <a:pt x="0" y="0"/>
                  </a:moveTo>
                  <a:lnTo>
                    <a:pt x="6013450" y="0"/>
                  </a:lnTo>
                  <a:lnTo>
                    <a:pt x="601345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6013450" cy="19192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Ongoing need for collaboration between law enforcement and tech.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27526" y="3392984"/>
            <a:ext cx="4510236" cy="1490116"/>
            <a:chOff x="0" y="0"/>
            <a:chExt cx="6013648" cy="19868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13648" cy="1986821"/>
            </a:xfrm>
            <a:custGeom>
              <a:avLst/>
              <a:gdLst/>
              <a:ahLst/>
              <a:cxnLst/>
              <a:rect l="l" t="t" r="r" b="b"/>
              <a:pathLst>
                <a:path w="6013648" h="1986821">
                  <a:moveTo>
                    <a:pt x="0" y="0"/>
                  </a:moveTo>
                  <a:lnTo>
                    <a:pt x="6013648" y="0"/>
                  </a:lnTo>
                  <a:lnTo>
                    <a:pt x="6013648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04775"/>
              <a:ext cx="6013648" cy="18820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312"/>
                </a:lnSpc>
              </a:pPr>
              <a:r>
                <a:rPr lang="en-US" sz="731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27526" y="4682729"/>
            <a:ext cx="4510236" cy="907256"/>
            <a:chOff x="0" y="0"/>
            <a:chExt cx="6013648" cy="12096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13648" cy="1209675"/>
            </a:xfrm>
            <a:custGeom>
              <a:avLst/>
              <a:gdLst/>
              <a:ahLst/>
              <a:cxnLst/>
              <a:rect l="l" t="t" r="r" b="b"/>
              <a:pathLst>
                <a:path w="6013648" h="1209675">
                  <a:moveTo>
                    <a:pt x="0" y="0"/>
                  </a:moveTo>
                  <a:lnTo>
                    <a:pt x="6013648" y="0"/>
                  </a:lnTo>
                  <a:lnTo>
                    <a:pt x="60136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6013648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Ethical considerations in the digital age.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459808" y="7035850"/>
            <a:ext cx="4510236" cy="1490116"/>
            <a:chOff x="0" y="0"/>
            <a:chExt cx="6013648" cy="19868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13648" cy="1986821"/>
            </a:xfrm>
            <a:custGeom>
              <a:avLst/>
              <a:gdLst/>
              <a:ahLst/>
              <a:cxnLst/>
              <a:rect l="l" t="t" r="r" b="b"/>
              <a:pathLst>
                <a:path w="6013648" h="1986821">
                  <a:moveTo>
                    <a:pt x="0" y="0"/>
                  </a:moveTo>
                  <a:lnTo>
                    <a:pt x="6013648" y="0"/>
                  </a:lnTo>
                  <a:lnTo>
                    <a:pt x="6013648" y="1986821"/>
                  </a:lnTo>
                  <a:lnTo>
                    <a:pt x="0" y="1986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04775"/>
              <a:ext cx="6013648" cy="18820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312"/>
                </a:lnSpc>
              </a:pPr>
              <a:r>
                <a:rPr lang="en-US" sz="7312" b="1">
                  <a:solidFill>
                    <a:srgbClr val="5B5F7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59807" y="8325594"/>
            <a:ext cx="4510236" cy="907256"/>
            <a:chOff x="0" y="0"/>
            <a:chExt cx="6013648" cy="12096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13648" cy="1209675"/>
            </a:xfrm>
            <a:custGeom>
              <a:avLst/>
              <a:gdLst/>
              <a:ahLst/>
              <a:cxnLst/>
              <a:rect l="l" t="t" r="r" b="b"/>
              <a:pathLst>
                <a:path w="6013648" h="1209675">
                  <a:moveTo>
                    <a:pt x="0" y="0"/>
                  </a:moveTo>
                  <a:lnTo>
                    <a:pt x="6013648" y="0"/>
                  </a:lnTo>
                  <a:lnTo>
                    <a:pt x="601364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6013648" cy="13144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5B5F71"/>
                  </a:solidFill>
                  <a:latin typeface="Arimo"/>
                  <a:ea typeface="Arimo"/>
                  <a:cs typeface="Arimo"/>
                  <a:sym typeface="Arimo"/>
                </a:rPr>
                <a:t>Evolving landscape of online fraud.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373</Words>
  <Application>Microsoft Office PowerPoint</Application>
  <PresentationFormat>Custom</PresentationFormat>
  <Paragraphs>82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 Bold</vt:lpstr>
      <vt:lpstr>Arial</vt:lpstr>
      <vt:lpstr>Arimo</vt:lpstr>
      <vt:lpstr>Calibri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Silk Road</dc:title>
  <cp:lastModifiedBy>Awais Ahmed</cp:lastModifiedBy>
  <cp:revision>3</cp:revision>
  <dcterms:created xsi:type="dcterms:W3CDTF">2006-08-16T00:00:00Z</dcterms:created>
  <dcterms:modified xsi:type="dcterms:W3CDTF">2025-05-15T05:22:46Z</dcterms:modified>
  <dc:identifier>DAGi2_8AlNI</dc:identifier>
</cp:coreProperties>
</file>
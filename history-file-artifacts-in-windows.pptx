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6"/>
  </p:notesMasterIdLst>
  <p:sldIdLst>
    <p:sldId id="257" r:id="rId5"/>
    <p:sldId id="258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10" autoAdjust="0"/>
  </p:normalViewPr>
  <p:slideViewPr>
    <p:cSldViewPr snapToGrid="0">
      <p:cViewPr varScale="1">
        <p:scale>
          <a:sx n="87" d="100"/>
          <a:sy n="87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0FD8F-0050-42E3-8B3A-6ED7CFB9852E}" type="doc">
      <dgm:prSet loTypeId="urn:microsoft.com/office/officeart/2005/8/layout/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F3B29930-025B-401B-90A6-6AFB591806F7}">
      <dgm:prSet/>
      <dgm:spPr/>
      <dgm:t>
        <a:bodyPr/>
        <a:lstStyle/>
        <a:p>
          <a:r>
            <a:rPr lang="en-US" dirty="0"/>
            <a:t>What Are History Files?</a:t>
          </a:r>
        </a:p>
      </dgm:t>
    </dgm:pt>
    <dgm:pt modelId="{008BC3E0-2F87-4DBA-A57F-B8D2C31F3048}" type="parTrans" cxnId="{FEA22542-3CC3-4433-9F5F-4AA012D92522}">
      <dgm:prSet/>
      <dgm:spPr/>
      <dgm:t>
        <a:bodyPr/>
        <a:lstStyle/>
        <a:p>
          <a:endParaRPr lang="en-US"/>
        </a:p>
      </dgm:t>
    </dgm:pt>
    <dgm:pt modelId="{AC8CAA59-20F8-4CE6-BFDF-3FB32B0576BC}" type="sibTrans" cxnId="{FEA22542-3CC3-4433-9F5F-4AA012D92522}">
      <dgm:prSet/>
      <dgm:spPr/>
      <dgm:t>
        <a:bodyPr/>
        <a:lstStyle/>
        <a:p>
          <a:endParaRPr lang="en-US"/>
        </a:p>
      </dgm:t>
    </dgm:pt>
    <dgm:pt modelId="{5A7A8103-A630-43F0-9EA2-0D08E35155F6}">
      <dgm:prSet/>
      <dgm:spPr/>
      <dgm:t>
        <a:bodyPr/>
        <a:lstStyle/>
        <a:p>
          <a:pPr algn="ctr"/>
          <a:endParaRPr lang="en-US" dirty="0"/>
        </a:p>
        <a:p>
          <a:pPr algn="ctr"/>
          <a:r>
            <a:rPr lang="en-US" dirty="0"/>
            <a:t>Importance of History Files in Forensics
</a:t>
          </a:r>
        </a:p>
      </dgm:t>
    </dgm:pt>
    <dgm:pt modelId="{A27416AB-91B4-4E41-A624-F0836CB269EC}" type="parTrans" cxnId="{161C6554-761C-4BA7-9313-E10F132D9F0A}">
      <dgm:prSet/>
      <dgm:spPr/>
      <dgm:t>
        <a:bodyPr/>
        <a:lstStyle/>
        <a:p>
          <a:endParaRPr lang="en-US"/>
        </a:p>
      </dgm:t>
    </dgm:pt>
    <dgm:pt modelId="{8564ADDD-487E-4F14-9811-56F8A4D0C996}" type="sibTrans" cxnId="{161C6554-761C-4BA7-9313-E10F132D9F0A}">
      <dgm:prSet/>
      <dgm:spPr/>
      <dgm:t>
        <a:bodyPr/>
        <a:lstStyle/>
        <a:p>
          <a:endParaRPr lang="en-US"/>
        </a:p>
      </dgm:t>
    </dgm:pt>
    <dgm:pt modelId="{3A8E89CB-7B84-4968-B98F-9857902FD4E0}">
      <dgm:prSet/>
      <dgm:spPr/>
      <dgm:t>
        <a:bodyPr/>
        <a:lstStyle/>
        <a:p>
          <a:endParaRPr lang="en-US" dirty="0"/>
        </a:p>
        <a:p>
          <a:r>
            <a:rPr lang="en-US" dirty="0"/>
            <a:t>Where History Files Are Stored
</a:t>
          </a:r>
        </a:p>
      </dgm:t>
    </dgm:pt>
    <dgm:pt modelId="{7179B346-033B-4B13-A494-00DED3C83B32}" type="parTrans" cxnId="{EE54B2CB-E939-4746-A4FB-E949CBD40373}">
      <dgm:prSet/>
      <dgm:spPr/>
      <dgm:t>
        <a:bodyPr/>
        <a:lstStyle/>
        <a:p>
          <a:endParaRPr lang="en-US"/>
        </a:p>
      </dgm:t>
    </dgm:pt>
    <dgm:pt modelId="{C068B2E3-C61F-42FE-B0E6-4FC7B0BDFAE1}" type="sibTrans" cxnId="{EE54B2CB-E939-4746-A4FB-E949CBD40373}">
      <dgm:prSet/>
      <dgm:spPr/>
      <dgm:t>
        <a:bodyPr/>
        <a:lstStyle/>
        <a:p>
          <a:endParaRPr lang="en-US"/>
        </a:p>
      </dgm:t>
    </dgm:pt>
    <dgm:pt modelId="{4110A9D0-F119-42B9-9508-82D2BCB5A976}">
      <dgm:prSet/>
      <dgm:spPr/>
      <dgm:t>
        <a:bodyPr/>
        <a:lstStyle/>
        <a:p>
          <a:endParaRPr lang="en-US" dirty="0"/>
        </a:p>
        <a:p>
          <a:r>
            <a:rPr lang="en-US" dirty="0"/>
            <a:t>How to Recover History Files
</a:t>
          </a:r>
        </a:p>
      </dgm:t>
    </dgm:pt>
    <dgm:pt modelId="{72C6FB54-F929-4089-B3A7-6870DB483396}" type="parTrans" cxnId="{12BAA908-1345-4367-802C-ECB9D425471E}">
      <dgm:prSet/>
      <dgm:spPr/>
      <dgm:t>
        <a:bodyPr/>
        <a:lstStyle/>
        <a:p>
          <a:endParaRPr lang="en-US"/>
        </a:p>
      </dgm:t>
    </dgm:pt>
    <dgm:pt modelId="{1A774961-373F-4C89-BACC-A626099DA237}" type="sibTrans" cxnId="{12BAA908-1345-4367-802C-ECB9D425471E}">
      <dgm:prSet/>
      <dgm:spPr/>
      <dgm:t>
        <a:bodyPr/>
        <a:lstStyle/>
        <a:p>
          <a:endParaRPr lang="en-US"/>
        </a:p>
      </dgm:t>
    </dgm:pt>
    <dgm:pt modelId="{9BC9EDB3-7A2D-4C4E-B706-0FA691FA4BCB}">
      <dgm:prSet/>
      <dgm:spPr/>
      <dgm:t>
        <a:bodyPr/>
        <a:lstStyle/>
        <a:p>
          <a:r>
            <a:rPr lang="en-US"/>
            <a:t>Challenges in Working with History Files</a:t>
          </a:r>
        </a:p>
      </dgm:t>
    </dgm:pt>
    <dgm:pt modelId="{4EE387EF-8D89-414C-AC99-D57598F1211C}" type="parTrans" cxnId="{2F05F993-89DD-4D75-A595-D7E2C7FF5D49}">
      <dgm:prSet/>
      <dgm:spPr/>
      <dgm:t>
        <a:bodyPr/>
        <a:lstStyle/>
        <a:p>
          <a:endParaRPr lang="en-US"/>
        </a:p>
      </dgm:t>
    </dgm:pt>
    <dgm:pt modelId="{1D1789EF-78DB-4F15-BD44-0CF82C13C4BF}" type="sibTrans" cxnId="{2F05F993-89DD-4D75-A595-D7E2C7FF5D49}">
      <dgm:prSet/>
      <dgm:spPr/>
      <dgm:t>
        <a:bodyPr/>
        <a:lstStyle/>
        <a:p>
          <a:endParaRPr lang="en-US"/>
        </a:p>
      </dgm:t>
    </dgm:pt>
    <dgm:pt modelId="{23CA91F7-8B77-4D48-B2EE-FDBA1696316C}" type="pres">
      <dgm:prSet presAssocID="{6A70FD8F-0050-42E3-8B3A-6ED7CFB9852E}" presName="diagram" presStyleCnt="0">
        <dgm:presLayoutVars>
          <dgm:dir/>
          <dgm:resizeHandles val="exact"/>
        </dgm:presLayoutVars>
      </dgm:prSet>
      <dgm:spPr/>
    </dgm:pt>
    <dgm:pt modelId="{48F09658-48A8-4DB4-84D3-A7D4413B3894}" type="pres">
      <dgm:prSet presAssocID="{F3B29930-025B-401B-90A6-6AFB591806F7}" presName="node" presStyleLbl="node1" presStyleIdx="0" presStyleCnt="5">
        <dgm:presLayoutVars>
          <dgm:bulletEnabled val="1"/>
        </dgm:presLayoutVars>
      </dgm:prSet>
      <dgm:spPr/>
    </dgm:pt>
    <dgm:pt modelId="{CFEE8B22-4D9A-432B-B5E5-0A84B93590BE}" type="pres">
      <dgm:prSet presAssocID="{AC8CAA59-20F8-4CE6-BFDF-3FB32B0576BC}" presName="sibTrans" presStyleLbl="sibTrans2D1" presStyleIdx="0" presStyleCnt="4"/>
      <dgm:spPr/>
    </dgm:pt>
    <dgm:pt modelId="{85928E60-1A1A-48FB-83E1-297E9CC1F37F}" type="pres">
      <dgm:prSet presAssocID="{AC8CAA59-20F8-4CE6-BFDF-3FB32B0576BC}" presName="connectorText" presStyleLbl="sibTrans2D1" presStyleIdx="0" presStyleCnt="4"/>
      <dgm:spPr/>
    </dgm:pt>
    <dgm:pt modelId="{D2B9F947-8B2F-4253-829D-60F7D18BF2F9}" type="pres">
      <dgm:prSet presAssocID="{5A7A8103-A630-43F0-9EA2-0D08E35155F6}" presName="node" presStyleLbl="node1" presStyleIdx="1" presStyleCnt="5">
        <dgm:presLayoutVars>
          <dgm:bulletEnabled val="1"/>
        </dgm:presLayoutVars>
      </dgm:prSet>
      <dgm:spPr/>
    </dgm:pt>
    <dgm:pt modelId="{4AB76156-7791-485A-A65A-F32D4A2FAD8B}" type="pres">
      <dgm:prSet presAssocID="{8564ADDD-487E-4F14-9811-56F8A4D0C996}" presName="sibTrans" presStyleLbl="sibTrans2D1" presStyleIdx="1" presStyleCnt="4"/>
      <dgm:spPr/>
    </dgm:pt>
    <dgm:pt modelId="{EA167ECB-A5D2-45D4-8C7E-CA745ECD36A4}" type="pres">
      <dgm:prSet presAssocID="{8564ADDD-487E-4F14-9811-56F8A4D0C996}" presName="connectorText" presStyleLbl="sibTrans2D1" presStyleIdx="1" presStyleCnt="4"/>
      <dgm:spPr/>
    </dgm:pt>
    <dgm:pt modelId="{7A474747-0D1E-4CAB-B703-26ECF18B9CED}" type="pres">
      <dgm:prSet presAssocID="{3A8E89CB-7B84-4968-B98F-9857902FD4E0}" presName="node" presStyleLbl="node1" presStyleIdx="2" presStyleCnt="5">
        <dgm:presLayoutVars>
          <dgm:bulletEnabled val="1"/>
        </dgm:presLayoutVars>
      </dgm:prSet>
      <dgm:spPr/>
    </dgm:pt>
    <dgm:pt modelId="{5552DDC9-20F4-4C45-B23E-39D57BAFFACD}" type="pres">
      <dgm:prSet presAssocID="{C068B2E3-C61F-42FE-B0E6-4FC7B0BDFAE1}" presName="sibTrans" presStyleLbl="sibTrans2D1" presStyleIdx="2" presStyleCnt="4"/>
      <dgm:spPr/>
    </dgm:pt>
    <dgm:pt modelId="{1A537233-8E3C-498C-B373-00285B836937}" type="pres">
      <dgm:prSet presAssocID="{C068B2E3-C61F-42FE-B0E6-4FC7B0BDFAE1}" presName="connectorText" presStyleLbl="sibTrans2D1" presStyleIdx="2" presStyleCnt="4"/>
      <dgm:spPr/>
    </dgm:pt>
    <dgm:pt modelId="{9587EB0D-0A0F-46A8-B9E9-D9CCD205239F}" type="pres">
      <dgm:prSet presAssocID="{4110A9D0-F119-42B9-9508-82D2BCB5A976}" presName="node" presStyleLbl="node1" presStyleIdx="3" presStyleCnt="5">
        <dgm:presLayoutVars>
          <dgm:bulletEnabled val="1"/>
        </dgm:presLayoutVars>
      </dgm:prSet>
      <dgm:spPr/>
    </dgm:pt>
    <dgm:pt modelId="{2A8A0A48-8EA7-4281-9422-608B3394358C}" type="pres">
      <dgm:prSet presAssocID="{1A774961-373F-4C89-BACC-A626099DA237}" presName="sibTrans" presStyleLbl="sibTrans2D1" presStyleIdx="3" presStyleCnt="4"/>
      <dgm:spPr/>
    </dgm:pt>
    <dgm:pt modelId="{9FE7EF81-8D9E-4A00-8DE2-B469873913B7}" type="pres">
      <dgm:prSet presAssocID="{1A774961-373F-4C89-BACC-A626099DA237}" presName="connectorText" presStyleLbl="sibTrans2D1" presStyleIdx="3" presStyleCnt="4"/>
      <dgm:spPr/>
    </dgm:pt>
    <dgm:pt modelId="{5F447B69-918C-4B1D-8182-460049A595FF}" type="pres">
      <dgm:prSet presAssocID="{9BC9EDB3-7A2D-4C4E-B706-0FA691FA4BCB}" presName="node" presStyleLbl="node1" presStyleIdx="4" presStyleCnt="5">
        <dgm:presLayoutVars>
          <dgm:bulletEnabled val="1"/>
        </dgm:presLayoutVars>
      </dgm:prSet>
      <dgm:spPr/>
    </dgm:pt>
  </dgm:ptLst>
  <dgm:cxnLst>
    <dgm:cxn modelId="{12BAA908-1345-4367-802C-ECB9D425471E}" srcId="{6A70FD8F-0050-42E3-8B3A-6ED7CFB9852E}" destId="{4110A9D0-F119-42B9-9508-82D2BCB5A976}" srcOrd="3" destOrd="0" parTransId="{72C6FB54-F929-4089-B3A7-6870DB483396}" sibTransId="{1A774961-373F-4C89-BACC-A626099DA237}"/>
    <dgm:cxn modelId="{49CD1E09-5DF7-405F-85B7-77F194621E21}" type="presOf" srcId="{8564ADDD-487E-4F14-9811-56F8A4D0C996}" destId="{EA167ECB-A5D2-45D4-8C7E-CA745ECD36A4}" srcOrd="1" destOrd="0" presId="urn:microsoft.com/office/officeart/2005/8/layout/process5"/>
    <dgm:cxn modelId="{629A5018-07D4-49BD-A36D-58159C2A8EB3}" type="presOf" srcId="{5A7A8103-A630-43F0-9EA2-0D08E35155F6}" destId="{D2B9F947-8B2F-4253-829D-60F7D18BF2F9}" srcOrd="0" destOrd="0" presId="urn:microsoft.com/office/officeart/2005/8/layout/process5"/>
    <dgm:cxn modelId="{16DE521B-EE96-4875-A174-14B0BE784B2B}" type="presOf" srcId="{C068B2E3-C61F-42FE-B0E6-4FC7B0BDFAE1}" destId="{5552DDC9-20F4-4C45-B23E-39D57BAFFACD}" srcOrd="0" destOrd="0" presId="urn:microsoft.com/office/officeart/2005/8/layout/process5"/>
    <dgm:cxn modelId="{237B292E-47B4-43F4-B26B-7DC440D1725B}" type="presOf" srcId="{4110A9D0-F119-42B9-9508-82D2BCB5A976}" destId="{9587EB0D-0A0F-46A8-B9E9-D9CCD205239F}" srcOrd="0" destOrd="0" presId="urn:microsoft.com/office/officeart/2005/8/layout/process5"/>
    <dgm:cxn modelId="{60DC0431-EBFA-4AF3-9509-9D42AECC2CC3}" type="presOf" srcId="{3A8E89CB-7B84-4968-B98F-9857902FD4E0}" destId="{7A474747-0D1E-4CAB-B703-26ECF18B9CED}" srcOrd="0" destOrd="0" presId="urn:microsoft.com/office/officeart/2005/8/layout/process5"/>
    <dgm:cxn modelId="{88D5BE34-FC7C-4DFE-A435-C9B7F9FDB0CF}" type="presOf" srcId="{AC8CAA59-20F8-4CE6-BFDF-3FB32B0576BC}" destId="{85928E60-1A1A-48FB-83E1-297E9CC1F37F}" srcOrd="1" destOrd="0" presId="urn:microsoft.com/office/officeart/2005/8/layout/process5"/>
    <dgm:cxn modelId="{FEA22542-3CC3-4433-9F5F-4AA012D92522}" srcId="{6A70FD8F-0050-42E3-8B3A-6ED7CFB9852E}" destId="{F3B29930-025B-401B-90A6-6AFB591806F7}" srcOrd="0" destOrd="0" parTransId="{008BC3E0-2F87-4DBA-A57F-B8D2C31F3048}" sibTransId="{AC8CAA59-20F8-4CE6-BFDF-3FB32B0576BC}"/>
    <dgm:cxn modelId="{3AF0A76B-5EFF-4EB7-B370-AA64B154CFC1}" type="presOf" srcId="{6A70FD8F-0050-42E3-8B3A-6ED7CFB9852E}" destId="{23CA91F7-8B77-4D48-B2EE-FDBA1696316C}" srcOrd="0" destOrd="0" presId="urn:microsoft.com/office/officeart/2005/8/layout/process5"/>
    <dgm:cxn modelId="{3C871D6F-2BA9-4F32-BEF3-AD1381394C3D}" type="presOf" srcId="{C068B2E3-C61F-42FE-B0E6-4FC7B0BDFAE1}" destId="{1A537233-8E3C-498C-B373-00285B836937}" srcOrd="1" destOrd="0" presId="urn:microsoft.com/office/officeart/2005/8/layout/process5"/>
    <dgm:cxn modelId="{6069F64F-EE82-4F2B-8C4B-7F8B71B01994}" type="presOf" srcId="{1A774961-373F-4C89-BACC-A626099DA237}" destId="{2A8A0A48-8EA7-4281-9422-608B3394358C}" srcOrd="0" destOrd="0" presId="urn:microsoft.com/office/officeart/2005/8/layout/process5"/>
    <dgm:cxn modelId="{98FC9651-2F98-4ACB-AC80-800F35B63456}" type="presOf" srcId="{1A774961-373F-4C89-BACC-A626099DA237}" destId="{9FE7EF81-8D9E-4A00-8DE2-B469873913B7}" srcOrd="1" destOrd="0" presId="urn:microsoft.com/office/officeart/2005/8/layout/process5"/>
    <dgm:cxn modelId="{161C6554-761C-4BA7-9313-E10F132D9F0A}" srcId="{6A70FD8F-0050-42E3-8B3A-6ED7CFB9852E}" destId="{5A7A8103-A630-43F0-9EA2-0D08E35155F6}" srcOrd="1" destOrd="0" parTransId="{A27416AB-91B4-4E41-A624-F0836CB269EC}" sibTransId="{8564ADDD-487E-4F14-9811-56F8A4D0C996}"/>
    <dgm:cxn modelId="{CBA7F576-C39A-4A91-888B-0768F9923709}" type="presOf" srcId="{8564ADDD-487E-4F14-9811-56F8A4D0C996}" destId="{4AB76156-7791-485A-A65A-F32D4A2FAD8B}" srcOrd="0" destOrd="0" presId="urn:microsoft.com/office/officeart/2005/8/layout/process5"/>
    <dgm:cxn modelId="{2F05F993-89DD-4D75-A595-D7E2C7FF5D49}" srcId="{6A70FD8F-0050-42E3-8B3A-6ED7CFB9852E}" destId="{9BC9EDB3-7A2D-4C4E-B706-0FA691FA4BCB}" srcOrd="4" destOrd="0" parTransId="{4EE387EF-8D89-414C-AC99-D57598F1211C}" sibTransId="{1D1789EF-78DB-4F15-BD44-0CF82C13C4BF}"/>
    <dgm:cxn modelId="{E7DEE69C-4482-47D2-AB2D-90FE1935D7C0}" type="presOf" srcId="{F3B29930-025B-401B-90A6-6AFB591806F7}" destId="{48F09658-48A8-4DB4-84D3-A7D4413B3894}" srcOrd="0" destOrd="0" presId="urn:microsoft.com/office/officeart/2005/8/layout/process5"/>
    <dgm:cxn modelId="{D7EB2AA8-BC74-4878-8B92-25F10D43E468}" type="presOf" srcId="{9BC9EDB3-7A2D-4C4E-B706-0FA691FA4BCB}" destId="{5F447B69-918C-4B1D-8182-460049A595FF}" srcOrd="0" destOrd="0" presId="urn:microsoft.com/office/officeart/2005/8/layout/process5"/>
    <dgm:cxn modelId="{EE54B2CB-E939-4746-A4FB-E949CBD40373}" srcId="{6A70FD8F-0050-42E3-8B3A-6ED7CFB9852E}" destId="{3A8E89CB-7B84-4968-B98F-9857902FD4E0}" srcOrd="2" destOrd="0" parTransId="{7179B346-033B-4B13-A494-00DED3C83B32}" sibTransId="{C068B2E3-C61F-42FE-B0E6-4FC7B0BDFAE1}"/>
    <dgm:cxn modelId="{5E542AD1-F647-4C68-89A1-ADE8D5DF5C54}" type="presOf" srcId="{AC8CAA59-20F8-4CE6-BFDF-3FB32B0576BC}" destId="{CFEE8B22-4D9A-432B-B5E5-0A84B93590BE}" srcOrd="0" destOrd="0" presId="urn:microsoft.com/office/officeart/2005/8/layout/process5"/>
    <dgm:cxn modelId="{D461EC64-E879-402C-8BD6-CC0803949248}" type="presParOf" srcId="{23CA91F7-8B77-4D48-B2EE-FDBA1696316C}" destId="{48F09658-48A8-4DB4-84D3-A7D4413B3894}" srcOrd="0" destOrd="0" presId="urn:microsoft.com/office/officeart/2005/8/layout/process5"/>
    <dgm:cxn modelId="{BC1BD6C4-BD62-48CD-9E29-53CD72F07E64}" type="presParOf" srcId="{23CA91F7-8B77-4D48-B2EE-FDBA1696316C}" destId="{CFEE8B22-4D9A-432B-B5E5-0A84B93590BE}" srcOrd="1" destOrd="0" presId="urn:microsoft.com/office/officeart/2005/8/layout/process5"/>
    <dgm:cxn modelId="{6CC54711-DCD9-448C-AEA4-A805DB5FD070}" type="presParOf" srcId="{CFEE8B22-4D9A-432B-B5E5-0A84B93590BE}" destId="{85928E60-1A1A-48FB-83E1-297E9CC1F37F}" srcOrd="0" destOrd="0" presId="urn:microsoft.com/office/officeart/2005/8/layout/process5"/>
    <dgm:cxn modelId="{C5DE64E6-544C-479D-85CE-C13212279180}" type="presParOf" srcId="{23CA91F7-8B77-4D48-B2EE-FDBA1696316C}" destId="{D2B9F947-8B2F-4253-829D-60F7D18BF2F9}" srcOrd="2" destOrd="0" presId="urn:microsoft.com/office/officeart/2005/8/layout/process5"/>
    <dgm:cxn modelId="{4B2DD6FB-CC55-4514-8870-D9D27ED170D4}" type="presParOf" srcId="{23CA91F7-8B77-4D48-B2EE-FDBA1696316C}" destId="{4AB76156-7791-485A-A65A-F32D4A2FAD8B}" srcOrd="3" destOrd="0" presId="urn:microsoft.com/office/officeart/2005/8/layout/process5"/>
    <dgm:cxn modelId="{00E63E14-02DA-493D-8C9A-96248ED489A1}" type="presParOf" srcId="{4AB76156-7791-485A-A65A-F32D4A2FAD8B}" destId="{EA167ECB-A5D2-45D4-8C7E-CA745ECD36A4}" srcOrd="0" destOrd="0" presId="urn:microsoft.com/office/officeart/2005/8/layout/process5"/>
    <dgm:cxn modelId="{E8866C8B-0883-474E-A978-391096102AEE}" type="presParOf" srcId="{23CA91F7-8B77-4D48-B2EE-FDBA1696316C}" destId="{7A474747-0D1E-4CAB-B703-26ECF18B9CED}" srcOrd="4" destOrd="0" presId="urn:microsoft.com/office/officeart/2005/8/layout/process5"/>
    <dgm:cxn modelId="{55DEF1CE-E6B9-4090-8623-694568E1466E}" type="presParOf" srcId="{23CA91F7-8B77-4D48-B2EE-FDBA1696316C}" destId="{5552DDC9-20F4-4C45-B23E-39D57BAFFACD}" srcOrd="5" destOrd="0" presId="urn:microsoft.com/office/officeart/2005/8/layout/process5"/>
    <dgm:cxn modelId="{88C80AAD-F377-4E12-A8F8-EC4D74C70D93}" type="presParOf" srcId="{5552DDC9-20F4-4C45-B23E-39D57BAFFACD}" destId="{1A537233-8E3C-498C-B373-00285B836937}" srcOrd="0" destOrd="0" presId="urn:microsoft.com/office/officeart/2005/8/layout/process5"/>
    <dgm:cxn modelId="{D951BF0F-D3A3-4D38-95E4-98E88D839F1B}" type="presParOf" srcId="{23CA91F7-8B77-4D48-B2EE-FDBA1696316C}" destId="{9587EB0D-0A0F-46A8-B9E9-D9CCD205239F}" srcOrd="6" destOrd="0" presId="urn:microsoft.com/office/officeart/2005/8/layout/process5"/>
    <dgm:cxn modelId="{F4280C14-6EDC-44B6-A0C7-3BDE5E889B99}" type="presParOf" srcId="{23CA91F7-8B77-4D48-B2EE-FDBA1696316C}" destId="{2A8A0A48-8EA7-4281-9422-608B3394358C}" srcOrd="7" destOrd="0" presId="urn:microsoft.com/office/officeart/2005/8/layout/process5"/>
    <dgm:cxn modelId="{2562C1C7-C19A-47B3-AD12-FDF82E7150DE}" type="presParOf" srcId="{2A8A0A48-8EA7-4281-9422-608B3394358C}" destId="{9FE7EF81-8D9E-4A00-8DE2-B469873913B7}" srcOrd="0" destOrd="0" presId="urn:microsoft.com/office/officeart/2005/8/layout/process5"/>
    <dgm:cxn modelId="{D74CB132-5EDD-4AA8-8DE3-380E91DC00FC}" type="presParOf" srcId="{23CA91F7-8B77-4D48-B2EE-FDBA1696316C}" destId="{5F447B69-918C-4B1D-8182-460049A595FF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09658-48A8-4DB4-84D3-A7D4413B3894}">
      <dsp:nvSpPr>
        <dsp:cNvPr id="0" name=""/>
        <dsp:cNvSpPr/>
      </dsp:nvSpPr>
      <dsp:spPr>
        <a:xfrm>
          <a:off x="1053446" y="3"/>
          <a:ext cx="2348172" cy="140890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What Are History Files?</a:t>
          </a:r>
        </a:p>
      </dsp:txBody>
      <dsp:txXfrm>
        <a:off x="1094711" y="41268"/>
        <a:ext cx="2265642" cy="1326373"/>
      </dsp:txXfrm>
    </dsp:sp>
    <dsp:sp modelId="{CFEE8B22-4D9A-432B-B5E5-0A84B93590BE}">
      <dsp:nvSpPr>
        <dsp:cNvPr id="0" name=""/>
        <dsp:cNvSpPr/>
      </dsp:nvSpPr>
      <dsp:spPr>
        <a:xfrm>
          <a:off x="3608258" y="413281"/>
          <a:ext cx="497812" cy="582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08258" y="529750"/>
        <a:ext cx="348468" cy="349408"/>
      </dsp:txXfrm>
    </dsp:sp>
    <dsp:sp modelId="{D2B9F947-8B2F-4253-829D-60F7D18BF2F9}">
      <dsp:nvSpPr>
        <dsp:cNvPr id="0" name=""/>
        <dsp:cNvSpPr/>
      </dsp:nvSpPr>
      <dsp:spPr>
        <a:xfrm>
          <a:off x="4340888" y="3"/>
          <a:ext cx="2348172" cy="140890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11548"/>
            <a:satOff val="-2264"/>
            <a:lumOff val="766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Importance of History Files in Forensics
</a:t>
          </a:r>
        </a:p>
      </dsp:txBody>
      <dsp:txXfrm>
        <a:off x="4382153" y="41268"/>
        <a:ext cx="2265642" cy="1326373"/>
      </dsp:txXfrm>
    </dsp:sp>
    <dsp:sp modelId="{4AB76156-7791-485A-A65A-F32D4A2FAD8B}">
      <dsp:nvSpPr>
        <dsp:cNvPr id="0" name=""/>
        <dsp:cNvSpPr/>
      </dsp:nvSpPr>
      <dsp:spPr>
        <a:xfrm>
          <a:off x="6895700" y="413281"/>
          <a:ext cx="497812" cy="582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148737"/>
            <a:satOff val="-2867"/>
            <a:lumOff val="93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895700" y="529750"/>
        <a:ext cx="348468" cy="349408"/>
      </dsp:txXfrm>
    </dsp:sp>
    <dsp:sp modelId="{7A474747-0D1E-4CAB-B703-26ECF18B9CED}">
      <dsp:nvSpPr>
        <dsp:cNvPr id="0" name=""/>
        <dsp:cNvSpPr/>
      </dsp:nvSpPr>
      <dsp:spPr>
        <a:xfrm>
          <a:off x="7628330" y="3"/>
          <a:ext cx="2348172" cy="140890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23096"/>
            <a:satOff val="-4529"/>
            <a:lumOff val="1533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Where History Files Are Stored
</a:t>
          </a:r>
        </a:p>
      </dsp:txBody>
      <dsp:txXfrm>
        <a:off x="7669595" y="41268"/>
        <a:ext cx="2265642" cy="1326373"/>
      </dsp:txXfrm>
    </dsp:sp>
    <dsp:sp modelId="{5552DDC9-20F4-4C45-B23E-39D57BAFFACD}">
      <dsp:nvSpPr>
        <dsp:cNvPr id="0" name=""/>
        <dsp:cNvSpPr/>
      </dsp:nvSpPr>
      <dsp:spPr>
        <a:xfrm rot="5400000">
          <a:off x="8553510" y="1573279"/>
          <a:ext cx="497812" cy="582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97474"/>
            <a:satOff val="-5735"/>
            <a:lumOff val="187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8627712" y="1615546"/>
        <a:ext cx="349408" cy="348468"/>
      </dsp:txXfrm>
    </dsp:sp>
    <dsp:sp modelId="{9587EB0D-0A0F-46A8-B9E9-D9CCD205239F}">
      <dsp:nvSpPr>
        <dsp:cNvPr id="0" name=""/>
        <dsp:cNvSpPr/>
      </dsp:nvSpPr>
      <dsp:spPr>
        <a:xfrm>
          <a:off x="7628330" y="2348176"/>
          <a:ext cx="2348172" cy="140890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34644"/>
            <a:satOff val="-6793"/>
            <a:lumOff val="2300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How to Recover History Files
</a:t>
          </a:r>
        </a:p>
      </dsp:txBody>
      <dsp:txXfrm>
        <a:off x="7669595" y="2389441"/>
        <a:ext cx="2265642" cy="1326373"/>
      </dsp:txXfrm>
    </dsp:sp>
    <dsp:sp modelId="{2A8A0A48-8EA7-4281-9422-608B3394358C}">
      <dsp:nvSpPr>
        <dsp:cNvPr id="0" name=""/>
        <dsp:cNvSpPr/>
      </dsp:nvSpPr>
      <dsp:spPr>
        <a:xfrm rot="10800000">
          <a:off x="6923878" y="2761454"/>
          <a:ext cx="497812" cy="5823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46212"/>
            <a:satOff val="-8602"/>
            <a:lumOff val="281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7073222" y="2877923"/>
        <a:ext cx="348468" cy="349408"/>
      </dsp:txXfrm>
    </dsp:sp>
    <dsp:sp modelId="{5F447B69-918C-4B1D-8182-460049A595FF}">
      <dsp:nvSpPr>
        <dsp:cNvPr id="0" name=""/>
        <dsp:cNvSpPr/>
      </dsp:nvSpPr>
      <dsp:spPr>
        <a:xfrm>
          <a:off x="4340888" y="2348176"/>
          <a:ext cx="2348172" cy="140890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Challenges in Working with History Files</a:t>
          </a:r>
        </a:p>
      </dsp:txBody>
      <dsp:txXfrm>
        <a:off x="4382153" y="2389441"/>
        <a:ext cx="2265642" cy="1326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E892F-C4D5-477D-B9A4-76BBACD83E2C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E2C-B283-4E62-A0B0-C0BD5892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0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8CE2C-B283-4E62-A0B0-C0BD589257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26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58CE2C-B283-4E62-A0B0-C0BD589257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9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8CE2C-B283-4E62-A0B0-C0BD589257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21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 fontScale="90000"/>
          </a:bodyPr>
          <a:lstStyle/>
          <a:p>
            <a:r>
              <a:rPr lang="en-US" dirty="0"/>
              <a:t>Digital Forensics: History File Artifacts in Windows</a:t>
            </a:r>
            <a:br>
              <a:rPr lang="en-US" dirty="0"/>
            </a:b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87292-336A-4BEC-067A-01B5F416E8CA}"/>
              </a:ext>
            </a:extLst>
          </p:cNvPr>
          <p:cNvSpPr/>
          <p:nvPr/>
        </p:nvSpPr>
        <p:spPr>
          <a:xfrm>
            <a:off x="3017520" y="3081866"/>
            <a:ext cx="5742432" cy="3318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Presented By: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Abubakr Latif - 003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Awais Ahmed – 008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Ahmar Hassan – 010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Ahmad Javaid – 015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Muhammad Ali – 019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Sultan ul Arfeen - 031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13996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</a:p>
        </p:txBody>
      </p:sp>
      <p:graphicFrame>
        <p:nvGraphicFramePr>
          <p:cNvPr id="4" name="Content Placeholder 2" descr="timeline">
            <a:extLst>
              <a:ext uri="{FF2B5EF4-FFF2-40B4-BE49-F238E27FC236}">
                <a16:creationId xmlns:a16="http://schemas.microsoft.com/office/drawing/2014/main" id="{FF3F0D82-0AA6-45C3-8367-955CBFA02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515491"/>
              </p:ext>
            </p:extLst>
          </p:nvPr>
        </p:nvGraphicFramePr>
        <p:xfrm>
          <a:off x="581025" y="2218267"/>
          <a:ext cx="11029950" cy="3757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D38E-A58A-CB1F-8CEA-C4518022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2891366"/>
          </a:xfrm>
        </p:spPr>
        <p:txBody>
          <a:bodyPr/>
          <a:lstStyle/>
          <a:p>
            <a:pPr algn="ctr"/>
            <a:r>
              <a:rPr lang="en-US" dirty="0"/>
              <a:t>What are history file Artifacts?</a:t>
            </a:r>
          </a:p>
        </p:txBody>
      </p:sp>
    </p:spTree>
    <p:extLst>
      <p:ext uri="{BB962C8B-B14F-4D97-AF65-F5344CB8AC3E}">
        <p14:creationId xmlns:p14="http://schemas.microsoft.com/office/powerpoint/2010/main" val="325529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E057-0687-6C91-A10C-01D40245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8860"/>
          </a:xfrm>
        </p:spPr>
        <p:txBody>
          <a:bodyPr/>
          <a:lstStyle/>
          <a:p>
            <a:r>
              <a:rPr lang="en-US" dirty="0"/>
              <a:t>History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3399-2698-5DC1-C3F4-6ACC22531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01368"/>
            <a:ext cx="11029615" cy="417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Definition</a:t>
            </a:r>
          </a:p>
          <a:p>
            <a:pPr marL="0" indent="0">
              <a:buNone/>
            </a:pPr>
            <a:r>
              <a:rPr lang="en-US" dirty="0"/>
              <a:t>History files are records automatically generated by software or the operating system that log a user's actions or system events over time.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1800" b="1" dirty="0"/>
              <a:t>Key Characteristics</a:t>
            </a:r>
          </a:p>
          <a:p>
            <a:r>
              <a:rPr lang="en-US" dirty="0"/>
              <a:t>Store </a:t>
            </a:r>
            <a:r>
              <a:rPr lang="en-US" b="1" dirty="0"/>
              <a:t>chronological information</a:t>
            </a:r>
            <a:r>
              <a:rPr lang="en-US" dirty="0"/>
              <a:t> about activities.</a:t>
            </a:r>
          </a:p>
          <a:p>
            <a:r>
              <a:rPr lang="en-US" dirty="0"/>
              <a:t>Help track what was done on a device and when.</a:t>
            </a:r>
          </a:p>
          <a:p>
            <a:r>
              <a:rPr lang="en-US" dirty="0"/>
              <a:t>Often created without user input or awareness.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2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85CA-71BF-FC18-3C94-48CCF213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13996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 Files in Web 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DCC62-5FA2-2C55-F34D-5ADC90ABB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99616"/>
            <a:ext cx="11029615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In the context of web browsers, </a:t>
            </a:r>
            <a:r>
              <a:rPr lang="en-US" b="1" dirty="0"/>
              <a:t>history files</a:t>
            </a:r>
            <a:r>
              <a:rPr lang="en-US" dirty="0"/>
              <a:t> are records automatically created and stored by the browser that log websites a user visits, including the date and time of each visit.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Browser History Files Store</a:t>
            </a:r>
          </a:p>
          <a:p>
            <a:r>
              <a:rPr lang="en-US" b="1" dirty="0"/>
              <a:t>URLs</a:t>
            </a:r>
            <a:r>
              <a:rPr lang="en-US" dirty="0"/>
              <a:t> of visited websites.</a:t>
            </a:r>
          </a:p>
          <a:p>
            <a:r>
              <a:rPr lang="en-US" dirty="0"/>
              <a:t>Page titles.</a:t>
            </a:r>
          </a:p>
          <a:p>
            <a:r>
              <a:rPr lang="en-US" b="1" dirty="0"/>
              <a:t>Timestamps</a:t>
            </a:r>
            <a:r>
              <a:rPr lang="en-US" dirty="0"/>
              <a:t> (date and time of each visit).</a:t>
            </a:r>
          </a:p>
          <a:p>
            <a:r>
              <a:rPr lang="en-US" dirty="0"/>
              <a:t>Number of visits to each site.</a:t>
            </a:r>
          </a:p>
          <a:p>
            <a:r>
              <a:rPr lang="en-US" dirty="0"/>
              <a:t>Download history.</a:t>
            </a:r>
          </a:p>
          <a:p>
            <a:r>
              <a:rPr lang="en-US" b="1" dirty="0"/>
              <a:t>Search queries</a:t>
            </a:r>
            <a:r>
              <a:rPr lang="en-US" dirty="0"/>
              <a:t> (from address bar or search engines).</a:t>
            </a:r>
          </a:p>
          <a:p>
            <a:r>
              <a:rPr lang="en-US" b="1" dirty="0"/>
              <a:t>Form data and autofill entries</a:t>
            </a:r>
            <a:r>
              <a:rPr lang="en-US" dirty="0"/>
              <a:t> (optional).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664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AF0A-243F-7FA0-0FFF-CFEE82DF7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772381"/>
            <a:ext cx="11029616" cy="566738"/>
          </a:xfrm>
        </p:spPr>
        <p:txBody>
          <a:bodyPr/>
          <a:lstStyle/>
          <a:p>
            <a:pPr algn="ctr"/>
            <a:r>
              <a:rPr lang="en-US" dirty="0"/>
              <a:t>A view of chrome-history-viewer</a:t>
            </a:r>
          </a:p>
        </p:txBody>
      </p:sp>
      <p:pic>
        <p:nvPicPr>
          <p:cNvPr id="6" name="Picture Placeholder 5" descr="A screenshot of a computer">
            <a:extLst>
              <a:ext uri="{FF2B5EF4-FFF2-40B4-BE49-F238E27FC236}">
                <a16:creationId xmlns:a16="http://schemas.microsoft.com/office/drawing/2014/main" id="{703713A5-61C4-362B-2FD5-A35342AE2B9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704" b="19704"/>
          <a:stretch>
            <a:fillRect/>
          </a:stretch>
        </p:blipFill>
        <p:spPr>
          <a:xfrm>
            <a:off x="447675" y="641349"/>
            <a:ext cx="11290300" cy="4625595"/>
          </a:xfrm>
        </p:spPr>
      </p:pic>
    </p:spTree>
    <p:extLst>
      <p:ext uri="{BB962C8B-B14F-4D97-AF65-F5344CB8AC3E}">
        <p14:creationId xmlns:p14="http://schemas.microsoft.com/office/powerpoint/2010/main" val="206532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300F-2917-50CB-20C3-A6A3D159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9235-52E7-ADCB-D95B-AEC8F943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2891366"/>
          </a:xfrm>
        </p:spPr>
        <p:txBody>
          <a:bodyPr/>
          <a:lstStyle/>
          <a:p>
            <a:pPr algn="ctr"/>
            <a:r>
              <a:rPr lang="en-US" dirty="0"/>
              <a:t>Importance of History Files in Forensics</a:t>
            </a:r>
          </a:p>
        </p:txBody>
      </p:sp>
    </p:spTree>
    <p:extLst>
      <p:ext uri="{BB962C8B-B14F-4D97-AF65-F5344CB8AC3E}">
        <p14:creationId xmlns:p14="http://schemas.microsoft.com/office/powerpoint/2010/main" val="384412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4045-092A-32F6-467B-CB66EFA7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96FD-CCE6-560B-9CE2-3576CAF2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8860"/>
          </a:xfrm>
        </p:spPr>
        <p:txBody>
          <a:bodyPr/>
          <a:lstStyle/>
          <a:p>
            <a:r>
              <a:rPr lang="en-US" dirty="0"/>
              <a:t>Why Browser History Matters in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72DB-C064-FD70-E355-B9A3E40EA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91640"/>
            <a:ext cx="11029615" cy="4283710"/>
          </a:xfrm>
        </p:spPr>
        <p:txBody>
          <a:bodyPr/>
          <a:lstStyle/>
          <a:p>
            <a:r>
              <a:rPr lang="en-US" dirty="0"/>
              <a:t>Artifacts Establishes user intent and behavior through browsing patterns</a:t>
            </a:r>
          </a:p>
          <a:p>
            <a:r>
              <a:rPr lang="en-US" dirty="0"/>
              <a:t>Reveals access to illicit or suspicious content</a:t>
            </a:r>
          </a:p>
          <a:p>
            <a:r>
              <a:rPr lang="en-US" dirty="0"/>
              <a:t>Supports profiling in suspect attribution</a:t>
            </a:r>
          </a:p>
          <a:p>
            <a:r>
              <a:rPr lang="en-US" dirty="0"/>
              <a:t>Highlights use of anonymizers, forums, or communication platforms</a:t>
            </a:r>
          </a:p>
          <a:p>
            <a:r>
              <a:rPr lang="en-US" dirty="0"/>
              <a:t>Plays key role in insider threat and HR investigations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1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83F6-3582-D41E-57CF-28527F2C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1F74-28B3-8F9C-6B24-0F1CEB35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8860"/>
          </a:xfrm>
        </p:spPr>
        <p:txBody>
          <a:bodyPr/>
          <a:lstStyle/>
          <a:p>
            <a:r>
              <a:rPr lang="en-US" dirty="0"/>
              <a:t>Timeline Reconstruction &amp;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A2A84-D1CF-8A1A-605B-8F6370D5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5740"/>
            <a:ext cx="11029615" cy="3300730"/>
          </a:xfrm>
        </p:spPr>
        <p:txBody>
          <a:bodyPr/>
          <a:lstStyle/>
          <a:p>
            <a:r>
              <a:rPr lang="en-US" dirty="0"/>
              <a:t>Precise timestamps of site visits help build detailed activity timelines</a:t>
            </a:r>
          </a:p>
          <a:p>
            <a:r>
              <a:rPr lang="en-US" dirty="0"/>
              <a:t>Enables correlation with file downloads, USB events, login times, etc.</a:t>
            </a:r>
          </a:p>
          <a:p>
            <a:r>
              <a:rPr lang="en-US" dirty="0"/>
              <a:t>Fills gaps in evidence when other logs are missing or incomplete</a:t>
            </a:r>
          </a:p>
          <a:p>
            <a:r>
              <a:rPr lang="en-US" dirty="0"/>
              <a:t>Essential for determining sequence of actions in incidents</a:t>
            </a:r>
          </a:p>
        </p:txBody>
      </p:sp>
    </p:spTree>
    <p:extLst>
      <p:ext uri="{BB962C8B-B14F-4D97-AF65-F5344CB8AC3E}">
        <p14:creationId xmlns:p14="http://schemas.microsoft.com/office/powerpoint/2010/main" val="71580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65A0-7D52-182F-F326-C8CAFAD3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F8D7-9878-FC09-0EE9-0A18BE62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8860"/>
          </a:xfrm>
        </p:spPr>
        <p:txBody>
          <a:bodyPr/>
          <a:lstStyle/>
          <a:p>
            <a:r>
              <a:rPr lang="en-US" dirty="0"/>
              <a:t>Strength as Corroborative &amp; Persistent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10F4B-CB10-9B0F-939F-ECBA3AF27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45740"/>
            <a:ext cx="7385518" cy="3300730"/>
          </a:xfrm>
        </p:spPr>
        <p:txBody>
          <a:bodyPr/>
          <a:lstStyle/>
          <a:p>
            <a:r>
              <a:rPr lang="en-US" dirty="0"/>
              <a:t>Confirms and supports evidence from other sources (e.g., emails, registry)</a:t>
            </a:r>
          </a:p>
          <a:p>
            <a:r>
              <a:rPr lang="en-US" dirty="0"/>
              <a:t>Useful even after deletion—remnants remain in cache, prefetch, or restore points</a:t>
            </a:r>
          </a:p>
          <a:p>
            <a:r>
              <a:rPr lang="en-US" dirty="0"/>
              <a:t>Attempted deletion can indicate intent to hide evidence</a:t>
            </a:r>
          </a:p>
          <a:p>
            <a:r>
              <a:rPr lang="en-US" dirty="0"/>
              <a:t>Can survive browser clearing via forensic techniques (SQLite recovery, carving)</a:t>
            </a:r>
          </a:p>
        </p:txBody>
      </p:sp>
    </p:spTree>
    <p:extLst>
      <p:ext uri="{BB962C8B-B14F-4D97-AF65-F5344CB8AC3E}">
        <p14:creationId xmlns:p14="http://schemas.microsoft.com/office/powerpoint/2010/main" val="107537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3001939"/>
          </a:xfrm>
        </p:spPr>
        <p:txBody>
          <a:bodyPr/>
          <a:lstStyle/>
          <a:p>
            <a:r>
              <a:rPr lang="en-US" dirty="0"/>
              <a:t>                           Where History files Are Stored  </a:t>
            </a:r>
          </a:p>
        </p:txBody>
      </p:sp>
    </p:spTree>
    <p:extLst>
      <p:ext uri="{BB962C8B-B14F-4D97-AF65-F5344CB8AC3E}">
        <p14:creationId xmlns:p14="http://schemas.microsoft.com/office/powerpoint/2010/main" val="255117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858" y="0"/>
            <a:ext cx="11029616" cy="1188720"/>
          </a:xfrm>
        </p:spPr>
        <p:txBody>
          <a:bodyPr/>
          <a:lstStyle/>
          <a:p>
            <a:r>
              <a:rPr lang="en-US" dirty="0"/>
              <a:t>Google chrome history file path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626690"/>
              </p:ext>
            </p:extLst>
          </p:nvPr>
        </p:nvGraphicFramePr>
        <p:xfrm>
          <a:off x="580524" y="1333890"/>
          <a:ext cx="11029950" cy="228600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150414166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732919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Windows Version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History File Path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60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Windows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C:\Users\&lt;Username&gt;\AppData\Local\Google\Chrome\User Data\Default\History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94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C:\Users\&lt;Username&gt;\AppData\Local\Google\Chrome\User Data\Default\History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094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C:\Users\&lt;Username&gt;\AppData\Local\Google\Chrome\User Data\Default\History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1554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693705"/>
              </p:ext>
            </p:extLst>
          </p:nvPr>
        </p:nvGraphicFramePr>
        <p:xfrm>
          <a:off x="580524" y="3967573"/>
          <a:ext cx="11029950" cy="4084542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150414166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732919888"/>
                    </a:ext>
                  </a:extLst>
                </a:gridCol>
              </a:tblGrid>
              <a:tr h="487791">
                <a:tc>
                  <a:txBody>
                    <a:bodyPr/>
                    <a:lstStyle/>
                    <a:p>
                      <a:r>
                        <a:rPr lang="en-US" sz="1600" b="1" dirty="0"/>
                        <a:t>Access Rights</a:t>
                      </a:r>
                      <a:r>
                        <a:rPr lang="en-US" sz="16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Only that </a:t>
                      </a:r>
                      <a:r>
                        <a:rPr lang="en-US" sz="1600" b="1" dirty="0"/>
                        <a:t>user</a:t>
                      </a:r>
                      <a:r>
                        <a:rPr lang="en-US" sz="1600" dirty="0"/>
                        <a:t> can access their own history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Admin users</a:t>
                      </a:r>
                      <a:r>
                        <a:rPr lang="en-US" sz="1600" dirty="0"/>
                        <a:t> can access other users’ history using tools or permissions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Form</a:t>
                      </a:r>
                      <a:r>
                        <a:rPr lang="en-US" sz="1600" dirty="0"/>
                        <a:t>: SQLite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606048"/>
                  </a:ext>
                </a:extLst>
              </a:tr>
              <a:tr h="806092">
                <a:tc>
                  <a:txBody>
                    <a:bodyPr/>
                    <a:lstStyle/>
                    <a:p>
                      <a:r>
                        <a:rPr lang="en-US" sz="1600" b="1" i="0" u="none" dirty="0"/>
                        <a:t>Data Inside</a:t>
                      </a:r>
                      <a:r>
                        <a:rPr lang="en-US" sz="1600" i="0" u="none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URLs visited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Page titles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Visit times &amp; date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Visit count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Download history (in another file)</a:t>
                      </a:r>
                    </a:p>
                    <a:p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949404"/>
                  </a:ext>
                </a:extLst>
              </a:tr>
              <a:tr h="4877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094892"/>
                  </a:ext>
                </a:extLst>
              </a:tr>
              <a:tr h="4877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15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917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691" y="20670"/>
            <a:ext cx="11029616" cy="1188720"/>
          </a:xfrm>
        </p:spPr>
        <p:txBody>
          <a:bodyPr/>
          <a:lstStyle/>
          <a:p>
            <a:r>
              <a:rPr lang="en-US" dirty="0"/>
              <a:t>Microsoft edge History file path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450402"/>
              </p:ext>
            </p:extLst>
          </p:nvPr>
        </p:nvGraphicFramePr>
        <p:xfrm>
          <a:off x="580691" y="1610535"/>
          <a:ext cx="11029950" cy="201168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397182533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1152299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Windows Version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History File Path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016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Not supported (Edge Chromium not available)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75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C:\Users\&lt;Username&gt;\AppData\Local\Microsoft\Edge\User Data\Default\History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59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C:\Users\&lt;Username&gt;\AppData\Local\Microsoft\Edge\User Data\Default\History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657056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1700449"/>
              </p:ext>
            </p:extLst>
          </p:nvPr>
        </p:nvGraphicFramePr>
        <p:xfrm>
          <a:off x="580691" y="4255835"/>
          <a:ext cx="11029950" cy="283464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397182533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1152299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b="1" dirty="0"/>
                        <a:t>Access Rights</a:t>
                      </a:r>
                      <a:r>
                        <a:rPr lang="en-US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Same as Chrome: own user or admin-level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Hidden folder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AppData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b="1" dirty="0"/>
                        <a:t>Form</a:t>
                      </a:r>
                      <a:r>
                        <a:rPr lang="en-US" dirty="0"/>
                        <a:t>: SQLite database</a:t>
                      </a:r>
                    </a:p>
                    <a:p>
                      <a:r>
                        <a:rPr lang="en-US" b="1" dirty="0"/>
                        <a:t>Data Inside</a:t>
                      </a:r>
                      <a:r>
                        <a:rPr lang="en-US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Same as Chrome (Edge is also Chromium-based)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016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75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59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65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43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Mozilla Firefox history file path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33455"/>
              </p:ext>
            </p:extLst>
          </p:nvPr>
        </p:nvGraphicFramePr>
        <p:xfrm>
          <a:off x="581192" y="1333890"/>
          <a:ext cx="11029950" cy="228600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376270383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905228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Windows Version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History File Path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835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Windows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C:\Users\&lt;Username&gt;\AppData\Roaming\Mozilla\Firefox\Profiles\&lt;Profile&gt;\places.sqlite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331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C:\Users\&lt;Username&gt;\AppData\Roaming\Mozilla\Firefox\Profiles\&lt;Profile&gt;\places.sqlite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38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Windows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C:\Users\&lt;Username&gt;\AppData\Roaming\Mozilla\Firefox\Profiles\&lt;Profile&gt;\places.sqlite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98544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31854"/>
              </p:ext>
            </p:extLst>
          </p:nvPr>
        </p:nvGraphicFramePr>
        <p:xfrm>
          <a:off x="581192" y="4029567"/>
          <a:ext cx="11029950" cy="362712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655975010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276645985"/>
                    </a:ext>
                  </a:extLst>
                </a:gridCol>
              </a:tblGrid>
              <a:tr h="2206690">
                <a:tc>
                  <a:txBody>
                    <a:bodyPr/>
                    <a:lstStyle/>
                    <a:p>
                      <a:r>
                        <a:rPr lang="en-US" sz="1600" b="1" dirty="0"/>
                        <a:t>Access Rights</a:t>
                      </a:r>
                      <a:r>
                        <a:rPr lang="en-US" sz="16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Same: Only accessible by that user or admin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Roaming folder is part of user profile — hidden by default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Form</a:t>
                      </a:r>
                      <a:r>
                        <a:rPr lang="en-US" sz="1600" dirty="0"/>
                        <a:t>: SQLite database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Data Inside</a:t>
                      </a:r>
                      <a:r>
                        <a:rPr lang="en-US" sz="16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Browsing history (URLs, titles, time)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Bookmarks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Visit count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Download records (in older versions)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Favicon icons (in favicons. SQLite)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461394"/>
                  </a:ext>
                </a:extLst>
              </a:tr>
              <a:tr h="2744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354265"/>
                  </a:ext>
                </a:extLst>
              </a:tr>
              <a:tr h="27440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526422"/>
                  </a:ext>
                </a:extLst>
              </a:tr>
              <a:tr h="27440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36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12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6712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Explorer history file path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841992"/>
              </p:ext>
            </p:extLst>
          </p:nvPr>
        </p:nvGraphicFramePr>
        <p:xfrm>
          <a:off x="580858" y="1271897"/>
          <a:ext cx="11029950" cy="228600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371627226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006015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Windows Version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History File Path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91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Windows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C:\Users\&lt;Username&gt;\AppData\Local\Microsoft\Windows\History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24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Windows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C:\Users\&lt;Username&gt;\AppData\Local\Microsoft\Windows\WebCache\WebCacheV01.dat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453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Windows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C:\Users\&lt;Username&gt;\AppData\Local\Microsoft\Windows\WebCache\WebCacheV01.dat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41193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044701"/>
              </p:ext>
            </p:extLst>
          </p:nvPr>
        </p:nvGraphicFramePr>
        <p:xfrm>
          <a:off x="580858" y="3987274"/>
          <a:ext cx="11029950" cy="393192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154026000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128353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Access Rights: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Same: Only accessible by that user or an administrator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AppData</a:t>
                      </a:r>
                      <a:r>
                        <a:rPr lang="en-US" sz="1600" dirty="0"/>
                        <a:t>\Local folder is hidden by default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Requires elevated permission/tools to view or extract .</a:t>
                      </a:r>
                      <a:r>
                        <a:rPr lang="en-US" sz="1600" dirty="0" err="1"/>
                        <a:t>dat</a:t>
                      </a:r>
                      <a:r>
                        <a:rPr lang="en-US" sz="1600" dirty="0"/>
                        <a:t> content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Data Inside </a:t>
                      </a:r>
                      <a:r>
                        <a:rPr lang="en-US" sz="1600" b="1" i="1" dirty="0"/>
                        <a:t>(in WebCacheV01.dat)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Visited URLs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Cached web content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Cookies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Form data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Typed URLs Local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81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86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4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447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193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73" y="725403"/>
            <a:ext cx="11029616" cy="2939945"/>
          </a:xfrm>
        </p:spPr>
        <p:txBody>
          <a:bodyPr/>
          <a:lstStyle/>
          <a:p>
            <a:pPr algn="ctr"/>
            <a:r>
              <a:rPr lang="en-US" dirty="0"/>
              <a:t>How to recover history files</a:t>
            </a:r>
          </a:p>
        </p:txBody>
      </p:sp>
    </p:spTree>
    <p:extLst>
      <p:ext uri="{BB962C8B-B14F-4D97-AF65-F5344CB8AC3E}">
        <p14:creationId xmlns:p14="http://schemas.microsoft.com/office/powerpoint/2010/main" val="2382786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78170"/>
            <a:ext cx="11029616" cy="460217"/>
          </a:xfrm>
        </p:spPr>
        <p:txBody>
          <a:bodyPr>
            <a:normAutofit fontScale="90000"/>
          </a:bodyPr>
          <a:lstStyle/>
          <a:p>
            <a:r>
              <a:rPr lang="en-US" dirty="0"/>
              <a:t>Manually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476"/>
            <a:ext cx="11029615" cy="567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Enable Hidden Files</a:t>
            </a:r>
          </a:p>
          <a:p>
            <a:r>
              <a:rPr lang="en-US" dirty="0"/>
              <a:t>Open File Explorer → View tab → Check </a:t>
            </a:r>
            <a:r>
              <a:rPr lang="en-US" b="1" dirty="0"/>
              <a:t>"Show hidden files“</a:t>
            </a:r>
          </a:p>
          <a:p>
            <a:pPr marL="0" indent="0">
              <a:buNone/>
            </a:pPr>
            <a:r>
              <a:rPr lang="en-US" b="1" dirty="0"/>
              <a:t>2. Navigate to History File Paths</a:t>
            </a:r>
          </a:p>
          <a:p>
            <a:r>
              <a:rPr lang="en-US" b="1" dirty="0"/>
              <a:t>Chrome: </a:t>
            </a:r>
            <a:r>
              <a:rPr lang="en-US" dirty="0"/>
              <a:t>C:\Users\&lt;Username&gt;\AppData\Local\Google\Chrome\User Data\Default\History</a:t>
            </a:r>
          </a:p>
          <a:p>
            <a:r>
              <a:rPr lang="en-US" b="1" dirty="0"/>
              <a:t>Firefox: </a:t>
            </a:r>
            <a:r>
              <a:rPr lang="en-US" dirty="0"/>
              <a:t>C:\Users\&lt;Username&gt;\AppData\Roaming\Mozilla\Firefox\Profiles\&lt;Profile&gt;\places.sqlite</a:t>
            </a:r>
          </a:p>
          <a:p>
            <a:r>
              <a:rPr lang="en-US" b="1" dirty="0"/>
              <a:t>Edge: </a:t>
            </a:r>
            <a:r>
              <a:rPr lang="en-US" dirty="0"/>
              <a:t>C:\Users\&lt;Username&gt;\AppData\Local\Microsoft\Edge\User Data\Default\History</a:t>
            </a:r>
          </a:p>
          <a:p>
            <a:r>
              <a:rPr lang="en-US" b="1" dirty="0"/>
              <a:t>Internet Explorer: </a:t>
            </a:r>
            <a:r>
              <a:rPr lang="en-US" dirty="0"/>
              <a:t>C:\Users\&lt;Username&gt;\AppData\Local\Microsoft\Windows\WebCache\WebCacheV01.dat</a:t>
            </a:r>
          </a:p>
          <a:p>
            <a:pPr marL="0" indent="0">
              <a:buNone/>
            </a:pPr>
            <a:r>
              <a:rPr lang="en-US" b="1" dirty="0"/>
              <a:t>3. Copy Files to safe location</a:t>
            </a:r>
          </a:p>
          <a:p>
            <a:pPr marL="0" indent="0">
              <a:buNone/>
            </a:pPr>
            <a:r>
              <a:rPr lang="en-US" b="1" dirty="0"/>
              <a:t>4. Use SQLite Tools (for viewing only)</a:t>
            </a:r>
          </a:p>
          <a:p>
            <a:pPr marL="0" indent="0">
              <a:buNone/>
            </a:pPr>
            <a:r>
              <a:rPr lang="en-US" b="1" dirty="0"/>
              <a:t>5. Limitations</a:t>
            </a:r>
          </a:p>
          <a:p>
            <a:r>
              <a:rPr lang="en-US" dirty="0"/>
              <a:t>Deleted entries might not be visible</a:t>
            </a:r>
          </a:p>
          <a:p>
            <a:r>
              <a:rPr lang="en-US" dirty="0"/>
              <a:t>Cannot decode ESE files like IE’s.dat</a:t>
            </a:r>
          </a:p>
          <a:p>
            <a:pPr marL="0" indent="0">
              <a:buNone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3603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956168"/>
            <a:ext cx="11029616" cy="359478"/>
          </a:xfrm>
        </p:spPr>
        <p:txBody>
          <a:bodyPr>
            <a:normAutofit fontScale="90000"/>
          </a:bodyPr>
          <a:lstStyle/>
          <a:p>
            <a:r>
              <a:rPr lang="en-US" dirty="0"/>
              <a:t>Recovering through autopsy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204" y="1626334"/>
            <a:ext cx="5850087" cy="28194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Autopsy (Open Source Tool)</a:t>
            </a:r>
          </a:p>
          <a:p>
            <a:r>
              <a:rPr lang="en-US" dirty="0"/>
              <a:t>Create a New Case </a:t>
            </a:r>
            <a:r>
              <a:rPr lang="en-US" dirty="0">
                <a:sym typeface="Wingdings" panose="05000000000000000000" pitchFamily="2" charset="2"/>
              </a:rPr>
              <a:t> Add data source</a:t>
            </a:r>
          </a:p>
          <a:p>
            <a:r>
              <a:rPr lang="en-US" dirty="0">
                <a:sym typeface="Wingdings" panose="05000000000000000000" pitchFamily="2" charset="2"/>
              </a:rPr>
              <a:t>Select “Web history” in ingest modules</a:t>
            </a:r>
          </a:p>
          <a:p>
            <a:r>
              <a:rPr lang="en-US" dirty="0">
                <a:sym typeface="Wingdings" panose="05000000000000000000" pitchFamily="2" charset="2"/>
              </a:rPr>
              <a:t>Show deleted and existing URL’s, visits, and searches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296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04AA-CE2E-EC17-3490-CA92F21B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F519-567F-018E-919A-D3CBB874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251" y="831180"/>
            <a:ext cx="4232175" cy="35947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3FA6E-FB7A-1F69-8CD4-9488DDDCE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1141" y="769256"/>
            <a:ext cx="10829718" cy="6088744"/>
          </a:xfrm>
        </p:spPr>
      </p:pic>
    </p:spTree>
    <p:extLst>
      <p:ext uri="{BB962C8B-B14F-4D97-AF65-F5344CB8AC3E}">
        <p14:creationId xmlns:p14="http://schemas.microsoft.com/office/powerpoint/2010/main" val="2505832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A56D-68BB-DBB5-FFBF-CD214E94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9314-67EA-0F62-30B6-CA78D943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56168"/>
            <a:ext cx="11029616" cy="359478"/>
          </a:xfrm>
        </p:spPr>
        <p:txBody>
          <a:bodyPr>
            <a:normAutofit fontScale="90000"/>
          </a:bodyPr>
          <a:lstStyle/>
          <a:p>
            <a:r>
              <a:rPr lang="en-US" dirty="0"/>
              <a:t>Some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011C-C9AB-ACCC-A827-87C62EF5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16" y="1626332"/>
            <a:ext cx="9398803" cy="409142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Automatic deletion mechanisms in privacy-focused browsers (e.g., Brave, Tor) purge history files after sessions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Shift-based work environments leverage portable browsers on USB drives, </a:t>
            </a:r>
            <a:r>
              <a:rPr lang="en-US" sz="2000" dirty="0"/>
              <a:t>leaving</a:t>
            </a:r>
            <a:r>
              <a:rPr lang="en-US" sz="2000" b="0" i="0" dirty="0">
                <a:effectLst/>
                <a:latin typeface="fkGroteskNeue"/>
              </a:rPr>
              <a:t> minimal traces on host machines.</a:t>
            </a:r>
            <a:endParaRPr lang="en-US" sz="2000" u="none" strike="noStrike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Anti-forensic tools overwrite free disk space to prevent file carving recovery of deleted SQLite entries</a:t>
            </a:r>
            <a:r>
              <a:rPr lang="en-US" sz="2000" b="0" i="0" dirty="0">
                <a:effectLst/>
                <a:latin typeface="berkeleyMono"/>
              </a:rPr>
              <a:t>.</a:t>
            </a:r>
            <a:endParaRPr lang="en-US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40221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00D2-4C17-9262-46B0-8F403F7E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5D5E-3AE5-D0C9-1DD5-457981DF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56168"/>
            <a:ext cx="11029616" cy="359478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Conclusion: Key Takeaways on Browser History 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7FA8-D08A-DB7E-9E1A-E1D99776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81" y="1953631"/>
            <a:ext cx="9332702" cy="40505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Browser history artifacts</a:t>
            </a:r>
            <a:r>
              <a:rPr lang="en-US" dirty="0"/>
              <a:t> provide persistent evidence crucial in digital forensic investigations.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Timestamps and URLs</a:t>
            </a:r>
            <a:r>
              <a:rPr lang="en-US" dirty="0"/>
              <a:t> enable precise timeline reconstruction and user activity correlation.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History remnants often survive standard deletion; recovery is possible via </a:t>
            </a:r>
            <a:r>
              <a:rPr lang="en-US" b="1" dirty="0"/>
              <a:t>Autopsy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support </a:t>
            </a:r>
            <a:r>
              <a:rPr lang="en-US" b="1" dirty="0"/>
              <a:t>suspect profiling</a:t>
            </a:r>
            <a:r>
              <a:rPr lang="en-US" dirty="0"/>
              <a:t>, reveal intent, and confirm access to suspicious or illegal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Anti-forensic tools and privacy-focused browsers pose recovery challenges — awareness of these is essential.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Despite limitations, browser artifacts remain </a:t>
            </a:r>
            <a:r>
              <a:rPr lang="en-US" b="1" dirty="0"/>
              <a:t>high-value sources</a:t>
            </a:r>
            <a:r>
              <a:rPr lang="en-US" dirty="0"/>
              <a:t> in incident response and legal proceedings.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7441917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71af3243-3dd4-4a8d-8c0d-dd76da1f02a5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{3231EFDC-C0F1-4811-856D-7F9D64E54876}tf33552983_win32</Template>
  <TotalTime>400</TotalTime>
  <Words>1205</Words>
  <Application>Microsoft Office PowerPoint</Application>
  <PresentationFormat>Widescreen</PresentationFormat>
  <Paragraphs>171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berkeleyMono</vt:lpstr>
      <vt:lpstr>fkGroteskNeue</vt:lpstr>
      <vt:lpstr>Franklin Gothic Book</vt:lpstr>
      <vt:lpstr>Franklin Gothic Demi</vt:lpstr>
      <vt:lpstr>Wingdings</vt:lpstr>
      <vt:lpstr>Wingdings 2</vt:lpstr>
      <vt:lpstr>DividendVTI</vt:lpstr>
      <vt:lpstr>Digital Forensics: History File Artifacts in Windows </vt:lpstr>
      <vt:lpstr>Objective</vt:lpstr>
      <vt:lpstr>What are history file Artifacts?</vt:lpstr>
      <vt:lpstr>History Files</vt:lpstr>
      <vt:lpstr>History Files in Web Browsers</vt:lpstr>
      <vt:lpstr>A view of chrome-history-viewer</vt:lpstr>
      <vt:lpstr>Importance of History Files in Forensics</vt:lpstr>
      <vt:lpstr>Why Browser History Matters in Forensics</vt:lpstr>
      <vt:lpstr>Timeline Reconstruction &amp; Correlation</vt:lpstr>
      <vt:lpstr>Strength as Corroborative &amp; Persistent Evidence</vt:lpstr>
      <vt:lpstr>                           Where History files Are Stored  </vt:lpstr>
      <vt:lpstr>Google chrome history file path</vt:lpstr>
      <vt:lpstr>Microsoft edge History file path</vt:lpstr>
      <vt:lpstr>Mozilla Firefox history file path</vt:lpstr>
      <vt:lpstr>Internet Explorer history file path</vt:lpstr>
      <vt:lpstr>How to recover history files</vt:lpstr>
      <vt:lpstr>Manually</vt:lpstr>
      <vt:lpstr>Recovering through autopsy </vt:lpstr>
      <vt:lpstr>PowerPoint Presentation</vt:lpstr>
      <vt:lpstr>Some challenges</vt:lpstr>
      <vt:lpstr>Conclusion: Key Takeaways on Browser History Artifacts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Forensics: History File Artifacts in Windows</dc:title>
  <dc:creator>Abubakr Latif</dc:creator>
  <cp:lastModifiedBy>Awais Ahmed</cp:lastModifiedBy>
  <cp:revision>34</cp:revision>
  <dcterms:created xsi:type="dcterms:W3CDTF">2025-05-30T09:53:40Z</dcterms:created>
  <dcterms:modified xsi:type="dcterms:W3CDTF">2025-06-01T14:51:17Z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
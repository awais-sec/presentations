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4630400" cy="8229600"/>
  <p:notesSz cx="8229600" cy="14630400"/>
  <p:embeddedFontLst>
    <p:embeddedFont>
      <p:font typeface="Petrona"/>
      <p:regular r:id="rId16"/>
    </p:embeddedFont>
    <p:embeddedFont>
      <p:font typeface="Petrona"/>
      <p:regular r:id="rId17"/>
    </p:embeddedFont>
    <p:embeddedFont>
      <p:font typeface="Petrona"/>
      <p:regular r:id="rId18"/>
    </p:embeddedFont>
    <p:embeddedFont>
      <p:font typeface="Petrona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2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A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267783"/>
            <a:ext cx="7556421" cy="2338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Understanding Anti-Forensics in Cybersecurity</a:t>
            </a:r>
            <a:endParaRPr lang="en-US" sz="4900" dirty="0"/>
          </a:p>
        </p:txBody>
      </p:sp>
      <p:sp>
        <p:nvSpPr>
          <p:cNvPr id="4" name="Text 1"/>
          <p:cNvSpPr/>
          <p:nvPr/>
        </p:nvSpPr>
        <p:spPr>
          <a:xfrm>
            <a:off x="6280190" y="494680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Techniques, Tools, and Real-World Applications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5581769"/>
            <a:ext cx="362903" cy="362903"/>
          </a:xfrm>
          <a:prstGeom prst="roundRect">
            <a:avLst>
              <a:gd name="adj" fmla="val 25194296"/>
            </a:avLst>
          </a:prstGeom>
          <a:solidFill>
            <a:srgbClr val="7A054B"/>
          </a:solidFill>
          <a:ln w="7620">
            <a:solidFill>
              <a:srgbClr val="FFFF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391751" y="5714405"/>
            <a:ext cx="139779" cy="975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6756440" y="5564862"/>
            <a:ext cx="2304931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by Awais Ahmed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88381"/>
            <a:ext cx="8754666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Introduction to Anti-Forensics</a:t>
            </a:r>
            <a:endParaRPr lang="en-US" sz="4900" dirty="0"/>
          </a:p>
        </p:txBody>
      </p:sp>
      <p:sp>
        <p:nvSpPr>
          <p:cNvPr id="3" name="Text 1"/>
          <p:cNvSpPr/>
          <p:nvPr/>
        </p:nvSpPr>
        <p:spPr>
          <a:xfrm>
            <a:off x="793790" y="3634978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Definition</a:t>
            </a:r>
            <a:endParaRPr lang="en-US" sz="2450" dirty="0"/>
          </a:p>
        </p:txBody>
      </p:sp>
      <p:sp>
        <p:nvSpPr>
          <p:cNvPr id="4" name="Text 2"/>
          <p:cNvSpPr/>
          <p:nvPr/>
        </p:nvSpPr>
        <p:spPr>
          <a:xfrm>
            <a:off x="793790" y="4251722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Methods to obstruct digital forensic investigations.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5181600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Hindering evidence collection.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5332928" y="3634978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Purpose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5332928" y="425172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Erase evidence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5332928" y="4693920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 digital trails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5332928" y="5136118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 forensic analysis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9872067" y="3634978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Common Users</a:t>
            </a:r>
            <a:endParaRPr lang="en-US" sz="2450" dirty="0"/>
          </a:p>
        </p:txBody>
      </p:sp>
      <p:sp>
        <p:nvSpPr>
          <p:cNvPr id="11" name="Text 9"/>
          <p:cNvSpPr/>
          <p:nvPr/>
        </p:nvSpPr>
        <p:spPr>
          <a:xfrm>
            <a:off x="9872067" y="4251722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Cybercriminals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872067" y="4693920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Malware developers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9872067" y="5136118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Persistent Threats (APTs)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593783"/>
            <a:ext cx="11367611" cy="779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Goals and Importance of Anti-Forensics</a:t>
            </a:r>
            <a:endParaRPr lang="en-US" sz="49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4753213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87579" y="4848225"/>
            <a:ext cx="2254210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Avoid Detection</a:t>
            </a:r>
            <a:endParaRPr lang="en-US" sz="2450" dirty="0"/>
          </a:p>
        </p:txBody>
      </p:sp>
      <p:sp>
        <p:nvSpPr>
          <p:cNvPr id="6" name="Text 2"/>
          <p:cNvSpPr/>
          <p:nvPr/>
        </p:nvSpPr>
        <p:spPr>
          <a:xfrm>
            <a:off x="1587579" y="5764173"/>
            <a:ext cx="22542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 hidden during and after an attack.</a:t>
            </a:r>
            <a:endParaRPr lang="en-US" sz="17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5278" y="4753213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19067" y="4848225"/>
            <a:ext cx="2254329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Delay Response</a:t>
            </a:r>
            <a:endParaRPr lang="en-US" sz="2450" dirty="0"/>
          </a:p>
        </p:txBody>
      </p:sp>
      <p:sp>
        <p:nvSpPr>
          <p:cNvPr id="9" name="Text 4"/>
          <p:cNvSpPr/>
          <p:nvPr/>
        </p:nvSpPr>
        <p:spPr>
          <a:xfrm>
            <a:off x="4919067" y="5374243"/>
            <a:ext cx="22543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 down incident containment efforts.</a:t>
            </a:r>
            <a:endParaRPr lang="en-US" sz="17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4753213"/>
            <a:ext cx="566976" cy="56697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50674" y="4848225"/>
            <a:ext cx="2254329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Undermine Reliability</a:t>
            </a:r>
            <a:endParaRPr lang="en-US" sz="2450" dirty="0"/>
          </a:p>
        </p:txBody>
      </p:sp>
      <p:sp>
        <p:nvSpPr>
          <p:cNvPr id="12" name="Text 6"/>
          <p:cNvSpPr/>
          <p:nvPr/>
        </p:nvSpPr>
        <p:spPr>
          <a:xfrm>
            <a:off x="8250674" y="5764173"/>
            <a:ext cx="22543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Corrupt or confuse forensic findings.</a:t>
            </a:r>
            <a:endParaRPr lang="en-US" sz="17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8491" y="4753213"/>
            <a:ext cx="566976" cy="56697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1582281" y="4848225"/>
            <a:ext cx="2254329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Evade Legal Steps</a:t>
            </a:r>
            <a:endParaRPr lang="en-US" sz="2450" dirty="0"/>
          </a:p>
        </p:txBody>
      </p:sp>
      <p:sp>
        <p:nvSpPr>
          <p:cNvPr id="15" name="Text 8"/>
          <p:cNvSpPr/>
          <p:nvPr/>
        </p:nvSpPr>
        <p:spPr>
          <a:xfrm>
            <a:off x="11582281" y="5764173"/>
            <a:ext cx="225432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 attribution and prosecution.</a:t>
            </a:r>
            <a:endParaRPr lang="en-US" sz="1750" dirty="0"/>
          </a:p>
        </p:txBody>
      </p:sp>
      <p:sp>
        <p:nvSpPr>
          <p:cNvPr id="16" name="Text 9"/>
          <p:cNvSpPr/>
          <p:nvPr/>
        </p:nvSpPr>
        <p:spPr>
          <a:xfrm>
            <a:off x="793790" y="674512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cybersecurity professionals, understanding these goals helps to develop proactive defenses and enhance incident response capabilities.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5415" y="699611"/>
            <a:ext cx="7765971" cy="1353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Categories &amp; Techniques (Beginner Level)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6175415" y="2348151"/>
            <a:ext cx="7765971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Anti-forensics techniques often start with fundamental methods to obscure data.</a:t>
            </a:r>
            <a:endParaRPr lang="en-US" sz="15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415" y="2884408"/>
            <a:ext cx="984290" cy="154852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454979" y="3081218"/>
            <a:ext cx="2706886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Hiding</a:t>
            </a:r>
            <a:endParaRPr lang="en-US" sz="2100" dirty="0"/>
          </a:p>
        </p:txBody>
      </p:sp>
      <p:sp>
        <p:nvSpPr>
          <p:cNvPr id="7" name="Text 3"/>
          <p:cNvSpPr/>
          <p:nvPr/>
        </p:nvSpPr>
        <p:spPr>
          <a:xfrm>
            <a:off x="7454979" y="3537704"/>
            <a:ext cx="6486406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Steganography (images/audio)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7454979" y="3921323"/>
            <a:ext cx="6486406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Alternate Data Streams (ADS)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5415" y="4432935"/>
            <a:ext cx="984290" cy="154852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4979" y="4629745"/>
            <a:ext cx="2706886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Data Destruction</a:t>
            </a:r>
            <a:endParaRPr lang="en-US" sz="2100" dirty="0"/>
          </a:p>
        </p:txBody>
      </p:sp>
      <p:sp>
        <p:nvSpPr>
          <p:cNvPr id="11" name="Text 6"/>
          <p:cNvSpPr/>
          <p:nvPr/>
        </p:nvSpPr>
        <p:spPr>
          <a:xfrm>
            <a:off x="7454979" y="5086231"/>
            <a:ext cx="6486406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wiping tools (CCleaner, SDelete)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7454979" y="5469850"/>
            <a:ext cx="6486406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deletion (multiple overwrites)</a:t>
            </a:r>
            <a:endParaRPr lang="en-US" sz="1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5415" y="5981462"/>
            <a:ext cx="984290" cy="154852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54979" y="6178272"/>
            <a:ext cx="2939891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Metadata Manipulation</a:t>
            </a:r>
            <a:endParaRPr lang="en-US" sz="2100" dirty="0"/>
          </a:p>
        </p:txBody>
      </p:sp>
      <p:sp>
        <p:nvSpPr>
          <p:cNvPr id="15" name="Text 9"/>
          <p:cNvSpPr/>
          <p:nvPr/>
        </p:nvSpPr>
        <p:spPr>
          <a:xfrm>
            <a:off x="7454979" y="6634758"/>
            <a:ext cx="6486406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file dates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7454979" y="7018377"/>
            <a:ext cx="6486406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5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EXIF data in images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71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3073" y="607457"/>
            <a:ext cx="7597854" cy="15185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950"/>
              </a:lnSpc>
              <a:buNone/>
            </a:pPr>
            <a:r>
              <a:rPr lang="en-US" sz="47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Advanced Techniques &amp; Real-world Applications</a:t>
            </a:r>
            <a:endParaRPr lang="en-US" sz="4750" dirty="0"/>
          </a:p>
        </p:txBody>
      </p:sp>
      <p:sp>
        <p:nvSpPr>
          <p:cNvPr id="4" name="Shape 1"/>
          <p:cNvSpPr/>
          <p:nvPr/>
        </p:nvSpPr>
        <p:spPr>
          <a:xfrm>
            <a:off x="1021556" y="2457212"/>
            <a:ext cx="30480" cy="5165050"/>
          </a:xfrm>
          <a:prstGeom prst="roundRect">
            <a:avLst>
              <a:gd name="adj" fmla="val 304386"/>
            </a:avLst>
          </a:prstGeom>
          <a:solidFill>
            <a:srgbClr val="C6BDDA"/>
          </a:solidFill>
          <a:ln/>
        </p:spPr>
      </p:sp>
      <p:sp>
        <p:nvSpPr>
          <p:cNvPr id="5" name="Shape 2"/>
          <p:cNvSpPr/>
          <p:nvPr/>
        </p:nvSpPr>
        <p:spPr>
          <a:xfrm>
            <a:off x="1239560" y="2690455"/>
            <a:ext cx="662583" cy="30480"/>
          </a:xfrm>
          <a:prstGeom prst="roundRect">
            <a:avLst>
              <a:gd name="adj" fmla="val 304386"/>
            </a:avLst>
          </a:prstGeom>
          <a:solidFill>
            <a:srgbClr val="C6BDDA"/>
          </a:solidFill>
          <a:ln/>
        </p:spPr>
      </p:sp>
      <p:sp>
        <p:nvSpPr>
          <p:cNvPr id="6" name="Shape 3"/>
          <p:cNvSpPr/>
          <p:nvPr/>
        </p:nvSpPr>
        <p:spPr>
          <a:xfrm>
            <a:off x="773073" y="2457212"/>
            <a:ext cx="496967" cy="496967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331" y="2477929"/>
            <a:ext cx="364450" cy="4555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25980" y="2533055"/>
            <a:ext cx="3183731" cy="37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Timestamp Tampering</a:t>
            </a:r>
            <a:endParaRPr lang="en-US" sz="2350" dirty="0"/>
          </a:p>
        </p:txBody>
      </p:sp>
      <p:sp>
        <p:nvSpPr>
          <p:cNvPr id="9" name="Text 5"/>
          <p:cNvSpPr/>
          <p:nvPr/>
        </p:nvSpPr>
        <p:spPr>
          <a:xfrm>
            <a:off x="2125980" y="3045143"/>
            <a:ext cx="624494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Tools: Timestomp, Touch.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2125980" y="3531037"/>
            <a:ext cx="624494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Modify MACE times.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1239560" y="4559379"/>
            <a:ext cx="662583" cy="30480"/>
          </a:xfrm>
          <a:prstGeom prst="roundRect">
            <a:avLst>
              <a:gd name="adj" fmla="val 304386"/>
            </a:avLst>
          </a:prstGeom>
          <a:solidFill>
            <a:srgbClr val="C6BDDA"/>
          </a:solidFill>
          <a:ln/>
        </p:spPr>
      </p:sp>
      <p:sp>
        <p:nvSpPr>
          <p:cNvPr id="12" name="Shape 8"/>
          <p:cNvSpPr/>
          <p:nvPr/>
        </p:nvSpPr>
        <p:spPr>
          <a:xfrm>
            <a:off x="773073" y="4326136"/>
            <a:ext cx="496967" cy="496967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331" y="4346853"/>
            <a:ext cx="364450" cy="45553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125980" y="4401979"/>
            <a:ext cx="3037284" cy="37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Encryption Misuse</a:t>
            </a:r>
            <a:endParaRPr lang="en-US" sz="2350" dirty="0"/>
          </a:p>
        </p:txBody>
      </p:sp>
      <p:sp>
        <p:nvSpPr>
          <p:cNvPr id="15" name="Text 10"/>
          <p:cNvSpPr/>
          <p:nvPr/>
        </p:nvSpPr>
        <p:spPr>
          <a:xfrm>
            <a:off x="2125980" y="4914067"/>
            <a:ext cx="624494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 volumes (VeraCrypt).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2125980" y="5399961"/>
            <a:ext cx="624494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Prevent data access.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1239560" y="6428303"/>
            <a:ext cx="662583" cy="30480"/>
          </a:xfrm>
          <a:prstGeom prst="roundRect">
            <a:avLst>
              <a:gd name="adj" fmla="val 304386"/>
            </a:avLst>
          </a:prstGeom>
          <a:solidFill>
            <a:srgbClr val="C6BDDA"/>
          </a:solidFill>
          <a:ln/>
        </p:spPr>
      </p:sp>
      <p:sp>
        <p:nvSpPr>
          <p:cNvPr id="18" name="Shape 13"/>
          <p:cNvSpPr/>
          <p:nvPr/>
        </p:nvSpPr>
        <p:spPr>
          <a:xfrm>
            <a:off x="773073" y="6195060"/>
            <a:ext cx="496967" cy="496967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331" y="6215777"/>
            <a:ext cx="364450" cy="45553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125980" y="6270903"/>
            <a:ext cx="3570565" cy="37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Anti-Reverse Engineering</a:t>
            </a:r>
            <a:endParaRPr lang="en-US" sz="2350" dirty="0"/>
          </a:p>
        </p:txBody>
      </p:sp>
      <p:sp>
        <p:nvSpPr>
          <p:cNvPr id="21" name="Text 15"/>
          <p:cNvSpPr/>
          <p:nvPr/>
        </p:nvSpPr>
        <p:spPr>
          <a:xfrm>
            <a:off x="2125980" y="6782991"/>
            <a:ext cx="624494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Obfuscate code, pack binaries.</a:t>
            </a:r>
            <a:endParaRPr lang="en-US" sz="1700" dirty="0"/>
          </a:p>
        </p:txBody>
      </p:sp>
      <p:sp>
        <p:nvSpPr>
          <p:cNvPr id="22" name="Text 16"/>
          <p:cNvSpPr/>
          <p:nvPr/>
        </p:nvSpPr>
        <p:spPr>
          <a:xfrm>
            <a:off x="2125980" y="7268885"/>
            <a:ext cx="624494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Debugger detection (Themida, UPX).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1369" y="914162"/>
            <a:ext cx="7734062" cy="1384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Tools Commonly Used in Anti-Forensics</a:t>
            </a:r>
            <a:endParaRPr lang="en-US" sz="4350" dirty="0"/>
          </a:p>
        </p:txBody>
      </p:sp>
      <p:sp>
        <p:nvSpPr>
          <p:cNvPr id="4" name="Shape 1"/>
          <p:cNvSpPr/>
          <p:nvPr/>
        </p:nvSpPr>
        <p:spPr>
          <a:xfrm>
            <a:off x="6191369" y="2600920"/>
            <a:ext cx="7734062" cy="4714518"/>
          </a:xfrm>
          <a:prstGeom prst="roundRect">
            <a:avLst>
              <a:gd name="adj" fmla="val 179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989" y="2608540"/>
            <a:ext cx="7717988" cy="5792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401276" y="2737009"/>
            <a:ext cx="2165866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Category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977432" y="2737009"/>
            <a:ext cx="2162056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1549777" y="2737009"/>
            <a:ext cx="2165866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Purpose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198989" y="3187779"/>
            <a:ext cx="7717988" cy="9015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401276" y="3316248"/>
            <a:ext cx="2165866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Hiding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8977432" y="3316248"/>
            <a:ext cx="2162056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Slacker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1549777" y="3316248"/>
            <a:ext cx="2165866" cy="644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Hide files in slack space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6198989" y="4089321"/>
            <a:ext cx="7717988" cy="5792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6401276" y="4217789"/>
            <a:ext cx="2165866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Timestamp Tampering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8977432" y="4217789"/>
            <a:ext cx="2162056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Timestomp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11549777" y="4217789"/>
            <a:ext cx="2165866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Modify NTFS file times</a:t>
            </a:r>
            <a:endParaRPr lang="en-US" sz="1550" dirty="0"/>
          </a:p>
        </p:txBody>
      </p:sp>
      <p:sp>
        <p:nvSpPr>
          <p:cNvPr id="17" name="Shape 14"/>
          <p:cNvSpPr/>
          <p:nvPr/>
        </p:nvSpPr>
        <p:spPr>
          <a:xfrm>
            <a:off x="6198989" y="4668560"/>
            <a:ext cx="7717988" cy="5792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6401276" y="4797028"/>
            <a:ext cx="2165866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Deletion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8977432" y="4797028"/>
            <a:ext cx="2162056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SDelete</a:t>
            </a:r>
            <a:endParaRPr lang="en-US" sz="1550" dirty="0"/>
          </a:p>
        </p:txBody>
      </p:sp>
      <p:sp>
        <p:nvSpPr>
          <p:cNvPr id="20" name="Text 17"/>
          <p:cNvSpPr/>
          <p:nvPr/>
        </p:nvSpPr>
        <p:spPr>
          <a:xfrm>
            <a:off x="11549777" y="4797028"/>
            <a:ext cx="2165866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file deletion</a:t>
            </a:r>
            <a:endParaRPr lang="en-US" sz="1550" dirty="0"/>
          </a:p>
        </p:txBody>
      </p:sp>
      <p:sp>
        <p:nvSpPr>
          <p:cNvPr id="21" name="Shape 18"/>
          <p:cNvSpPr/>
          <p:nvPr/>
        </p:nvSpPr>
        <p:spPr>
          <a:xfrm>
            <a:off x="6198989" y="5247799"/>
            <a:ext cx="7717988" cy="57923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6401276" y="5376267"/>
            <a:ext cx="2165866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Metadata Editing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8977432" y="5376267"/>
            <a:ext cx="2162056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ExifTool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11549777" y="5376267"/>
            <a:ext cx="2165866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image metadata</a:t>
            </a:r>
            <a:endParaRPr lang="en-US" sz="1550" dirty="0"/>
          </a:p>
        </p:txBody>
      </p:sp>
      <p:sp>
        <p:nvSpPr>
          <p:cNvPr id="25" name="Shape 22"/>
          <p:cNvSpPr/>
          <p:nvPr/>
        </p:nvSpPr>
        <p:spPr>
          <a:xfrm>
            <a:off x="6198989" y="5827038"/>
            <a:ext cx="7717988" cy="57923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3"/>
          <p:cNvSpPr/>
          <p:nvPr/>
        </p:nvSpPr>
        <p:spPr>
          <a:xfrm>
            <a:off x="6401276" y="5955506"/>
            <a:ext cx="2165866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Volume Encryption</a:t>
            </a:r>
            <a:endParaRPr lang="en-US" sz="1550" dirty="0"/>
          </a:p>
        </p:txBody>
      </p:sp>
      <p:sp>
        <p:nvSpPr>
          <p:cNvPr id="27" name="Text 24"/>
          <p:cNvSpPr/>
          <p:nvPr/>
        </p:nvSpPr>
        <p:spPr>
          <a:xfrm>
            <a:off x="8977432" y="5955506"/>
            <a:ext cx="2162056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VeraCrypt</a:t>
            </a:r>
            <a:endParaRPr lang="en-US" sz="1550" dirty="0"/>
          </a:p>
        </p:txBody>
      </p:sp>
      <p:sp>
        <p:nvSpPr>
          <p:cNvPr id="28" name="Text 25"/>
          <p:cNvSpPr/>
          <p:nvPr/>
        </p:nvSpPr>
        <p:spPr>
          <a:xfrm>
            <a:off x="11549777" y="5955506"/>
            <a:ext cx="2165866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 drives/files</a:t>
            </a:r>
            <a:endParaRPr lang="en-US" sz="1550" dirty="0"/>
          </a:p>
        </p:txBody>
      </p:sp>
      <p:sp>
        <p:nvSpPr>
          <p:cNvPr id="29" name="Shape 26"/>
          <p:cNvSpPr/>
          <p:nvPr/>
        </p:nvSpPr>
        <p:spPr>
          <a:xfrm>
            <a:off x="6198989" y="6406277"/>
            <a:ext cx="7717988" cy="9015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7"/>
          <p:cNvSpPr/>
          <p:nvPr/>
        </p:nvSpPr>
        <p:spPr>
          <a:xfrm>
            <a:off x="6401276" y="6534745"/>
            <a:ext cx="2165866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Binary Obfuscation</a:t>
            </a:r>
            <a:endParaRPr lang="en-US" sz="1550" dirty="0"/>
          </a:p>
        </p:txBody>
      </p:sp>
      <p:sp>
        <p:nvSpPr>
          <p:cNvPr id="31" name="Text 28"/>
          <p:cNvSpPr/>
          <p:nvPr/>
        </p:nvSpPr>
        <p:spPr>
          <a:xfrm>
            <a:off x="8977432" y="6534745"/>
            <a:ext cx="2162056" cy="3223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UPX</a:t>
            </a:r>
            <a:endParaRPr lang="en-US" sz="1550" dirty="0"/>
          </a:p>
        </p:txBody>
      </p:sp>
      <p:sp>
        <p:nvSpPr>
          <p:cNvPr id="32" name="Text 29"/>
          <p:cNvSpPr/>
          <p:nvPr/>
        </p:nvSpPr>
        <p:spPr>
          <a:xfrm>
            <a:off x="11549777" y="6534745"/>
            <a:ext cx="2165866" cy="644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Compress and obfuscate binaries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19739"/>
            <a:ext cx="13042821" cy="1559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Detection Challenges for Forensic Investigators</a:t>
            </a:r>
            <a:endParaRPr lang="en-US" sz="4900" dirty="0"/>
          </a:p>
        </p:txBody>
      </p:sp>
      <p:sp>
        <p:nvSpPr>
          <p:cNvPr id="3" name="Shape 1"/>
          <p:cNvSpPr/>
          <p:nvPr/>
        </p:nvSpPr>
        <p:spPr>
          <a:xfrm>
            <a:off x="793790" y="373260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834" y="3753862"/>
            <a:ext cx="374213" cy="46779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3810476"/>
            <a:ext cx="3421499" cy="7798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Obfuscated Timestamps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1530906" y="4726424"/>
            <a:ext cx="34214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Disguised file names.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35893" y="373260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937" y="3753862"/>
            <a:ext cx="374213" cy="46779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73008" y="3810476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Hidden Partitions</a:t>
            </a:r>
            <a:endParaRPr lang="en-US" sz="2450" dirty="0"/>
          </a:p>
        </p:txBody>
      </p:sp>
      <p:sp>
        <p:nvSpPr>
          <p:cNvPr id="10" name="Text 6"/>
          <p:cNvSpPr/>
          <p:nvPr/>
        </p:nvSpPr>
        <p:spPr>
          <a:xfrm>
            <a:off x="5973008" y="4336494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Encrypted or concealed storage areas.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677995" y="3732609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6040" y="3753862"/>
            <a:ext cx="374213" cy="46779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415111" y="3810476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Erased Logs</a:t>
            </a:r>
            <a:endParaRPr lang="en-US" sz="2450" dirty="0"/>
          </a:p>
        </p:txBody>
      </p:sp>
      <p:sp>
        <p:nvSpPr>
          <p:cNvPr id="14" name="Text 9"/>
          <p:cNvSpPr/>
          <p:nvPr/>
        </p:nvSpPr>
        <p:spPr>
          <a:xfrm>
            <a:off x="10415111" y="4336494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Corrupted or missing system records.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93790" y="554295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834" y="5564207"/>
            <a:ext cx="374213" cy="46779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30906" y="5620822"/>
            <a:ext cx="3173849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Inconsistent Evidence</a:t>
            </a:r>
            <a:endParaRPr lang="en-US" sz="2450" dirty="0"/>
          </a:p>
        </p:txBody>
      </p:sp>
      <p:sp>
        <p:nvSpPr>
          <p:cNvPr id="18" name="Text 12"/>
          <p:cNvSpPr/>
          <p:nvPr/>
        </p:nvSpPr>
        <p:spPr>
          <a:xfrm>
            <a:off x="1530906" y="6146840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Fragmented or contradictory data trails.</a:t>
            </a:r>
            <a:endParaRPr lang="en-US" sz="1750" dirty="0"/>
          </a:p>
        </p:txBody>
      </p:sp>
      <p:sp>
        <p:nvSpPr>
          <p:cNvPr id="19" name="Shape 13"/>
          <p:cNvSpPr/>
          <p:nvPr/>
        </p:nvSpPr>
        <p:spPr>
          <a:xfrm>
            <a:off x="7457003" y="5542955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5048" y="5564207"/>
            <a:ext cx="374213" cy="46779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194119" y="5620822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Blended Signatures</a:t>
            </a:r>
            <a:endParaRPr lang="en-US" sz="2450" dirty="0"/>
          </a:p>
        </p:txBody>
      </p:sp>
      <p:sp>
        <p:nvSpPr>
          <p:cNvPr id="22" name="Text 15"/>
          <p:cNvSpPr/>
          <p:nvPr/>
        </p:nvSpPr>
        <p:spPr>
          <a:xfrm>
            <a:off x="8194119" y="6146840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Malicious tools mimic legitimate utilities.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42950"/>
            <a:ext cx="7556421" cy="1559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100"/>
              </a:lnSpc>
              <a:buNone/>
            </a:pPr>
            <a:r>
              <a:rPr lang="en-US" sz="49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Case Study – Hacking Team Breach (2015)</a:t>
            </a:r>
            <a:endParaRPr lang="en-US" sz="4900" dirty="0"/>
          </a:p>
        </p:txBody>
      </p:sp>
      <p:sp>
        <p:nvSpPr>
          <p:cNvPr id="4" name="Shape 1"/>
          <p:cNvSpPr/>
          <p:nvPr/>
        </p:nvSpPr>
        <p:spPr>
          <a:xfrm>
            <a:off x="6280190" y="2642354"/>
            <a:ext cx="170021" cy="1387912"/>
          </a:xfrm>
          <a:prstGeom prst="roundRect">
            <a:avLst>
              <a:gd name="adj" fmla="val 56033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790373" y="2642354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Incident Details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6790373" y="3168372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Hacking Team's tools leaked online.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790373" y="3667363"/>
            <a:ext cx="704623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Exposed stealth anti-forensic capabilities.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620351" y="4257080"/>
            <a:ext cx="170021" cy="1387912"/>
          </a:xfrm>
          <a:prstGeom prst="roundRect">
            <a:avLst>
              <a:gd name="adj" fmla="val 56033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0534" y="4257080"/>
            <a:ext cx="3848576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Relevance to Cybersecurity</a:t>
            </a:r>
            <a:endParaRPr lang="en-US" sz="2450" dirty="0"/>
          </a:p>
        </p:txBody>
      </p:sp>
      <p:sp>
        <p:nvSpPr>
          <p:cNvPr id="10" name="Text 7"/>
          <p:cNvSpPr/>
          <p:nvPr/>
        </p:nvSpPr>
        <p:spPr>
          <a:xfrm>
            <a:off x="7130534" y="4783098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Demonstrated advanced attacker tools.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130534" y="5282089"/>
            <a:ext cx="670607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Increased awareness of offensive tactics.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960632" y="5871805"/>
            <a:ext cx="170021" cy="1387912"/>
          </a:xfrm>
          <a:prstGeom prst="roundRect">
            <a:avLst>
              <a:gd name="adj" fmla="val 56033"/>
            </a:avLst>
          </a:prstGeom>
          <a:solidFill>
            <a:srgbClr val="E0D7F4"/>
          </a:solidFill>
          <a:ln w="7620">
            <a:solidFill>
              <a:srgbClr val="C6BDD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70815" y="5871805"/>
            <a:ext cx="3118842" cy="389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Key Takeaway</a:t>
            </a:r>
            <a:endParaRPr lang="en-US" sz="2450" dirty="0"/>
          </a:p>
        </p:txBody>
      </p:sp>
      <p:sp>
        <p:nvSpPr>
          <p:cNvPr id="14" name="Text 11"/>
          <p:cNvSpPr/>
          <p:nvPr/>
        </p:nvSpPr>
        <p:spPr>
          <a:xfrm>
            <a:off x="7470815" y="6397823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State-level tools integrate anti-forensics.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7470815" y="6896814"/>
            <a:ext cx="636579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Constant vigilance is critical.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4858" y="600908"/>
            <a:ext cx="6787872" cy="751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900"/>
              </a:lnSpc>
              <a:buNone/>
            </a:pPr>
            <a:r>
              <a:rPr lang="en-US" sz="470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 &amp; Takeaways</a:t>
            </a:r>
            <a:endParaRPr lang="en-US" sz="4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84947" y="3252311"/>
            <a:ext cx="7860387" cy="78603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407337" y="5823942"/>
            <a:ext cx="368737" cy="460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2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4947" y="3252311"/>
            <a:ext cx="7860387" cy="786038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02655" y="4228624"/>
            <a:ext cx="368737" cy="460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2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4947" y="3252311"/>
            <a:ext cx="7860387" cy="786038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58651" y="4228624"/>
            <a:ext cx="368737" cy="460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2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4947" y="3252311"/>
            <a:ext cx="7860387" cy="786038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853851" y="5823942"/>
            <a:ext cx="368737" cy="460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29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2900" dirty="0"/>
          </a:p>
        </p:txBody>
      </p:sp>
      <p:sp>
        <p:nvSpPr>
          <p:cNvPr id="11" name="Text 5"/>
          <p:cNvSpPr/>
          <p:nvPr/>
        </p:nvSpPr>
        <p:spPr>
          <a:xfrm>
            <a:off x="764858" y="7428190"/>
            <a:ext cx="13100685" cy="3495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Always practice ethical usage for research and defense to secure digital environments effectively.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777121" y="3065145"/>
            <a:ext cx="3004780" cy="375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Purposeful Evasion</a:t>
            </a:r>
            <a:endParaRPr lang="en-US" sz="2350" dirty="0"/>
          </a:p>
        </p:txBody>
      </p:sp>
      <p:sp>
        <p:nvSpPr>
          <p:cNvPr id="13" name="Text 7"/>
          <p:cNvSpPr/>
          <p:nvPr/>
        </p:nvSpPr>
        <p:spPr>
          <a:xfrm>
            <a:off x="764858" y="3571875"/>
            <a:ext cx="3029307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Anti-Forensics aims to hide digital activities.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4134207" y="1788914"/>
            <a:ext cx="3004780" cy="375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Diverse Techniques</a:t>
            </a:r>
            <a:endParaRPr lang="en-US" sz="2350" dirty="0"/>
          </a:p>
        </p:txBody>
      </p:sp>
      <p:sp>
        <p:nvSpPr>
          <p:cNvPr id="15" name="Text 9"/>
          <p:cNvSpPr/>
          <p:nvPr/>
        </p:nvSpPr>
        <p:spPr>
          <a:xfrm>
            <a:off x="4121944" y="2295644"/>
            <a:ext cx="3029307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Methods range from simple to complex.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7491293" y="1788914"/>
            <a:ext cx="3004780" cy="375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Enhanced Defense</a:t>
            </a:r>
            <a:endParaRPr lang="en-US" sz="2350" dirty="0"/>
          </a:p>
        </p:txBody>
      </p:sp>
      <p:sp>
        <p:nvSpPr>
          <p:cNvPr id="17" name="Text 11"/>
          <p:cNvSpPr/>
          <p:nvPr/>
        </p:nvSpPr>
        <p:spPr>
          <a:xfrm>
            <a:off x="7479030" y="2295644"/>
            <a:ext cx="3029307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AF builds better forensic tools.</a:t>
            </a:r>
            <a:endParaRPr lang="en-US" sz="1700" dirty="0"/>
          </a:p>
        </p:txBody>
      </p:sp>
      <p:sp>
        <p:nvSpPr>
          <p:cNvPr id="18" name="Text 12"/>
          <p:cNvSpPr/>
          <p:nvPr/>
        </p:nvSpPr>
        <p:spPr>
          <a:xfrm>
            <a:off x="10848380" y="3065145"/>
            <a:ext cx="3004780" cy="3756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F95F88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Stay Updated</a:t>
            </a:r>
            <a:endParaRPr lang="en-US" sz="2350" dirty="0"/>
          </a:p>
        </p:txBody>
      </p:sp>
      <p:sp>
        <p:nvSpPr>
          <p:cNvPr id="19" name="Text 13"/>
          <p:cNvSpPr/>
          <p:nvPr/>
        </p:nvSpPr>
        <p:spPr>
          <a:xfrm>
            <a:off x="10836116" y="3571875"/>
            <a:ext cx="3029426" cy="699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Evolving tools require continuous learning.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2025-05-26T04:24:07Z</dcterms:created>
  <dcterms:modified xsi:type="dcterms:W3CDTF">2025-05-26T04:24:07Z</dcterms:modified>
</cp:coreProperties>
</file>